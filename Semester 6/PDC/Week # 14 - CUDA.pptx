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303" r:id="rId13"/>
    <p:sldId id="266" r:id="rId14"/>
    <p:sldId id="268" r:id="rId15"/>
    <p:sldId id="300" r:id="rId16"/>
    <p:sldId id="309" r:id="rId17"/>
    <p:sldId id="301" r:id="rId18"/>
    <p:sldId id="306" r:id="rId19"/>
    <p:sldId id="308" r:id="rId20"/>
    <p:sldId id="307" r:id="rId21"/>
    <p:sldId id="304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67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00A2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00A2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00A2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38200" y="1825751"/>
            <a:ext cx="5181600" cy="4351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172200" y="1825751"/>
            <a:ext cx="5181600" cy="4351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00A2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2912" y="299465"/>
            <a:ext cx="10606277" cy="8784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00A2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8360" y="2622295"/>
            <a:ext cx="5705475" cy="1750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826877" y="6556349"/>
            <a:ext cx="1095375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l.com/content/www/us/en/products/docs/processors/what-is-a-gpu.html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jp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5461" y="2242306"/>
            <a:ext cx="5568950" cy="1884045"/>
          </a:xfrm>
          <a:prstGeom prst="rect">
            <a:avLst/>
          </a:prstGeom>
        </p:spPr>
        <p:txBody>
          <a:bodyPr vert="horz" wrap="square" lIns="0" tIns="25907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39"/>
              </a:spcBef>
            </a:pPr>
            <a:r>
              <a:rPr sz="6000" dirty="0"/>
              <a:t>GPU</a:t>
            </a:r>
            <a:r>
              <a:rPr sz="6000" spc="-254" dirty="0"/>
              <a:t> </a:t>
            </a:r>
            <a:r>
              <a:rPr sz="6000" spc="-65" dirty="0"/>
              <a:t>Programming</a:t>
            </a:r>
            <a:endParaRPr sz="6000"/>
          </a:p>
          <a:p>
            <a:pPr algn="ctr">
              <a:lnSpc>
                <a:spcPct val="100000"/>
              </a:lnSpc>
              <a:spcBef>
                <a:spcPts val="1170"/>
              </a:spcBef>
            </a:pPr>
            <a:r>
              <a:rPr sz="3600" dirty="0">
                <a:solidFill>
                  <a:srgbClr val="000000"/>
                </a:solidFill>
                <a:latin typeface="Calibri"/>
                <a:cs typeface="Calibri"/>
              </a:rPr>
              <a:t>Week</a:t>
            </a:r>
            <a:r>
              <a:rPr sz="360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00000"/>
                </a:solidFill>
                <a:latin typeface="Calibri"/>
                <a:cs typeface="Calibri"/>
              </a:rPr>
              <a:t>#</a:t>
            </a:r>
            <a:r>
              <a:rPr sz="360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spc="-35" dirty="0">
                <a:solidFill>
                  <a:srgbClr val="000000"/>
                </a:solidFill>
                <a:latin typeface="Calibri"/>
                <a:cs typeface="Calibri"/>
              </a:rPr>
              <a:t>14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199" rIns="0" bIns="0" rtlCol="0">
            <a:spAutoFit/>
          </a:bodyPr>
          <a:lstStyle/>
          <a:p>
            <a:pPr marL="23622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CPU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825751"/>
            <a:ext cx="5181600" cy="4351020"/>
          </a:xfrm>
          <a:custGeom>
            <a:avLst/>
            <a:gdLst/>
            <a:ahLst/>
            <a:cxnLst/>
            <a:rect l="l" t="t" r="r" b="b"/>
            <a:pathLst>
              <a:path w="5181600" h="4351020">
                <a:moveTo>
                  <a:pt x="5181600" y="0"/>
                </a:moveTo>
                <a:lnTo>
                  <a:pt x="0" y="0"/>
                </a:lnTo>
                <a:lnTo>
                  <a:pt x="0" y="4351020"/>
                </a:lnTo>
                <a:lnTo>
                  <a:pt x="5181600" y="4351020"/>
                </a:lnTo>
                <a:lnTo>
                  <a:pt x="5181600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0979">
              <a:lnSpc>
                <a:spcPts val="2355"/>
              </a:lnSpc>
            </a:pPr>
            <a:r>
              <a:rPr dirty="0"/>
              <a:t>Single</a:t>
            </a:r>
            <a:r>
              <a:rPr spc="-55" dirty="0"/>
              <a:t> </a:t>
            </a:r>
            <a:r>
              <a:rPr dirty="0"/>
              <a:t>Core</a:t>
            </a:r>
            <a:r>
              <a:rPr spc="-55" dirty="0"/>
              <a:t> </a:t>
            </a:r>
            <a:r>
              <a:rPr spc="-20" dirty="0"/>
              <a:t>CPUs</a:t>
            </a: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pc="-20" dirty="0"/>
          </a:p>
          <a:p>
            <a:pPr marL="442595" indent="-221615">
              <a:lnSpc>
                <a:spcPct val="100000"/>
              </a:lnSpc>
              <a:buClr>
                <a:srgbClr val="0000A2"/>
              </a:buClr>
              <a:buFont typeface="Wingdings"/>
              <a:buChar char=""/>
              <a:tabLst>
                <a:tab pos="442595" algn="l"/>
              </a:tabLst>
            </a:pPr>
            <a:r>
              <a:rPr spc="-10" dirty="0"/>
              <a:t>Flexible</a:t>
            </a:r>
          </a:p>
          <a:p>
            <a:pPr marL="443230" indent="-222250">
              <a:lnSpc>
                <a:spcPct val="100000"/>
              </a:lnSpc>
              <a:spcBef>
                <a:spcPts val="135"/>
              </a:spcBef>
              <a:buClr>
                <a:srgbClr val="0000A2"/>
              </a:buClr>
              <a:buFont typeface="Wingdings"/>
              <a:buChar char=""/>
              <a:tabLst>
                <a:tab pos="443230" algn="l"/>
              </a:tabLst>
            </a:pPr>
            <a:r>
              <a:rPr spc="-10" dirty="0"/>
              <a:t>Performant</a:t>
            </a:r>
          </a:p>
          <a:p>
            <a:pPr marL="443230" indent="-222250">
              <a:lnSpc>
                <a:spcPts val="2775"/>
              </a:lnSpc>
              <a:spcBef>
                <a:spcPts val="130"/>
              </a:spcBef>
              <a:buClr>
                <a:srgbClr val="0000A2"/>
              </a:buClr>
              <a:buFont typeface="Wingdings"/>
              <a:buChar char=""/>
              <a:tabLst>
                <a:tab pos="443230" algn="l"/>
              </a:tabLst>
            </a:pPr>
            <a:r>
              <a:rPr dirty="0"/>
              <a:t>How</a:t>
            </a:r>
            <a:r>
              <a:rPr spc="-55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spc="-10" dirty="0"/>
              <a:t>squeeze</a:t>
            </a:r>
            <a:r>
              <a:rPr spc="-50" dirty="0"/>
              <a:t> </a:t>
            </a:r>
            <a:r>
              <a:rPr dirty="0"/>
              <a:t>more</a:t>
            </a:r>
            <a:r>
              <a:rPr spc="-60" dirty="0"/>
              <a:t> </a:t>
            </a:r>
            <a:r>
              <a:rPr spc="-10" dirty="0"/>
              <a:t>functionality?</a:t>
            </a:r>
          </a:p>
          <a:p>
            <a:pPr marL="786130" lvl="1" indent="-231140">
              <a:lnSpc>
                <a:spcPts val="2185"/>
              </a:lnSpc>
              <a:buClr>
                <a:srgbClr val="0000A8"/>
              </a:buClr>
              <a:buFont typeface="Arial MT"/>
              <a:buChar char="•"/>
              <a:tabLst>
                <a:tab pos="786130" algn="l"/>
              </a:tabLst>
            </a:pPr>
            <a:r>
              <a:rPr sz="2000" spc="-10" dirty="0">
                <a:latin typeface="Calibri"/>
                <a:cs typeface="Calibri"/>
              </a:rPr>
              <a:t>Power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Hungary</a:t>
            </a:r>
            <a:endParaRPr sz="2000">
              <a:latin typeface="Calibri"/>
              <a:cs typeface="Calibri"/>
            </a:endParaRPr>
          </a:p>
          <a:p>
            <a:pPr marL="786130" lvl="1" indent="-231140">
              <a:lnSpc>
                <a:spcPts val="2180"/>
              </a:lnSpc>
              <a:buClr>
                <a:srgbClr val="0000A8"/>
              </a:buClr>
              <a:buFont typeface="Arial MT"/>
              <a:buChar char="•"/>
              <a:tabLst>
                <a:tab pos="786130" algn="l"/>
              </a:tabLst>
            </a:pP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CPU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speed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disparity</a:t>
            </a:r>
            <a:endParaRPr sz="2000">
              <a:latin typeface="Calibri"/>
              <a:cs typeface="Calibri"/>
            </a:endParaRPr>
          </a:p>
          <a:p>
            <a:pPr marL="786130" lvl="1" indent="-231140">
              <a:lnSpc>
                <a:spcPts val="2235"/>
              </a:lnSpc>
              <a:buClr>
                <a:srgbClr val="0000A8"/>
              </a:buClr>
              <a:buFont typeface="Arial MT"/>
              <a:buChar char="•"/>
              <a:tabLst>
                <a:tab pos="786130" algn="l"/>
              </a:tabLst>
            </a:pPr>
            <a:r>
              <a:rPr sz="2000" dirty="0">
                <a:latin typeface="Calibri"/>
                <a:cs typeface="Calibri"/>
              </a:rPr>
              <a:t>Instruction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Level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Parallelism</a:t>
            </a:r>
            <a:endParaRPr sz="2000">
              <a:latin typeface="Calibri"/>
              <a:cs typeface="Calibri"/>
            </a:endParaRPr>
          </a:p>
          <a:p>
            <a:pPr marL="1234440" lvl="2" indent="-228600">
              <a:lnSpc>
                <a:spcPts val="1935"/>
              </a:lnSpc>
              <a:buFont typeface="Arial MT"/>
              <a:buChar char="•"/>
              <a:tabLst>
                <a:tab pos="1234440" algn="l"/>
              </a:tabLst>
            </a:pPr>
            <a:r>
              <a:rPr sz="1700" spc="-10" dirty="0">
                <a:latin typeface="Calibri"/>
                <a:cs typeface="Calibri"/>
              </a:rPr>
              <a:t>Pipelining</a:t>
            </a:r>
            <a:endParaRPr sz="1700">
              <a:latin typeface="Calibri"/>
              <a:cs typeface="Calibri"/>
            </a:endParaRPr>
          </a:p>
          <a:p>
            <a:pPr marL="1234440" lvl="2" indent="-228600">
              <a:lnSpc>
                <a:spcPts val="1985"/>
              </a:lnSpc>
              <a:buFont typeface="Arial MT"/>
              <a:buChar char="•"/>
              <a:tabLst>
                <a:tab pos="1234440" algn="l"/>
              </a:tabLst>
            </a:pPr>
            <a:r>
              <a:rPr sz="1700" dirty="0">
                <a:latin typeface="Calibri"/>
                <a:cs typeface="Calibri"/>
              </a:rPr>
              <a:t>Super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Scalar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72200" y="1825751"/>
            <a:ext cx="5181600" cy="4351020"/>
          </a:xfrm>
          <a:prstGeom prst="rect">
            <a:avLst/>
          </a:prstGeom>
          <a:solidFill>
            <a:srgbClr val="FAE4D5"/>
          </a:solidFill>
        </p:spPr>
        <p:txBody>
          <a:bodyPr vert="horz" wrap="square" lIns="0" tIns="0" rIns="0" bIns="0" rtlCol="0">
            <a:spAutoFit/>
          </a:bodyPr>
          <a:lstStyle/>
          <a:p>
            <a:pPr marL="221615">
              <a:lnSpc>
                <a:spcPts val="2355"/>
              </a:lnSpc>
            </a:pPr>
            <a:r>
              <a:rPr sz="2400" spc="-10" dirty="0">
                <a:latin typeface="Calibri"/>
                <a:cs typeface="Calibri"/>
              </a:rPr>
              <a:t>Multi-</a:t>
            </a:r>
            <a:r>
              <a:rPr sz="2400" dirty="0">
                <a:latin typeface="Calibri"/>
                <a:cs typeface="Calibri"/>
              </a:rPr>
              <a:t>Cores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CPUs</a:t>
            </a:r>
            <a:endParaRPr sz="2400">
              <a:latin typeface="Calibri"/>
              <a:cs typeface="Calibri"/>
            </a:endParaRPr>
          </a:p>
          <a:p>
            <a:pPr marL="442595" marR="631190" indent="-221615">
              <a:lnSpc>
                <a:spcPct val="70100"/>
              </a:lnSpc>
              <a:spcBef>
                <a:spcPts val="990"/>
              </a:spcBef>
              <a:buClr>
                <a:srgbClr val="0000A2"/>
              </a:buClr>
              <a:buFont typeface="Wingdings"/>
              <a:buChar char=""/>
              <a:tabLst>
                <a:tab pos="443865" algn="l"/>
              </a:tabLst>
            </a:pPr>
            <a:r>
              <a:rPr sz="2400" dirty="0">
                <a:latin typeface="Calibri"/>
                <a:cs typeface="Calibri"/>
              </a:rPr>
              <a:t>Instead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complexity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dirty="0">
                <a:latin typeface="Calibri"/>
                <a:cs typeface="Calibri"/>
              </a:rPr>
              <a:t>single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scale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dimensions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silicon</a:t>
            </a:r>
            <a:endParaRPr sz="2400">
              <a:latin typeface="Calibri"/>
              <a:cs typeface="Calibri"/>
            </a:endParaRPr>
          </a:p>
          <a:p>
            <a:pPr marL="443230" indent="-221615">
              <a:lnSpc>
                <a:spcPct val="100000"/>
              </a:lnSpc>
              <a:spcBef>
                <a:spcPts val="145"/>
              </a:spcBef>
              <a:buClr>
                <a:srgbClr val="0000A2"/>
              </a:buClr>
              <a:buFont typeface="Wingdings"/>
              <a:buChar char=""/>
              <a:tabLst>
                <a:tab pos="443230" algn="l"/>
              </a:tabLst>
            </a:pPr>
            <a:r>
              <a:rPr sz="2400" dirty="0">
                <a:latin typeface="Calibri"/>
                <a:cs typeface="Calibri"/>
              </a:rPr>
              <a:t>Current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Multi-</a:t>
            </a:r>
            <a:r>
              <a:rPr sz="2400" dirty="0">
                <a:latin typeface="Calibri"/>
                <a:cs typeface="Calibri"/>
              </a:rPr>
              <a:t>Cores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(Discuss)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Clr>
                <a:srgbClr val="0000A2"/>
              </a:buClr>
              <a:buFont typeface="Wingdings"/>
              <a:buChar char=""/>
            </a:pPr>
            <a:endParaRPr sz="2400">
              <a:latin typeface="Calibri"/>
              <a:cs typeface="Calibri"/>
            </a:endParaRPr>
          </a:p>
          <a:p>
            <a:pPr marL="443230" indent="-221615">
              <a:lnSpc>
                <a:spcPts val="2775"/>
              </a:lnSpc>
              <a:buClr>
                <a:srgbClr val="0000A2"/>
              </a:buClr>
              <a:buFont typeface="Wingdings"/>
              <a:buChar char=""/>
              <a:tabLst>
                <a:tab pos="443230" algn="l"/>
              </a:tabLst>
            </a:pPr>
            <a:r>
              <a:rPr sz="2400" dirty="0">
                <a:latin typeface="Calibri"/>
                <a:cs typeface="Calibri"/>
              </a:rPr>
              <a:t>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more?</a:t>
            </a:r>
            <a:endParaRPr sz="2400">
              <a:latin typeface="Calibri"/>
              <a:cs typeface="Calibri"/>
            </a:endParaRPr>
          </a:p>
          <a:p>
            <a:pPr marL="786765" lvl="1" indent="-231140">
              <a:lnSpc>
                <a:spcPts val="2185"/>
              </a:lnSpc>
              <a:buClr>
                <a:srgbClr val="0000A8"/>
              </a:buClr>
              <a:buFont typeface="Arial MT"/>
              <a:buChar char="•"/>
              <a:tabLst>
                <a:tab pos="786765" algn="l"/>
              </a:tabLst>
            </a:pPr>
            <a:r>
              <a:rPr sz="2000" spc="-10" dirty="0">
                <a:latin typeface="Calibri"/>
                <a:cs typeface="Calibri"/>
              </a:rPr>
              <a:t>Vector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Units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(VPUs),</a:t>
            </a:r>
            <a:endParaRPr sz="2000">
              <a:latin typeface="Calibri"/>
              <a:cs typeface="Calibri"/>
            </a:endParaRPr>
          </a:p>
          <a:p>
            <a:pPr marL="786765" lvl="1" indent="-231140">
              <a:lnSpc>
                <a:spcPts val="2180"/>
              </a:lnSpc>
              <a:buClr>
                <a:srgbClr val="0000A8"/>
              </a:buClr>
              <a:buFont typeface="Arial MT"/>
              <a:buChar char="•"/>
              <a:tabLst>
                <a:tab pos="786765" algn="l"/>
              </a:tabLst>
            </a:pPr>
            <a:r>
              <a:rPr sz="2000" dirty="0">
                <a:latin typeface="Calibri"/>
                <a:cs typeface="Calibri"/>
              </a:rPr>
              <a:t>Graphic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Units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(GPUs),</a:t>
            </a:r>
            <a:endParaRPr sz="2000">
              <a:latin typeface="Calibri"/>
              <a:cs typeface="Calibri"/>
            </a:endParaRPr>
          </a:p>
          <a:p>
            <a:pPr marL="786765" lvl="1" indent="-231140">
              <a:lnSpc>
                <a:spcPts val="2180"/>
              </a:lnSpc>
              <a:buClr>
                <a:srgbClr val="0000A8"/>
              </a:buClr>
              <a:buFont typeface="Arial MT"/>
              <a:buChar char="•"/>
              <a:tabLst>
                <a:tab pos="786765" algn="l"/>
              </a:tabLst>
            </a:pPr>
            <a:r>
              <a:rPr sz="2000" spc="-10" dirty="0">
                <a:latin typeface="Calibri"/>
                <a:cs typeface="Calibri"/>
              </a:rPr>
              <a:t>Associative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Units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(APUs),</a:t>
            </a:r>
            <a:endParaRPr sz="2000">
              <a:latin typeface="Calibri"/>
              <a:cs typeface="Calibri"/>
            </a:endParaRPr>
          </a:p>
          <a:p>
            <a:pPr marL="786765" lvl="1" indent="-231140">
              <a:lnSpc>
                <a:spcPts val="2290"/>
              </a:lnSpc>
              <a:buClr>
                <a:srgbClr val="0000A8"/>
              </a:buClr>
              <a:buFont typeface="Arial MT"/>
              <a:buChar char="•"/>
              <a:tabLst>
                <a:tab pos="786765" algn="l"/>
              </a:tabLst>
            </a:pPr>
            <a:r>
              <a:rPr sz="2000" spc="-20" dirty="0">
                <a:latin typeface="Calibri"/>
                <a:cs typeface="Calibri"/>
              </a:rPr>
              <a:t>Tensor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Units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(TPUs)</a:t>
            </a:r>
            <a:endParaRPr sz="2000">
              <a:latin typeface="Calibri"/>
              <a:cs typeface="Calibri"/>
            </a:endParaRPr>
          </a:p>
          <a:p>
            <a:pPr marL="786765" lvl="1" indent="-231140">
              <a:lnSpc>
                <a:spcPts val="2295"/>
              </a:lnSpc>
              <a:spcBef>
                <a:spcPts val="1955"/>
              </a:spcBef>
              <a:buClr>
                <a:srgbClr val="0000A8"/>
              </a:buClr>
              <a:buFont typeface="Arial MT"/>
              <a:buChar char="•"/>
              <a:tabLst>
                <a:tab pos="786765" algn="l"/>
              </a:tabLst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Field</a:t>
            </a:r>
            <a:r>
              <a:rPr sz="20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Programmable</a:t>
            </a:r>
            <a:r>
              <a:rPr sz="20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Gate</a:t>
            </a:r>
            <a:r>
              <a:rPr sz="20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Arrays</a:t>
            </a:r>
            <a:r>
              <a:rPr sz="20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(FPGAs),</a:t>
            </a:r>
            <a:endParaRPr sz="2000">
              <a:latin typeface="Calibri"/>
              <a:cs typeface="Calibri"/>
            </a:endParaRPr>
          </a:p>
          <a:p>
            <a:pPr marL="786765" lvl="1" indent="-231140">
              <a:lnSpc>
                <a:spcPts val="2295"/>
              </a:lnSpc>
              <a:buClr>
                <a:srgbClr val="0000A8"/>
              </a:buClr>
              <a:buFont typeface="Arial MT"/>
              <a:buChar char="•"/>
              <a:tabLst>
                <a:tab pos="786765" algn="l"/>
              </a:tabLst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Quantum</a:t>
            </a:r>
            <a:r>
              <a:rPr sz="20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Processing</a:t>
            </a:r>
            <a:r>
              <a:rPr sz="20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Units</a:t>
            </a:r>
            <a:r>
              <a:rPr sz="20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(QPUs)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4983" y="5914644"/>
            <a:ext cx="4863084" cy="26212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4138" y="428701"/>
            <a:ext cx="41903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Graphic</a:t>
            </a:r>
            <a:r>
              <a:rPr spc="-185" dirty="0"/>
              <a:t> </a:t>
            </a:r>
            <a:r>
              <a:rPr spc="-35" dirty="0"/>
              <a:t>Processing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3122" y="170891"/>
            <a:ext cx="2695622" cy="66056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8372" y="1493519"/>
            <a:ext cx="4734584" cy="494995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32476" y="662940"/>
            <a:ext cx="2013585" cy="36893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29844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34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part of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syllabus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199" rIns="0" bIns="0" rtlCol="0">
            <a:spAutoFit/>
          </a:bodyPr>
          <a:lstStyle/>
          <a:p>
            <a:pPr marL="23622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Graphic</a:t>
            </a:r>
            <a:r>
              <a:rPr spc="-200" dirty="0"/>
              <a:t> </a:t>
            </a:r>
            <a:r>
              <a:rPr spc="-45" dirty="0"/>
              <a:t>Processing</a:t>
            </a:r>
            <a:r>
              <a:rPr spc="-195" dirty="0"/>
              <a:t> </a:t>
            </a:r>
            <a:r>
              <a:rPr dirty="0"/>
              <a:t>Units</a:t>
            </a:r>
            <a:r>
              <a:rPr spc="-190" dirty="0"/>
              <a:t> </a:t>
            </a:r>
            <a:r>
              <a:rPr spc="-10" dirty="0"/>
              <a:t>(GPUs)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6480" y="1764538"/>
            <a:ext cx="4878705" cy="4197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4950" indent="-222250">
              <a:lnSpc>
                <a:spcPts val="2345"/>
              </a:lnSpc>
              <a:spcBef>
                <a:spcPts val="105"/>
              </a:spcBef>
              <a:buClr>
                <a:srgbClr val="0000A2"/>
              </a:buClr>
              <a:buFont typeface="Wingdings"/>
              <a:buChar char=""/>
              <a:tabLst>
                <a:tab pos="234950" algn="l"/>
              </a:tabLst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More</a:t>
            </a:r>
            <a:r>
              <a:rPr sz="20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HW</a:t>
            </a:r>
            <a:r>
              <a:rPr sz="20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0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Computation</a:t>
            </a:r>
            <a:endParaRPr sz="2000">
              <a:latin typeface="Calibri"/>
              <a:cs typeface="Calibri"/>
            </a:endParaRPr>
          </a:p>
          <a:p>
            <a:pPr marL="577850" lvl="1" indent="-231775">
              <a:lnSpc>
                <a:spcPts val="1985"/>
              </a:lnSpc>
              <a:buClr>
                <a:srgbClr val="0000A8"/>
              </a:buClr>
              <a:buFont typeface="Arial MT"/>
              <a:buChar char="•"/>
              <a:tabLst>
                <a:tab pos="577850" algn="l"/>
              </a:tabLst>
            </a:pPr>
            <a:r>
              <a:rPr sz="1700" b="1" dirty="0">
                <a:solidFill>
                  <a:srgbClr val="FF0000"/>
                </a:solidFill>
                <a:latin typeface="Calibri"/>
                <a:cs typeface="Calibri"/>
              </a:rPr>
              <a:t>Many</a:t>
            </a:r>
            <a:r>
              <a:rPr sz="17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0" b="1" spc="-20" dirty="0">
                <a:solidFill>
                  <a:srgbClr val="FF0000"/>
                </a:solidFill>
                <a:latin typeface="Calibri"/>
                <a:cs typeface="Calibri"/>
              </a:rPr>
              <a:t>Cores</a:t>
            </a:r>
            <a:endParaRPr sz="1700">
              <a:latin typeface="Calibri"/>
              <a:cs typeface="Calibri"/>
            </a:endParaRPr>
          </a:p>
          <a:p>
            <a:pPr marL="234950" indent="-222250">
              <a:lnSpc>
                <a:spcPct val="100000"/>
              </a:lnSpc>
              <a:spcBef>
                <a:spcPts val="275"/>
              </a:spcBef>
              <a:buClr>
                <a:srgbClr val="0000A2"/>
              </a:buClr>
              <a:buFont typeface="Wingdings"/>
              <a:buChar char=""/>
              <a:tabLst>
                <a:tab pos="234950" algn="l"/>
              </a:tabLst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More</a:t>
            </a:r>
            <a:r>
              <a:rPr sz="20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power</a:t>
            </a:r>
            <a:r>
              <a:rPr sz="20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efficient</a:t>
            </a:r>
            <a:endParaRPr sz="2000">
              <a:latin typeface="Calibri"/>
              <a:cs typeface="Calibri"/>
            </a:endParaRPr>
          </a:p>
          <a:p>
            <a:pPr marL="234950" indent="-222250">
              <a:lnSpc>
                <a:spcPct val="100000"/>
              </a:lnSpc>
              <a:spcBef>
                <a:spcPts val="280"/>
              </a:spcBef>
              <a:buClr>
                <a:srgbClr val="0000A2"/>
              </a:buClr>
              <a:buFont typeface="Wingdings"/>
              <a:buChar char=""/>
              <a:tabLst>
                <a:tab pos="234950" algn="l"/>
              </a:tabLst>
            </a:pP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Restricted</a:t>
            </a:r>
            <a:r>
              <a:rPr sz="20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Programming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marL="234950" marR="88265" indent="-222885">
              <a:lnSpc>
                <a:spcPct val="70000"/>
              </a:lnSpc>
              <a:spcBef>
                <a:spcPts val="1005"/>
              </a:spcBef>
              <a:buClr>
                <a:srgbClr val="0000A2"/>
              </a:buClr>
              <a:buFont typeface="Wingdings"/>
              <a:buChar char=""/>
              <a:tabLst>
                <a:tab pos="234950" algn="l"/>
              </a:tabLst>
            </a:pPr>
            <a:r>
              <a:rPr sz="2000" dirty="0">
                <a:latin typeface="Calibri"/>
                <a:cs typeface="Calibri"/>
              </a:rPr>
              <a:t>GPUs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originally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designed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accelerate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rendering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graphics.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Over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time, </a:t>
            </a:r>
            <a:r>
              <a:rPr sz="2000" dirty="0">
                <a:latin typeface="Calibri"/>
                <a:cs typeface="Calibri"/>
              </a:rPr>
              <a:t>they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became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flexible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programmable,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enhancing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capabilities.</a:t>
            </a:r>
            <a:endParaRPr sz="2000">
              <a:latin typeface="Calibri"/>
              <a:cs typeface="Calibri"/>
            </a:endParaRPr>
          </a:p>
          <a:p>
            <a:pPr marL="234950" marR="5080" indent="-222885">
              <a:lnSpc>
                <a:spcPct val="70000"/>
              </a:lnSpc>
              <a:spcBef>
                <a:spcPts val="994"/>
              </a:spcBef>
              <a:buClr>
                <a:srgbClr val="0000A2"/>
              </a:buClr>
              <a:buFont typeface="Wingdings"/>
              <a:buChar char=""/>
              <a:tabLst>
                <a:tab pos="234950" algn="l"/>
              </a:tabLst>
            </a:pPr>
            <a:r>
              <a:rPr sz="2000" dirty="0">
                <a:latin typeface="Calibri"/>
                <a:cs typeface="Calibri"/>
              </a:rPr>
              <a:t>This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allowed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graphics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programmers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create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interesting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visual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effects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realistic </a:t>
            </a:r>
            <a:r>
              <a:rPr sz="2000" dirty="0">
                <a:latin typeface="Calibri"/>
                <a:cs typeface="Calibri"/>
              </a:rPr>
              <a:t>scenes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advanced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lighting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dirty="0">
                <a:latin typeface="Calibri"/>
                <a:cs typeface="Calibri"/>
              </a:rPr>
              <a:t>shadowing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techniques.</a:t>
            </a:r>
            <a:endParaRPr sz="2000">
              <a:latin typeface="Calibri"/>
              <a:cs typeface="Calibri"/>
            </a:endParaRPr>
          </a:p>
          <a:p>
            <a:pPr marL="234950" marR="167005" indent="-222885">
              <a:lnSpc>
                <a:spcPct val="70000"/>
              </a:lnSpc>
              <a:spcBef>
                <a:spcPts val="1000"/>
              </a:spcBef>
              <a:buClr>
                <a:srgbClr val="0000A2"/>
              </a:buClr>
              <a:buFont typeface="Wingdings"/>
              <a:buChar char=""/>
              <a:tabLst>
                <a:tab pos="234950" algn="l"/>
              </a:tabLst>
            </a:pPr>
            <a:r>
              <a:rPr sz="2000" dirty="0">
                <a:latin typeface="Calibri"/>
                <a:cs typeface="Calibri"/>
              </a:rPr>
              <a:t>Other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developers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began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tap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power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GPUs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dramatically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accelerate </a:t>
            </a:r>
            <a:r>
              <a:rPr sz="2000" dirty="0">
                <a:latin typeface="Calibri"/>
                <a:cs typeface="Calibri"/>
              </a:rPr>
              <a:t>additional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workloads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high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performance </a:t>
            </a:r>
            <a:r>
              <a:rPr sz="2000" dirty="0">
                <a:latin typeface="Calibri"/>
                <a:cs typeface="Calibri"/>
              </a:rPr>
              <a:t>computing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(HPC),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deep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learning,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more.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146" y="1753433"/>
            <a:ext cx="5133963" cy="402658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199" rIns="0" bIns="0" rtlCol="0">
            <a:spAutoFit/>
          </a:bodyPr>
          <a:lstStyle/>
          <a:p>
            <a:pPr marL="23622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Latency</a:t>
            </a:r>
            <a:r>
              <a:rPr spc="-180" dirty="0"/>
              <a:t> </a:t>
            </a:r>
            <a:r>
              <a:rPr dirty="0"/>
              <a:t>vs</a:t>
            </a:r>
            <a:r>
              <a:rPr spc="-145" dirty="0"/>
              <a:t> </a:t>
            </a:r>
            <a:r>
              <a:rPr spc="-40" dirty="0"/>
              <a:t>Throughput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6480" y="1793493"/>
            <a:ext cx="3991610" cy="2497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Latency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800">
              <a:latin typeface="Calibri"/>
              <a:cs typeface="Calibri"/>
            </a:endParaRPr>
          </a:p>
          <a:p>
            <a:pPr marL="234315" indent="-221615">
              <a:lnSpc>
                <a:spcPct val="100000"/>
              </a:lnSpc>
              <a:buClr>
                <a:srgbClr val="0000A2"/>
              </a:buClr>
              <a:buFont typeface="Wingdings"/>
              <a:buChar char=""/>
              <a:tabLst>
                <a:tab pos="234315" algn="l"/>
              </a:tabLst>
            </a:pPr>
            <a:r>
              <a:rPr sz="2800" dirty="0">
                <a:latin typeface="Calibri"/>
                <a:cs typeface="Calibri"/>
              </a:rPr>
              <a:t>Minimize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time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task</a:t>
            </a:r>
            <a:endParaRPr sz="2800">
              <a:latin typeface="Calibri"/>
              <a:cs typeface="Calibri"/>
            </a:endParaRPr>
          </a:p>
          <a:p>
            <a:pPr marL="234315" indent="-221615">
              <a:lnSpc>
                <a:spcPct val="100000"/>
              </a:lnSpc>
              <a:spcBef>
                <a:spcPts val="660"/>
              </a:spcBef>
              <a:buClr>
                <a:srgbClr val="0000A2"/>
              </a:buClr>
              <a:buFont typeface="Wingdings"/>
              <a:buChar char=""/>
              <a:tabLst>
                <a:tab pos="234315" algn="l"/>
              </a:tabLst>
            </a:pPr>
            <a:r>
              <a:rPr sz="2800" dirty="0">
                <a:latin typeface="Calibri"/>
                <a:cs typeface="Calibri"/>
              </a:rPr>
              <a:t>Metric: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seconds</a:t>
            </a:r>
            <a:endParaRPr sz="2800">
              <a:latin typeface="Calibri"/>
              <a:cs typeface="Calibri"/>
            </a:endParaRPr>
          </a:p>
          <a:p>
            <a:pPr marL="234950" indent="-222250">
              <a:lnSpc>
                <a:spcPct val="100000"/>
              </a:lnSpc>
              <a:spcBef>
                <a:spcPts val="675"/>
              </a:spcBef>
              <a:buClr>
                <a:srgbClr val="0000A2"/>
              </a:buClr>
              <a:buFont typeface="Wingdings"/>
              <a:buChar char=""/>
              <a:tabLst>
                <a:tab pos="234950" algn="l"/>
              </a:tabLst>
            </a:pPr>
            <a:r>
              <a:rPr sz="2800" dirty="0">
                <a:latin typeface="Calibri"/>
                <a:cs typeface="Calibri"/>
              </a:rPr>
              <a:t>Focus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CPU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81369" y="1793493"/>
            <a:ext cx="172021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Throughput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81369" y="2732049"/>
            <a:ext cx="4345940" cy="155892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34315" indent="-221615">
              <a:lnSpc>
                <a:spcPct val="100000"/>
              </a:lnSpc>
              <a:spcBef>
                <a:spcPts val="760"/>
              </a:spcBef>
              <a:buClr>
                <a:srgbClr val="0000A2"/>
              </a:buClr>
              <a:buFont typeface="Wingdings"/>
              <a:buChar char=""/>
              <a:tabLst>
                <a:tab pos="234315" algn="l"/>
              </a:tabLst>
            </a:pPr>
            <a:r>
              <a:rPr sz="2800" dirty="0">
                <a:latin typeface="Calibri"/>
                <a:cs typeface="Calibri"/>
              </a:rPr>
              <a:t>Maximize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stuff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time</a:t>
            </a:r>
            <a:endParaRPr sz="2800">
              <a:latin typeface="Calibri"/>
              <a:cs typeface="Calibri"/>
            </a:endParaRPr>
          </a:p>
          <a:p>
            <a:pPr marL="234315" indent="-221615">
              <a:lnSpc>
                <a:spcPct val="100000"/>
              </a:lnSpc>
              <a:spcBef>
                <a:spcPts val="660"/>
              </a:spcBef>
              <a:buClr>
                <a:srgbClr val="0000A2"/>
              </a:buClr>
              <a:buFont typeface="Wingdings"/>
              <a:buChar char=""/>
              <a:tabLst>
                <a:tab pos="234315" algn="l"/>
              </a:tabLst>
            </a:pPr>
            <a:r>
              <a:rPr sz="2800" dirty="0">
                <a:latin typeface="Calibri"/>
                <a:cs typeface="Calibri"/>
              </a:rPr>
              <a:t>Metric: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jobs/hour,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pixels/sec</a:t>
            </a:r>
            <a:endParaRPr sz="2800">
              <a:latin typeface="Calibri"/>
              <a:cs typeface="Calibri"/>
            </a:endParaRPr>
          </a:p>
          <a:p>
            <a:pPr marL="234950" indent="-222250">
              <a:lnSpc>
                <a:spcPct val="100000"/>
              </a:lnSpc>
              <a:spcBef>
                <a:spcPts val="670"/>
              </a:spcBef>
              <a:buClr>
                <a:srgbClr val="0000A2"/>
              </a:buClr>
              <a:buFont typeface="Wingdings"/>
              <a:buChar char=""/>
              <a:tabLst>
                <a:tab pos="234950" algn="l"/>
              </a:tabLst>
            </a:pPr>
            <a:r>
              <a:rPr sz="2800" dirty="0">
                <a:latin typeface="Calibri"/>
                <a:cs typeface="Calibri"/>
              </a:rPr>
              <a:t>Focus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GPUs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3004" y="364600"/>
            <a:ext cx="8640344" cy="628302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6535" y="278516"/>
            <a:ext cx="7176211" cy="601543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807591" y="6324701"/>
            <a:ext cx="85007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https://www.intel.com/content/www/us/en/products/docs/processors/what-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is-</a:t>
            </a: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a-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gpu.html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5316" y="182879"/>
            <a:ext cx="9488987" cy="642021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6012" y="997817"/>
            <a:ext cx="10115963" cy="521705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8865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How</a:t>
            </a:r>
            <a:r>
              <a:rPr sz="32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GPU</a:t>
            </a:r>
            <a:r>
              <a:rPr sz="32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increases</a:t>
            </a:r>
            <a:r>
              <a:rPr sz="32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throughput?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9891" y="609600"/>
            <a:ext cx="10364724" cy="5524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9847" y="640080"/>
            <a:ext cx="9581011" cy="557202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B4CD9-8CE2-1150-240F-FA04EF0B7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861" y="3090446"/>
            <a:ext cx="10606277" cy="677108"/>
          </a:xfrm>
        </p:spPr>
        <p:txBody>
          <a:bodyPr/>
          <a:lstStyle/>
          <a:p>
            <a:pPr algn="ctr"/>
            <a:r>
              <a:rPr lang="en-US" dirty="0"/>
              <a:t>GPU Architecture</a:t>
            </a:r>
          </a:p>
        </p:txBody>
      </p:sp>
    </p:spTree>
    <p:extLst>
      <p:ext uri="{BB962C8B-B14F-4D97-AF65-F5344CB8AC3E}">
        <p14:creationId xmlns:p14="http://schemas.microsoft.com/office/powerpoint/2010/main" val="1891280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7829" y="598931"/>
            <a:ext cx="10659226" cy="56506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4332" y="0"/>
            <a:ext cx="7889748" cy="679246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20A2AD-2F13-D731-0B01-4686903CF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87" y="304800"/>
            <a:ext cx="10943825" cy="5791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35CDA8-032D-76CE-F035-E9C74198AFE4}"/>
              </a:ext>
            </a:extLst>
          </p:cNvPr>
          <p:cNvSpPr txBox="1"/>
          <p:nvPr/>
        </p:nvSpPr>
        <p:spPr>
          <a:xfrm>
            <a:off x="3543299" y="6183868"/>
            <a:ext cx="510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https://www.run.ai/guides/multi-gpu/cpu-vs-gpu</a:t>
            </a:r>
          </a:p>
        </p:txBody>
      </p:sp>
    </p:spTree>
    <p:extLst>
      <p:ext uri="{BB962C8B-B14F-4D97-AF65-F5344CB8AC3E}">
        <p14:creationId xmlns:p14="http://schemas.microsoft.com/office/powerpoint/2010/main" val="1361022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 network&#10;&#10;Description automatically generated">
            <a:extLst>
              <a:ext uri="{FF2B5EF4-FFF2-40B4-BE49-F238E27FC236}">
                <a16:creationId xmlns:a16="http://schemas.microsoft.com/office/drawing/2014/main" id="{3148CC4E-0384-1746-DBB8-266410C25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23446"/>
            <a:ext cx="9906000" cy="661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627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FB1BBF-EB67-F580-DD3D-4DD8C0CA4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-23750"/>
            <a:ext cx="2895600" cy="6881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456637-DC5B-F32C-7C48-4B60E0249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455083"/>
            <a:ext cx="5581812" cy="594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184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EEA6E-8991-F095-DCDB-1FACFA981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8EDED8-809A-F11E-EA54-036E14070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59" y="3187832"/>
            <a:ext cx="3175376" cy="4823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049F7F-DDDF-9A79-23AB-BA6CB741F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"/>
            <a:ext cx="8380502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794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759A5D-1416-430C-2039-CDC0EBADE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767" y="983327"/>
            <a:ext cx="9580466" cy="489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865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D05C8-0529-2BC9-138B-130C42FBD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A85B37-07EB-7A73-B52E-3DCA25EDE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191" y="0"/>
            <a:ext cx="5967618" cy="68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63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D231B3-29E1-E621-E841-D8D63C9A2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69" y="609600"/>
            <a:ext cx="10677461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72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1046480" y="1228496"/>
            <a:ext cx="9311005" cy="455041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34315" indent="-221615">
              <a:lnSpc>
                <a:spcPct val="100000"/>
              </a:lnSpc>
              <a:spcBef>
                <a:spcPts val="770"/>
              </a:spcBef>
              <a:buClr>
                <a:srgbClr val="0000A2"/>
              </a:buClr>
              <a:buFont typeface="Wingdings"/>
              <a:buChar char=""/>
              <a:tabLst>
                <a:tab pos="234315" algn="l"/>
              </a:tabLst>
            </a:pPr>
            <a:r>
              <a:rPr sz="2800" dirty="0">
                <a:latin typeface="Calibri"/>
                <a:cs typeface="Calibri"/>
              </a:rPr>
              <a:t>CUDA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Platform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NVIDIA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GPUs</a:t>
            </a:r>
            <a:endParaRPr sz="2800">
              <a:latin typeface="Calibri"/>
              <a:cs typeface="Calibri"/>
            </a:endParaRPr>
          </a:p>
          <a:p>
            <a:pPr marL="234315" indent="-221615">
              <a:lnSpc>
                <a:spcPct val="100000"/>
              </a:lnSpc>
              <a:spcBef>
                <a:spcPts val="675"/>
              </a:spcBef>
              <a:buClr>
                <a:srgbClr val="0000A2"/>
              </a:buClr>
              <a:buFont typeface="Wingdings"/>
              <a:buChar char=""/>
              <a:tabLst>
                <a:tab pos="234315" algn="l"/>
              </a:tabLst>
            </a:pPr>
            <a:r>
              <a:rPr sz="2800" dirty="0">
                <a:latin typeface="Calibri"/>
                <a:cs typeface="Calibri"/>
              </a:rPr>
              <a:t>OpenCL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Open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platform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Accelerators</a:t>
            </a:r>
            <a:endParaRPr sz="2800">
              <a:latin typeface="Calibri"/>
              <a:cs typeface="Calibri"/>
            </a:endParaRPr>
          </a:p>
          <a:p>
            <a:pPr marL="234315" indent="-221615">
              <a:lnSpc>
                <a:spcPct val="100000"/>
              </a:lnSpc>
              <a:spcBef>
                <a:spcPts val="660"/>
              </a:spcBef>
              <a:buClr>
                <a:srgbClr val="0000A2"/>
              </a:buClr>
              <a:buFont typeface="Wingdings"/>
              <a:buChar char=""/>
              <a:tabLst>
                <a:tab pos="234315" algn="l"/>
              </a:tabLst>
            </a:pPr>
            <a:r>
              <a:rPr sz="2800" dirty="0">
                <a:latin typeface="Calibri"/>
                <a:cs typeface="Calibri"/>
              </a:rPr>
              <a:t>OpenCL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CUDA</a:t>
            </a:r>
            <a:endParaRPr sz="2800">
              <a:latin typeface="Calibri"/>
              <a:cs typeface="Calibri"/>
            </a:endParaRPr>
          </a:p>
          <a:p>
            <a:pPr marL="234315" indent="-221615">
              <a:lnSpc>
                <a:spcPct val="100000"/>
              </a:lnSpc>
              <a:spcBef>
                <a:spcPts val="660"/>
              </a:spcBef>
              <a:buClr>
                <a:srgbClr val="0000A2"/>
              </a:buClr>
              <a:buFont typeface="Wingdings"/>
              <a:buChar char=""/>
              <a:tabLst>
                <a:tab pos="234315" algn="l"/>
              </a:tabLst>
            </a:pPr>
            <a:r>
              <a:rPr sz="2800" dirty="0">
                <a:latin typeface="Calibri"/>
                <a:cs typeface="Calibri"/>
              </a:rPr>
              <a:t>How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GPU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accelerate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Compute?</a:t>
            </a:r>
            <a:endParaRPr sz="2800">
              <a:latin typeface="Calibri"/>
              <a:cs typeface="Calibri"/>
            </a:endParaRPr>
          </a:p>
          <a:p>
            <a:pPr marL="234315" indent="-221615">
              <a:lnSpc>
                <a:spcPct val="100000"/>
              </a:lnSpc>
              <a:spcBef>
                <a:spcPts val="670"/>
              </a:spcBef>
              <a:buClr>
                <a:srgbClr val="0000A2"/>
              </a:buClr>
              <a:buFont typeface="Wingdings"/>
              <a:buChar char=""/>
              <a:tabLst>
                <a:tab pos="23431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typical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program</a:t>
            </a:r>
            <a:endParaRPr sz="2800">
              <a:latin typeface="Calibri"/>
              <a:cs typeface="Calibri"/>
            </a:endParaRPr>
          </a:p>
          <a:p>
            <a:pPr marL="576580" lvl="1" indent="-230504">
              <a:lnSpc>
                <a:spcPct val="100000"/>
              </a:lnSpc>
              <a:spcBef>
                <a:spcPts val="235"/>
              </a:spcBef>
              <a:buClr>
                <a:srgbClr val="0000A8"/>
              </a:buClr>
              <a:buFont typeface="Arial MT"/>
              <a:buChar char="•"/>
              <a:tabLst>
                <a:tab pos="576580" algn="l"/>
              </a:tabLst>
            </a:pPr>
            <a:r>
              <a:rPr sz="2400" spc="-10" dirty="0">
                <a:latin typeface="Calibri"/>
                <a:cs typeface="Calibri"/>
              </a:rPr>
              <a:t>Write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CPU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C/C++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normally</a:t>
            </a:r>
            <a:endParaRPr sz="2400">
              <a:latin typeface="Calibri"/>
              <a:cs typeface="Calibri"/>
            </a:endParaRPr>
          </a:p>
          <a:p>
            <a:pPr marL="576580" lvl="1" indent="-230504">
              <a:lnSpc>
                <a:spcPct val="100000"/>
              </a:lnSpc>
              <a:spcBef>
                <a:spcPts val="215"/>
              </a:spcBef>
              <a:buClr>
                <a:srgbClr val="0000A8"/>
              </a:buClr>
              <a:buFont typeface="Arial MT"/>
              <a:buChar char="•"/>
              <a:tabLst>
                <a:tab pos="576580" algn="l"/>
              </a:tabLst>
            </a:pPr>
            <a:r>
              <a:rPr sz="2400" dirty="0">
                <a:latin typeface="Calibri"/>
                <a:cs typeface="Calibri"/>
              </a:rPr>
              <a:t>Declare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allocate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GPU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memory</a:t>
            </a:r>
            <a:endParaRPr sz="2400">
              <a:latin typeface="Calibri"/>
              <a:cs typeface="Calibri"/>
            </a:endParaRPr>
          </a:p>
          <a:p>
            <a:pPr marL="576580" lvl="1" indent="-230504">
              <a:lnSpc>
                <a:spcPct val="100000"/>
              </a:lnSpc>
              <a:spcBef>
                <a:spcPts val="219"/>
              </a:spcBef>
              <a:buClr>
                <a:srgbClr val="0000A8"/>
              </a:buClr>
              <a:buFont typeface="Arial MT"/>
              <a:buChar char="•"/>
              <a:tabLst>
                <a:tab pos="576580" algn="l"/>
              </a:tabLst>
            </a:pPr>
            <a:r>
              <a:rPr sz="2400" dirty="0">
                <a:latin typeface="Calibri"/>
                <a:cs typeface="Calibri"/>
              </a:rPr>
              <a:t>Specify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Kernel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program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GPU</a:t>
            </a:r>
            <a:endParaRPr sz="2400">
              <a:latin typeface="Calibri"/>
              <a:cs typeface="Calibri"/>
            </a:endParaRPr>
          </a:p>
          <a:p>
            <a:pPr marL="576580" lvl="1" indent="-230504">
              <a:lnSpc>
                <a:spcPct val="100000"/>
              </a:lnSpc>
              <a:spcBef>
                <a:spcPts val="200"/>
              </a:spcBef>
              <a:buClr>
                <a:srgbClr val="0000A8"/>
              </a:buClr>
              <a:buFont typeface="Arial MT"/>
              <a:buChar char="•"/>
              <a:tabLst>
                <a:tab pos="576580" algn="l"/>
              </a:tabLst>
            </a:pPr>
            <a:r>
              <a:rPr sz="2400" spc="-10" dirty="0">
                <a:latin typeface="Calibri"/>
                <a:cs typeface="Calibri"/>
              </a:rPr>
              <a:t>Execute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Kernel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code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GPU</a:t>
            </a:r>
            <a:endParaRPr sz="2400">
              <a:latin typeface="Calibri"/>
              <a:cs typeface="Calibri"/>
            </a:endParaRPr>
          </a:p>
          <a:p>
            <a:pPr marL="576580" lvl="1" indent="-230504">
              <a:lnSpc>
                <a:spcPct val="100000"/>
              </a:lnSpc>
              <a:spcBef>
                <a:spcPts val="220"/>
              </a:spcBef>
              <a:buClr>
                <a:srgbClr val="0000A8"/>
              </a:buClr>
              <a:buFont typeface="Arial MT"/>
              <a:buChar char="•"/>
              <a:tabLst>
                <a:tab pos="576580" algn="l"/>
              </a:tabLst>
            </a:pP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Kernels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exists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program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activated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1046480" y="1457071"/>
            <a:ext cx="10126980" cy="480250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33679" marR="95250" indent="-221615">
              <a:lnSpc>
                <a:spcPts val="3020"/>
              </a:lnSpc>
              <a:spcBef>
                <a:spcPts val="480"/>
              </a:spcBef>
              <a:buClr>
                <a:srgbClr val="0000A2"/>
              </a:buClr>
              <a:buFont typeface="Wingdings"/>
              <a:buChar char=""/>
              <a:tabLst>
                <a:tab pos="234950" algn="l"/>
              </a:tabLst>
            </a:pPr>
            <a:r>
              <a:rPr sz="2800" dirty="0">
                <a:latin typeface="Calibri"/>
                <a:cs typeface="Calibri"/>
              </a:rPr>
              <a:t>CUDA®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parallel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platform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programming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 	</a:t>
            </a:r>
            <a:r>
              <a:rPr sz="2800" dirty="0">
                <a:latin typeface="Calibri"/>
                <a:cs typeface="Calibri"/>
              </a:rPr>
              <a:t>developed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NVIDIA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general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graphical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processing 	</a:t>
            </a:r>
            <a:r>
              <a:rPr sz="2800" dirty="0">
                <a:latin typeface="Calibri"/>
                <a:cs typeface="Calibri"/>
              </a:rPr>
              <a:t>units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(GPUs).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20"/>
              </a:spcBef>
              <a:buClr>
                <a:srgbClr val="0000A2"/>
              </a:buClr>
              <a:buFont typeface="Wingdings"/>
              <a:buChar char=""/>
            </a:pPr>
            <a:endParaRPr sz="2800">
              <a:latin typeface="Calibri"/>
              <a:cs typeface="Calibri"/>
            </a:endParaRPr>
          </a:p>
          <a:p>
            <a:pPr marL="233679" marR="5080" indent="-221615">
              <a:lnSpc>
                <a:spcPts val="3020"/>
              </a:lnSpc>
              <a:spcBef>
                <a:spcPts val="5"/>
              </a:spcBef>
              <a:buClr>
                <a:srgbClr val="0000A2"/>
              </a:buClr>
              <a:buFont typeface="Wingdings"/>
              <a:buChar char=""/>
              <a:tabLst>
                <a:tab pos="234950" algn="l"/>
              </a:tabLst>
            </a:pPr>
            <a:r>
              <a:rPr sz="2800" dirty="0">
                <a:latin typeface="Calibri"/>
                <a:cs typeface="Calibri"/>
              </a:rPr>
              <a:t>With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CUDA,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developers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able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dramatically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computing 	</a:t>
            </a:r>
            <a:r>
              <a:rPr sz="2800" dirty="0">
                <a:latin typeface="Calibri"/>
                <a:cs typeface="Calibri"/>
              </a:rPr>
              <a:t>applications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harnessing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power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GPUs.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70"/>
              </a:spcBef>
              <a:buClr>
                <a:srgbClr val="0000A2"/>
              </a:buClr>
              <a:buFont typeface="Wingdings"/>
              <a:buChar char=""/>
            </a:pPr>
            <a:endParaRPr sz="2800">
              <a:latin typeface="Calibri"/>
              <a:cs typeface="Calibri"/>
            </a:endParaRPr>
          </a:p>
          <a:p>
            <a:pPr marL="233679" marR="487045" indent="-221615">
              <a:lnSpc>
                <a:spcPct val="90000"/>
              </a:lnSpc>
              <a:buClr>
                <a:srgbClr val="0000A2"/>
              </a:buClr>
              <a:buFont typeface="Wingdings"/>
              <a:buChar char=""/>
              <a:tabLst>
                <a:tab pos="23495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CUDA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Toolkit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NVIDIA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everything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need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	</a:t>
            </a:r>
            <a:r>
              <a:rPr sz="2800" dirty="0">
                <a:latin typeface="Calibri"/>
                <a:cs typeface="Calibri"/>
              </a:rPr>
              <a:t>develop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GPU-</a:t>
            </a:r>
            <a:r>
              <a:rPr sz="2800" spc="-10" dirty="0">
                <a:latin typeface="Calibri"/>
                <a:cs typeface="Calibri"/>
              </a:rPr>
              <a:t>accelerated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applications.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Toolkit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includes 	</a:t>
            </a:r>
            <a:r>
              <a:rPr sz="2800" spc="-25" dirty="0">
                <a:latin typeface="Calibri"/>
                <a:cs typeface="Calibri"/>
              </a:rPr>
              <a:t>GPU-</a:t>
            </a:r>
            <a:r>
              <a:rPr sz="2800" spc="-10" dirty="0">
                <a:latin typeface="Calibri"/>
                <a:cs typeface="Calibri"/>
              </a:rPr>
              <a:t>accelerated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libraries,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compiler,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development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tools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CUDA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runtime.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199" rIns="0" bIns="0" rtlCol="0">
            <a:spAutoFit/>
          </a:bodyPr>
          <a:lstStyle/>
          <a:p>
            <a:pPr marL="23622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NVIDIA</a:t>
            </a:r>
            <a:r>
              <a:rPr spc="-220" dirty="0"/>
              <a:t> </a:t>
            </a:r>
            <a:r>
              <a:rPr spc="-20" dirty="0"/>
              <a:t>CUDA</a:t>
            </a:r>
            <a:r>
              <a:rPr spc="-204" dirty="0"/>
              <a:t> </a:t>
            </a:r>
            <a:r>
              <a:rPr spc="-25" dirty="0"/>
              <a:t>platform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" y="297179"/>
            <a:ext cx="6493763" cy="632917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185786" y="1152271"/>
            <a:ext cx="4562475" cy="4964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35" dirty="0">
                <a:latin typeface="Calibri"/>
                <a:cs typeface="Calibri"/>
              </a:rPr>
              <a:t>You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write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OpenCL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will </a:t>
            </a:r>
            <a:r>
              <a:rPr sz="1800" dirty="0">
                <a:latin typeface="Calibri"/>
                <a:cs typeface="Calibri"/>
              </a:rPr>
              <a:t>function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Nvidia/AMD/Intel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GPUs, AMD/Intel/ARM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CPUs,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FPGAs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etc.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 </a:t>
            </a:r>
            <a:r>
              <a:rPr sz="1800" spc="-10" dirty="0">
                <a:latin typeface="Calibri"/>
                <a:cs typeface="Calibri"/>
              </a:rPr>
              <a:t>excellent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compatibility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across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Windows,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Linux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MacOS.</a:t>
            </a:r>
            <a:endParaRPr sz="1800">
              <a:latin typeface="Calibri"/>
              <a:cs typeface="Calibri"/>
            </a:endParaRPr>
          </a:p>
          <a:p>
            <a:pPr marL="299085" marR="185420" indent="-28702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CUDA,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Nvidia </a:t>
            </a:r>
            <a:r>
              <a:rPr sz="1800" dirty="0">
                <a:latin typeface="Calibri"/>
                <a:cs typeface="Calibri"/>
              </a:rPr>
              <a:t>GPUs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only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re-</a:t>
            </a:r>
            <a:r>
              <a:rPr sz="1800" dirty="0">
                <a:latin typeface="Calibri"/>
                <a:cs typeface="Calibri"/>
              </a:rPr>
              <a:t>write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again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in </a:t>
            </a:r>
            <a:r>
              <a:rPr sz="1800" dirty="0">
                <a:latin typeface="Calibri"/>
                <a:cs typeface="Calibri"/>
              </a:rPr>
              <a:t>OpenCL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other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language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other </a:t>
            </a:r>
            <a:r>
              <a:rPr sz="1800" spc="-10" dirty="0">
                <a:latin typeface="Calibri"/>
                <a:cs typeface="Calibri"/>
              </a:rPr>
              <a:t>platforms.</a:t>
            </a:r>
            <a:endParaRPr sz="1800">
              <a:latin typeface="Calibri"/>
              <a:cs typeface="Calibri"/>
            </a:endParaRPr>
          </a:p>
          <a:p>
            <a:pPr marL="299085" marR="290195" indent="-287020">
              <a:lnSpc>
                <a:spcPct val="100000"/>
              </a:lnSpc>
              <a:spcBef>
                <a:spcPts val="216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long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don't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Nvidia- </a:t>
            </a:r>
            <a:r>
              <a:rPr sz="1800" dirty="0">
                <a:latin typeface="Calibri"/>
                <a:cs typeface="Calibri"/>
              </a:rPr>
              <a:t>proprietary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things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tensor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ray-</a:t>
            </a:r>
            <a:r>
              <a:rPr sz="1800" spc="-10" dirty="0">
                <a:latin typeface="Calibri"/>
                <a:cs typeface="Calibri"/>
              </a:rPr>
              <a:t>tracing </a:t>
            </a:r>
            <a:r>
              <a:rPr sz="1800" dirty="0">
                <a:latin typeface="Calibri"/>
                <a:cs typeface="Calibri"/>
              </a:rPr>
              <a:t>cores,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OpenCL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just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CUDA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when </a:t>
            </a:r>
            <a:r>
              <a:rPr sz="1800" dirty="0">
                <a:latin typeface="Calibri"/>
                <a:cs typeface="Calibri"/>
              </a:rPr>
              <a:t>properly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optimized.</a:t>
            </a:r>
            <a:endParaRPr sz="1800">
              <a:latin typeface="Calibri"/>
              <a:cs typeface="Calibri"/>
            </a:endParaRPr>
          </a:p>
          <a:p>
            <a:pPr marL="299085" marR="104139" indent="-28702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serious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limitation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CUDA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cause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serious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waste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run.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227821" y="454279"/>
            <a:ext cx="24872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OpenCL</a:t>
            </a:r>
            <a:r>
              <a:rPr sz="2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vs</a:t>
            </a:r>
            <a:r>
              <a:rPr sz="2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CUDA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739" y="205373"/>
            <a:ext cx="7160733" cy="614665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185786" y="381711"/>
            <a:ext cx="3840479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794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GPU-accelerated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applications,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sequential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workload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runs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CPU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–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optimized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single- </a:t>
            </a:r>
            <a:r>
              <a:rPr sz="2000" dirty="0">
                <a:latin typeface="Calibri"/>
                <a:cs typeface="Calibri"/>
              </a:rPr>
              <a:t>threaded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performance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while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compute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intensive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portion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application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runs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on </a:t>
            </a:r>
            <a:r>
              <a:rPr sz="2000" dirty="0">
                <a:latin typeface="Calibri"/>
                <a:cs typeface="Calibri"/>
              </a:rPr>
              <a:t>thousands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GPU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cores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in </a:t>
            </a:r>
            <a:r>
              <a:rPr sz="2000" spc="-10" dirty="0">
                <a:latin typeface="Calibri"/>
                <a:cs typeface="Calibri"/>
              </a:rPr>
              <a:t>parallel.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240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When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CUDA,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developers program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popular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languages </a:t>
            </a:r>
            <a:r>
              <a:rPr sz="2000" dirty="0">
                <a:latin typeface="Calibri"/>
                <a:cs typeface="Calibri"/>
              </a:rPr>
              <a:t>such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C++,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Fortran,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Python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0" dirty="0">
                <a:latin typeface="Calibri"/>
                <a:cs typeface="Calibri"/>
              </a:rPr>
              <a:t> MATLAB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express </a:t>
            </a:r>
            <a:r>
              <a:rPr sz="2000" dirty="0">
                <a:latin typeface="Calibri"/>
                <a:cs typeface="Calibri"/>
              </a:rPr>
              <a:t>parallelism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through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extensions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in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few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basic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keywords.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2513" y="1359408"/>
            <a:ext cx="9597829" cy="401192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227" y="2177593"/>
            <a:ext cx="10597333" cy="267180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481330"/>
            <a:ext cx="69907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220" dirty="0"/>
              <a:t> </a:t>
            </a:r>
            <a:r>
              <a:rPr dirty="0"/>
              <a:t>GPU</a:t>
            </a:r>
            <a:r>
              <a:rPr spc="-220" dirty="0"/>
              <a:t> </a:t>
            </a:r>
            <a:r>
              <a:rPr spc="-45" dirty="0"/>
              <a:t>Accelerate</a:t>
            </a:r>
            <a:r>
              <a:rPr spc="-200" dirty="0"/>
              <a:t> </a:t>
            </a:r>
            <a:r>
              <a:rPr spc="-10" dirty="0"/>
              <a:t>Compute?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372" y="1223772"/>
            <a:ext cx="11261184" cy="39627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570" y="2336292"/>
            <a:ext cx="11149153" cy="199643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199" rIns="0" bIns="0" rtlCol="0">
            <a:spAutoFit/>
          </a:bodyPr>
          <a:lstStyle/>
          <a:p>
            <a:pPr marL="23622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Declare</a:t>
            </a:r>
            <a:r>
              <a:rPr spc="-204" dirty="0"/>
              <a:t> </a:t>
            </a:r>
            <a:r>
              <a:rPr dirty="0"/>
              <a:t>and</a:t>
            </a:r>
            <a:r>
              <a:rPr spc="-195" dirty="0"/>
              <a:t> </a:t>
            </a:r>
            <a:r>
              <a:rPr spc="-40" dirty="0"/>
              <a:t>Allocate</a:t>
            </a:r>
            <a:r>
              <a:rPr spc="-195" dirty="0"/>
              <a:t> </a:t>
            </a:r>
            <a:r>
              <a:rPr dirty="0"/>
              <a:t>GPU</a:t>
            </a:r>
            <a:r>
              <a:rPr spc="-215" dirty="0"/>
              <a:t> </a:t>
            </a:r>
            <a:r>
              <a:rPr spc="-10" dirty="0"/>
              <a:t>memory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199" rIns="0" bIns="0" rtlCol="0">
            <a:spAutoFit/>
          </a:bodyPr>
          <a:lstStyle/>
          <a:p>
            <a:pPr marL="23622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Specify</a:t>
            </a:r>
            <a:r>
              <a:rPr spc="-204" dirty="0"/>
              <a:t> </a:t>
            </a:r>
            <a:r>
              <a:rPr spc="-30" dirty="0"/>
              <a:t>Kernel</a:t>
            </a:r>
            <a:r>
              <a:rPr spc="-190" dirty="0"/>
              <a:t> </a:t>
            </a:r>
            <a:r>
              <a:rPr spc="-10" dirty="0"/>
              <a:t>code</a:t>
            </a:r>
            <a:r>
              <a:rPr spc="-200" dirty="0"/>
              <a:t> </a:t>
            </a:r>
            <a:r>
              <a:rPr dirty="0"/>
              <a:t>in</a:t>
            </a:r>
            <a:r>
              <a:rPr spc="-185" dirty="0"/>
              <a:t> </a:t>
            </a:r>
            <a:r>
              <a:rPr spc="-10" dirty="0"/>
              <a:t>your</a:t>
            </a:r>
            <a:r>
              <a:rPr spc="-195" dirty="0"/>
              <a:t> </a:t>
            </a:r>
            <a:r>
              <a:rPr spc="-25" dirty="0"/>
              <a:t>program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427" y="2154935"/>
            <a:ext cx="10657754" cy="219933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36675" y="4900929"/>
            <a:ext cx="2863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Double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Underscore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or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Dunder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1295" y="1345691"/>
            <a:ext cx="10624776" cy="47136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199" rIns="0" bIns="0" rtlCol="0">
            <a:spAutoFit/>
          </a:bodyPr>
          <a:lstStyle/>
          <a:p>
            <a:pPr marL="23622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Execute</a:t>
            </a:r>
            <a:r>
              <a:rPr spc="-195" dirty="0"/>
              <a:t> </a:t>
            </a:r>
            <a:r>
              <a:rPr spc="-30" dirty="0"/>
              <a:t>Kernel</a:t>
            </a:r>
            <a:r>
              <a:rPr spc="-180" dirty="0"/>
              <a:t> </a:t>
            </a:r>
            <a:r>
              <a:rPr spc="-20" dirty="0"/>
              <a:t>code</a:t>
            </a:r>
            <a:r>
              <a:rPr spc="-190" dirty="0"/>
              <a:t> </a:t>
            </a:r>
            <a:r>
              <a:rPr dirty="0"/>
              <a:t>on</a:t>
            </a:r>
            <a:r>
              <a:rPr spc="-190" dirty="0"/>
              <a:t> </a:t>
            </a:r>
            <a:r>
              <a:rPr spc="-25" dirty="0"/>
              <a:t>GPU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581150" y="6099454"/>
            <a:ext cx="5792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Different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GPU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kernels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can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be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coded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called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from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your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9559" y="220979"/>
            <a:ext cx="9237345" cy="6425565"/>
            <a:chOff x="289559" y="220979"/>
            <a:chExt cx="9237345" cy="64255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217" y="220979"/>
              <a:ext cx="9085745" cy="319700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9559" y="3284219"/>
              <a:ext cx="9157716" cy="165658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283" y="4738115"/>
              <a:ext cx="9159240" cy="190804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2883" y="313943"/>
            <a:ext cx="10624820" cy="6129655"/>
            <a:chOff x="542883" y="313943"/>
            <a:chExt cx="10624820" cy="61296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2883" y="313943"/>
              <a:ext cx="10624776" cy="471364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9448" y="5060930"/>
              <a:ext cx="8319516" cy="138254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9981" y="238401"/>
            <a:ext cx="8277225" cy="6479540"/>
            <a:chOff x="1689981" y="238401"/>
            <a:chExt cx="8277225" cy="64795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9981" y="238401"/>
              <a:ext cx="8276978" cy="391536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0783" y="4037076"/>
              <a:ext cx="8266176" cy="2680716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955" y="4587240"/>
            <a:ext cx="11387328" cy="203911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79414" y="501847"/>
            <a:ext cx="11035030" cy="3904615"/>
            <a:chOff x="579414" y="501847"/>
            <a:chExt cx="11035030" cy="39046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414" y="501847"/>
              <a:ext cx="8213072" cy="249639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18176" y="2485644"/>
              <a:ext cx="6396228" cy="192023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5693" y="635362"/>
            <a:ext cx="9203116" cy="55320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290" y="792522"/>
            <a:ext cx="10979416" cy="522642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691692" y="1174826"/>
            <a:ext cx="10833735" cy="500570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34950" marR="5080" indent="-222885">
              <a:lnSpc>
                <a:spcPts val="2690"/>
              </a:lnSpc>
              <a:spcBef>
                <a:spcPts val="745"/>
              </a:spcBef>
              <a:buClr>
                <a:srgbClr val="0000A2"/>
              </a:buClr>
              <a:buFont typeface="Wingdings"/>
              <a:buChar char=""/>
              <a:tabLst>
                <a:tab pos="234950" algn="l"/>
              </a:tabLst>
            </a:pPr>
            <a:r>
              <a:rPr sz="2800" dirty="0">
                <a:latin typeface="Calibri"/>
                <a:cs typeface="Calibri"/>
              </a:rPr>
              <a:t>When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host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launches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kernel,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runtime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generates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grid</a:t>
            </a:r>
            <a:r>
              <a:rPr sz="2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threads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organized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two-</a:t>
            </a:r>
            <a:r>
              <a:rPr sz="2800" dirty="0">
                <a:latin typeface="Calibri"/>
                <a:cs typeface="Calibri"/>
              </a:rPr>
              <a:t>level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hierarchy.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A2"/>
              </a:buClr>
              <a:buFont typeface="Wingdings"/>
              <a:buChar char=""/>
            </a:pPr>
            <a:endParaRPr sz="2800">
              <a:latin typeface="Calibri"/>
              <a:cs typeface="Calibri"/>
            </a:endParaRPr>
          </a:p>
          <a:p>
            <a:pPr marL="234950" marR="1135380" indent="-222885">
              <a:lnSpc>
                <a:spcPts val="2690"/>
              </a:lnSpc>
              <a:buClr>
                <a:srgbClr val="0000A2"/>
              </a:buClr>
              <a:buFont typeface="Wingdings"/>
              <a:buChar char=""/>
              <a:tabLst>
                <a:tab pos="234950" algn="l"/>
              </a:tabLst>
            </a:pPr>
            <a:r>
              <a:rPr sz="2800" dirty="0">
                <a:latin typeface="Calibri"/>
                <a:cs typeface="Calibri"/>
              </a:rPr>
              <a:t>Each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grid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organized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an</a:t>
            </a:r>
            <a:r>
              <a:rPr sz="2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array</a:t>
            </a:r>
            <a:r>
              <a:rPr sz="28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thread</a:t>
            </a:r>
            <a:r>
              <a:rPr sz="2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blocks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be </a:t>
            </a:r>
            <a:r>
              <a:rPr sz="2800" spc="-10" dirty="0">
                <a:latin typeface="Calibri"/>
                <a:cs typeface="Calibri"/>
              </a:rPr>
              <a:t>referred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blocks</a:t>
            </a:r>
            <a:r>
              <a:rPr sz="28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brevity.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60"/>
              </a:spcBef>
              <a:buClr>
                <a:srgbClr val="0000A2"/>
              </a:buClr>
              <a:buFont typeface="Wingdings"/>
              <a:buChar char=""/>
            </a:pPr>
            <a:endParaRPr sz="2800">
              <a:latin typeface="Calibri"/>
              <a:cs typeface="Calibri"/>
            </a:endParaRPr>
          </a:p>
          <a:p>
            <a:pPr marL="233679" marR="730885" indent="-221615">
              <a:lnSpc>
                <a:spcPts val="2690"/>
              </a:lnSpc>
              <a:spcBef>
                <a:spcPts val="5"/>
              </a:spcBef>
              <a:buClr>
                <a:srgbClr val="0000A2"/>
              </a:buClr>
              <a:buFont typeface="Wingdings"/>
              <a:buChar char=""/>
              <a:tabLst>
                <a:tab pos="234950" algn="l"/>
              </a:tabLst>
            </a:pPr>
            <a:r>
              <a:rPr sz="2800" dirty="0">
                <a:latin typeface="Calibri"/>
                <a:cs typeface="Calibri"/>
              </a:rPr>
              <a:t>All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blocks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grid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same</a:t>
            </a:r>
            <a:r>
              <a:rPr sz="2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size</a:t>
            </a:r>
            <a:r>
              <a:rPr sz="2800" dirty="0">
                <a:latin typeface="Calibri"/>
                <a:cs typeface="Calibri"/>
              </a:rPr>
              <a:t>;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block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contain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	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1,024</a:t>
            </a:r>
            <a:r>
              <a:rPr sz="2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threads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576580" lvl="1" indent="-230504">
              <a:lnSpc>
                <a:spcPts val="2840"/>
              </a:lnSpc>
              <a:spcBef>
                <a:spcPts val="2770"/>
              </a:spcBef>
              <a:buClr>
                <a:srgbClr val="0000A8"/>
              </a:buClr>
              <a:buFont typeface="Arial MT"/>
              <a:buChar char="•"/>
              <a:tabLst>
                <a:tab pos="576580" algn="l"/>
              </a:tabLst>
            </a:pPr>
            <a:r>
              <a:rPr sz="2400" dirty="0">
                <a:latin typeface="Calibri"/>
                <a:cs typeface="Calibri"/>
              </a:rPr>
              <a:t>Figure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3.10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shows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each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block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consists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256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threads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576580" marR="304800" lvl="1" indent="-230504">
              <a:lnSpc>
                <a:spcPct val="80000"/>
              </a:lnSpc>
              <a:spcBef>
                <a:spcPts val="535"/>
              </a:spcBef>
              <a:buClr>
                <a:srgbClr val="0000A8"/>
              </a:buClr>
              <a:buFont typeface="Arial MT"/>
              <a:buChar char="•"/>
              <a:tabLst>
                <a:tab pos="57785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threads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thread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dirty="0">
                <a:latin typeface="Calibri"/>
                <a:cs typeface="Calibri"/>
              </a:rPr>
              <a:t>kernel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launched.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kernel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dirty="0">
                <a:latin typeface="Calibri"/>
                <a:cs typeface="Calibri"/>
              </a:rPr>
              <a:t>threads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host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code.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8139" y="428625"/>
            <a:ext cx="53930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GPU</a:t>
            </a:r>
            <a:r>
              <a:rPr spc="-220" dirty="0"/>
              <a:t> </a:t>
            </a:r>
            <a:r>
              <a:rPr spc="-30" dirty="0"/>
              <a:t>Threads:</a:t>
            </a:r>
            <a:r>
              <a:rPr spc="-190" dirty="0"/>
              <a:t> </a:t>
            </a:r>
            <a:r>
              <a:rPr dirty="0"/>
              <a:t>Grid</a:t>
            </a:r>
            <a:r>
              <a:rPr spc="-200" dirty="0"/>
              <a:t> </a:t>
            </a:r>
            <a:r>
              <a:rPr spc="-10" dirty="0"/>
              <a:t>Block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4922" y="748239"/>
            <a:ext cx="10067426" cy="404433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320065" y="5120640"/>
            <a:ext cx="9689465" cy="809625"/>
            <a:chOff x="1320065" y="5120640"/>
            <a:chExt cx="9689465" cy="8096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0065" y="5120640"/>
              <a:ext cx="9596526" cy="7429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124443" y="5524500"/>
              <a:ext cx="2885440" cy="405765"/>
            </a:xfrm>
            <a:custGeom>
              <a:avLst/>
              <a:gdLst/>
              <a:ahLst/>
              <a:cxnLst/>
              <a:rect l="l" t="t" r="r" b="b"/>
              <a:pathLst>
                <a:path w="2885440" h="405764">
                  <a:moveTo>
                    <a:pt x="2884931" y="0"/>
                  </a:moveTo>
                  <a:lnTo>
                    <a:pt x="0" y="0"/>
                  </a:lnTo>
                  <a:lnTo>
                    <a:pt x="0" y="405384"/>
                  </a:lnTo>
                  <a:lnTo>
                    <a:pt x="2884931" y="405384"/>
                  </a:lnTo>
                  <a:lnTo>
                    <a:pt x="28849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9704" y="315468"/>
            <a:ext cx="10828655" cy="3493135"/>
            <a:chOff x="679704" y="315468"/>
            <a:chExt cx="10828655" cy="34931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4588" y="315468"/>
              <a:ext cx="10753452" cy="33853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79704" y="315480"/>
              <a:ext cx="8540750" cy="3493135"/>
            </a:xfrm>
            <a:custGeom>
              <a:avLst/>
              <a:gdLst/>
              <a:ahLst/>
              <a:cxnLst/>
              <a:rect l="l" t="t" r="r" b="b"/>
              <a:pathLst>
                <a:path w="8540750" h="3493135">
                  <a:moveTo>
                    <a:pt x="4427220" y="0"/>
                  </a:moveTo>
                  <a:lnTo>
                    <a:pt x="0" y="0"/>
                  </a:lnTo>
                  <a:lnTo>
                    <a:pt x="0" y="489191"/>
                  </a:lnTo>
                  <a:lnTo>
                    <a:pt x="4427220" y="489191"/>
                  </a:lnTo>
                  <a:lnTo>
                    <a:pt x="4427220" y="0"/>
                  </a:lnTo>
                  <a:close/>
                </a:path>
                <a:path w="8540750" h="3493135">
                  <a:moveTo>
                    <a:pt x="8540496" y="3005315"/>
                  </a:moveTo>
                  <a:lnTo>
                    <a:pt x="2909316" y="3005315"/>
                  </a:lnTo>
                  <a:lnTo>
                    <a:pt x="2909316" y="3492995"/>
                  </a:lnTo>
                  <a:lnTo>
                    <a:pt x="8540496" y="3492995"/>
                  </a:lnTo>
                  <a:lnTo>
                    <a:pt x="8540496" y="30053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94878" y="3906011"/>
            <a:ext cx="10337165" cy="2418715"/>
            <a:chOff x="794878" y="3906011"/>
            <a:chExt cx="10337165" cy="241871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4878" y="3906011"/>
              <a:ext cx="10336904" cy="241858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906524" y="5957316"/>
              <a:ext cx="8440420" cy="367665"/>
            </a:xfrm>
            <a:custGeom>
              <a:avLst/>
              <a:gdLst/>
              <a:ahLst/>
              <a:cxnLst/>
              <a:rect l="l" t="t" r="r" b="b"/>
              <a:pathLst>
                <a:path w="8440420" h="367664">
                  <a:moveTo>
                    <a:pt x="8439912" y="0"/>
                  </a:moveTo>
                  <a:lnTo>
                    <a:pt x="0" y="0"/>
                  </a:lnTo>
                  <a:lnTo>
                    <a:pt x="0" y="367284"/>
                  </a:lnTo>
                  <a:lnTo>
                    <a:pt x="8439912" y="367284"/>
                  </a:lnTo>
                  <a:lnTo>
                    <a:pt x="8439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587146" y="1174826"/>
            <a:ext cx="10925175" cy="471551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34950" marR="34925" indent="-222885">
              <a:lnSpc>
                <a:spcPct val="80000"/>
              </a:lnSpc>
              <a:spcBef>
                <a:spcPts val="770"/>
              </a:spcBef>
              <a:buClr>
                <a:srgbClr val="0000A2"/>
              </a:buClr>
              <a:buFont typeface="Wingdings"/>
              <a:buChar char=""/>
              <a:tabLst>
                <a:tab pos="234950" algn="l"/>
              </a:tabLst>
            </a:pPr>
            <a:r>
              <a:rPr sz="2800" dirty="0">
                <a:latin typeface="Calibri"/>
                <a:cs typeface="Calibri"/>
              </a:rPr>
              <a:t>For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given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grid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threads,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number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threads</a:t>
            </a:r>
            <a:r>
              <a:rPr sz="2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block</a:t>
            </a:r>
            <a:r>
              <a:rPr sz="2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available</a:t>
            </a:r>
            <a:r>
              <a:rPr sz="2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in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blockDim</a:t>
            </a:r>
            <a:r>
              <a:rPr sz="2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variable</a:t>
            </a:r>
            <a:r>
              <a:rPr sz="2800" dirty="0">
                <a:latin typeface="Calibri"/>
                <a:cs typeface="Calibri"/>
              </a:rPr>
              <a:t>.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3.10,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blockDim.x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variable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256.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general,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8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dimensions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8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thread</a:t>
            </a:r>
            <a:r>
              <a:rPr sz="2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blocks</a:t>
            </a:r>
            <a:r>
              <a:rPr sz="28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should</a:t>
            </a:r>
            <a:r>
              <a:rPr sz="2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be</a:t>
            </a:r>
            <a:r>
              <a:rPr sz="28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multiples</a:t>
            </a:r>
            <a:r>
              <a:rPr sz="2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of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32</a:t>
            </a:r>
            <a:r>
              <a:rPr sz="2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hardware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efficiency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reasons.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75"/>
              </a:spcBef>
              <a:buClr>
                <a:srgbClr val="0000A2"/>
              </a:buClr>
              <a:buFont typeface="Wingdings"/>
              <a:buChar char=""/>
            </a:pPr>
            <a:endParaRPr sz="2800">
              <a:latin typeface="Calibri"/>
              <a:cs typeface="Calibri"/>
            </a:endParaRPr>
          </a:p>
          <a:p>
            <a:pPr marL="233679" marR="46990" indent="-221615">
              <a:lnSpc>
                <a:spcPct val="80000"/>
              </a:lnSpc>
              <a:buClr>
                <a:srgbClr val="0000A2"/>
              </a:buClr>
              <a:buFont typeface="Wingdings"/>
              <a:buChar char=""/>
              <a:tabLst>
                <a:tab pos="234950" algn="l"/>
              </a:tabLst>
            </a:pP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Each</a:t>
            </a:r>
            <a:r>
              <a:rPr sz="28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thread</a:t>
            </a:r>
            <a:r>
              <a:rPr sz="2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8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block</a:t>
            </a:r>
            <a:r>
              <a:rPr sz="2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has</a:t>
            </a:r>
            <a:r>
              <a:rPr sz="2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8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unique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threadIdx</a:t>
            </a:r>
            <a:r>
              <a:rPr sz="2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value</a:t>
            </a:r>
            <a:r>
              <a:rPr sz="2800" dirty="0">
                <a:latin typeface="Calibri"/>
                <a:cs typeface="Calibri"/>
              </a:rPr>
              <a:t>.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example,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first 	</a:t>
            </a:r>
            <a:r>
              <a:rPr sz="2800" dirty="0">
                <a:latin typeface="Calibri"/>
                <a:cs typeface="Calibri"/>
              </a:rPr>
              <a:t>thread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block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threadId.x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variable,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second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thread 	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third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thread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etc.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65"/>
              </a:spcBef>
              <a:buClr>
                <a:srgbClr val="0000A2"/>
              </a:buClr>
              <a:buFont typeface="Wingdings"/>
              <a:buChar char=""/>
            </a:pPr>
            <a:endParaRPr sz="2800">
              <a:latin typeface="Calibri"/>
              <a:cs typeface="Calibri"/>
            </a:endParaRPr>
          </a:p>
          <a:p>
            <a:pPr marL="233679" marR="5080" indent="-221615">
              <a:lnSpc>
                <a:spcPct val="80000"/>
              </a:lnSpc>
              <a:buClr>
                <a:srgbClr val="0000A2"/>
              </a:buClr>
              <a:buFont typeface="Wingdings"/>
              <a:buChar char=""/>
              <a:tabLst>
                <a:tab pos="234950" algn="l"/>
                <a:tab pos="6240145" algn="l"/>
                <a:tab pos="8258175" algn="l"/>
              </a:tabLst>
            </a:pPr>
            <a:r>
              <a:rPr sz="2800" dirty="0">
                <a:latin typeface="Calibri"/>
                <a:cs typeface="Calibri"/>
              </a:rPr>
              <a:t>This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allows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thread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combine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threadIdx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blockIdx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	</a:t>
            </a:r>
            <a:r>
              <a:rPr sz="2800" dirty="0">
                <a:latin typeface="Calibri"/>
                <a:cs typeface="Calibri"/>
              </a:rPr>
              <a:t>create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unique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global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index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itself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entire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grid.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3.10,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index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calculated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2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blockIdx.x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	*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blockDim.x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	+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threadIdx.x.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2912" y="410082"/>
            <a:ext cx="53930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GPU</a:t>
            </a:r>
            <a:r>
              <a:rPr spc="-220" dirty="0"/>
              <a:t> </a:t>
            </a:r>
            <a:r>
              <a:rPr spc="-30" dirty="0"/>
              <a:t>Threads:</a:t>
            </a:r>
            <a:r>
              <a:rPr spc="-190" dirty="0"/>
              <a:t> </a:t>
            </a:r>
            <a:r>
              <a:rPr dirty="0"/>
              <a:t>Grid</a:t>
            </a:r>
            <a:r>
              <a:rPr spc="-200" dirty="0"/>
              <a:t> </a:t>
            </a:r>
            <a:r>
              <a:rPr spc="-10" dirty="0"/>
              <a:t>Block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587146" y="1171878"/>
            <a:ext cx="11029315" cy="47371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34950" indent="-222250">
              <a:lnSpc>
                <a:spcPct val="100000"/>
              </a:lnSpc>
              <a:spcBef>
                <a:spcPts val="385"/>
              </a:spcBef>
              <a:buClr>
                <a:srgbClr val="0000A2"/>
              </a:buClr>
              <a:buFont typeface="Wingdings"/>
              <a:buChar char=""/>
              <a:tabLst>
                <a:tab pos="234950" algn="l"/>
              </a:tabLst>
            </a:pPr>
            <a:r>
              <a:rPr sz="2800" dirty="0">
                <a:latin typeface="Calibri"/>
                <a:cs typeface="Calibri"/>
              </a:rPr>
              <a:t>Since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blockDim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256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example,</a:t>
            </a:r>
            <a:endParaRPr sz="2800">
              <a:latin typeface="Calibri"/>
              <a:cs typeface="Calibri"/>
            </a:endParaRPr>
          </a:p>
          <a:p>
            <a:pPr marL="576580" lvl="1" indent="-230504">
              <a:lnSpc>
                <a:spcPct val="100000"/>
              </a:lnSpc>
              <a:spcBef>
                <a:spcPts val="245"/>
              </a:spcBef>
              <a:buClr>
                <a:srgbClr val="0000A8"/>
              </a:buClr>
              <a:buFont typeface="Arial MT"/>
              <a:buChar char="•"/>
              <a:tabLst>
                <a:tab pos="57658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threads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ranges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255.</a:t>
            </a:r>
            <a:endParaRPr sz="2400">
              <a:latin typeface="Calibri"/>
              <a:cs typeface="Calibri"/>
            </a:endParaRPr>
          </a:p>
          <a:p>
            <a:pPr marL="576580" lvl="1" indent="-230504">
              <a:lnSpc>
                <a:spcPct val="100000"/>
              </a:lnSpc>
              <a:spcBef>
                <a:spcPts val="215"/>
              </a:spcBef>
              <a:buClr>
                <a:srgbClr val="0000A8"/>
              </a:buClr>
              <a:buFont typeface="Arial MT"/>
              <a:buChar char="•"/>
              <a:tabLst>
                <a:tab pos="57658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threads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range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256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511.</a:t>
            </a:r>
            <a:endParaRPr sz="2400">
              <a:latin typeface="Calibri"/>
              <a:cs typeface="Calibri"/>
            </a:endParaRPr>
          </a:p>
          <a:p>
            <a:pPr marL="576580" lvl="1" indent="-230504">
              <a:lnSpc>
                <a:spcPct val="100000"/>
              </a:lnSpc>
              <a:spcBef>
                <a:spcPts val="204"/>
              </a:spcBef>
              <a:buClr>
                <a:srgbClr val="0000A8"/>
              </a:buClr>
              <a:buFont typeface="Arial MT"/>
              <a:buChar char="•"/>
              <a:tabLst>
                <a:tab pos="57658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threads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range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512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767.</a:t>
            </a:r>
            <a:endParaRPr sz="2400">
              <a:latin typeface="Calibri"/>
              <a:cs typeface="Calibri"/>
            </a:endParaRPr>
          </a:p>
          <a:p>
            <a:pPr marL="233679" marR="117475" indent="-221615">
              <a:lnSpc>
                <a:spcPts val="3020"/>
              </a:lnSpc>
              <a:spcBef>
                <a:spcPts val="1030"/>
              </a:spcBef>
              <a:buClr>
                <a:srgbClr val="0000A2"/>
              </a:buClr>
              <a:buFont typeface="Wingdings"/>
              <a:buChar char=""/>
              <a:tabLst>
                <a:tab pos="234950" algn="l"/>
              </a:tabLst>
            </a:pPr>
            <a:r>
              <a:rPr sz="2800" dirty="0">
                <a:latin typeface="Calibri"/>
                <a:cs typeface="Calibri"/>
              </a:rPr>
              <a:t>That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2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values</a:t>
            </a:r>
            <a:r>
              <a:rPr sz="2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threads</a:t>
            </a:r>
            <a:r>
              <a:rPr sz="2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these</a:t>
            </a:r>
            <a:r>
              <a:rPr sz="2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three</a:t>
            </a:r>
            <a:r>
              <a:rPr sz="2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blocks</a:t>
            </a:r>
            <a:r>
              <a:rPr sz="2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form</a:t>
            </a:r>
            <a:r>
              <a:rPr sz="2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continuous 	coverage</a:t>
            </a:r>
            <a:r>
              <a:rPr sz="2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8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values</a:t>
            </a:r>
            <a:r>
              <a:rPr sz="2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from</a:t>
            </a:r>
            <a:r>
              <a:rPr sz="2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2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767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33679" marR="5080" indent="-221615">
              <a:lnSpc>
                <a:spcPts val="3020"/>
              </a:lnSpc>
              <a:spcBef>
                <a:spcPts val="1005"/>
              </a:spcBef>
              <a:buClr>
                <a:srgbClr val="0000A2"/>
              </a:buClr>
              <a:buFont typeface="Wingdings"/>
              <a:buChar char=""/>
              <a:tabLst>
                <a:tab pos="234950" algn="l"/>
              </a:tabLst>
            </a:pP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Since</a:t>
            </a:r>
            <a:r>
              <a:rPr sz="28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each</a:t>
            </a:r>
            <a:r>
              <a:rPr sz="28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thread</a:t>
            </a:r>
            <a:r>
              <a:rPr sz="28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uses</a:t>
            </a:r>
            <a:r>
              <a:rPr sz="28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i</a:t>
            </a:r>
            <a:r>
              <a:rPr sz="28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to</a:t>
            </a:r>
            <a:r>
              <a:rPr sz="28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access</a:t>
            </a:r>
            <a:r>
              <a:rPr sz="28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d_A,</a:t>
            </a:r>
            <a:r>
              <a:rPr sz="28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d_B,</a:t>
            </a:r>
            <a:r>
              <a:rPr sz="2800"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8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d_C,</a:t>
            </a:r>
            <a:r>
              <a:rPr sz="28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these</a:t>
            </a:r>
            <a:r>
              <a:rPr sz="28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threads</a:t>
            </a:r>
            <a:r>
              <a:rPr sz="28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cover 	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the</a:t>
            </a:r>
            <a:r>
              <a:rPr sz="2800" b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first</a:t>
            </a:r>
            <a:r>
              <a:rPr sz="28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768</a:t>
            </a:r>
            <a:r>
              <a:rPr sz="28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iterations</a:t>
            </a:r>
            <a:r>
              <a:rPr sz="28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of</a:t>
            </a:r>
            <a:r>
              <a:rPr sz="2800" b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the</a:t>
            </a:r>
            <a:r>
              <a:rPr sz="28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original</a:t>
            </a:r>
            <a:r>
              <a:rPr sz="2800"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loop.</a:t>
            </a:r>
            <a:endParaRPr sz="2800">
              <a:latin typeface="Calibri"/>
              <a:cs typeface="Calibri"/>
            </a:endParaRPr>
          </a:p>
          <a:p>
            <a:pPr marL="233679" marR="455295" indent="-221615">
              <a:lnSpc>
                <a:spcPts val="3020"/>
              </a:lnSpc>
              <a:spcBef>
                <a:spcPts val="1005"/>
              </a:spcBef>
              <a:buClr>
                <a:srgbClr val="0000A2"/>
              </a:buClr>
              <a:buFont typeface="Wingdings"/>
              <a:buChar char=""/>
              <a:tabLst>
                <a:tab pos="234950" algn="l"/>
              </a:tabLst>
            </a:pPr>
            <a:r>
              <a:rPr sz="2800" dirty="0">
                <a:latin typeface="Calibri"/>
                <a:cs typeface="Calibri"/>
              </a:rPr>
              <a:t>By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launching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kernel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larger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blocks,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 	</a:t>
            </a:r>
            <a:r>
              <a:rPr sz="2800" dirty="0">
                <a:latin typeface="Calibri"/>
                <a:cs typeface="Calibri"/>
              </a:rPr>
              <a:t>larger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vectors.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launching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kernel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threads,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can 	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vectors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length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2912" y="410082"/>
            <a:ext cx="53930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GPU</a:t>
            </a:r>
            <a:r>
              <a:rPr spc="-220" dirty="0"/>
              <a:t> </a:t>
            </a:r>
            <a:r>
              <a:rPr spc="-30" dirty="0"/>
              <a:t>Threads:</a:t>
            </a:r>
            <a:r>
              <a:rPr spc="-190" dirty="0"/>
              <a:t> </a:t>
            </a:r>
            <a:r>
              <a:rPr dirty="0"/>
              <a:t>Grid</a:t>
            </a:r>
            <a:r>
              <a:rPr spc="-200" dirty="0"/>
              <a:t> </a:t>
            </a:r>
            <a:r>
              <a:rPr spc="-10" dirty="0"/>
              <a:t>Block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6570" y="3120085"/>
            <a:ext cx="61214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CUDA</a:t>
            </a:r>
            <a:r>
              <a:rPr spc="-190" dirty="0"/>
              <a:t> </a:t>
            </a:r>
            <a:r>
              <a:rPr spc="-75" dirty="0"/>
              <a:t>Vector</a:t>
            </a:r>
            <a:r>
              <a:rPr spc="-165" dirty="0"/>
              <a:t> </a:t>
            </a:r>
            <a:r>
              <a:rPr spc="-30" dirty="0"/>
              <a:t>Addition</a:t>
            </a:r>
            <a:r>
              <a:rPr spc="-185" dirty="0"/>
              <a:t> </a:t>
            </a:r>
            <a:r>
              <a:rPr spc="-20" dirty="0"/>
              <a:t>Code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212" y="666058"/>
            <a:ext cx="10671838" cy="553333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44</a:t>
            </a:fld>
            <a:endParaRPr spc="-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9216" y="491085"/>
            <a:ext cx="11841480" cy="5808980"/>
            <a:chOff x="329216" y="491085"/>
            <a:chExt cx="11841480" cy="5808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216" y="491085"/>
              <a:ext cx="10425849" cy="580895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31408" y="3840480"/>
              <a:ext cx="6239255" cy="19050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45</a:t>
            </a:fld>
            <a:endParaRPr spc="-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9507" y="891794"/>
            <a:ext cx="8889350" cy="550276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46</a:t>
            </a:fld>
            <a:endParaRPr spc="-2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2519" y="1882440"/>
            <a:ext cx="9579216" cy="37379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47</a:t>
            </a:fld>
            <a:endParaRPr spc="-2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154" y="1516130"/>
            <a:ext cx="10647602" cy="403316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48</a:t>
            </a:fld>
            <a:endParaRPr spc="-2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49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848360" y="1416557"/>
            <a:ext cx="10124440" cy="73977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34950" marR="5080" indent="-222885">
              <a:lnSpc>
                <a:spcPts val="2500"/>
              </a:lnSpc>
              <a:spcBef>
                <a:spcPts val="705"/>
              </a:spcBef>
              <a:buClr>
                <a:srgbClr val="0000A2"/>
              </a:buClr>
              <a:buFont typeface="Wingdings"/>
              <a:buChar char=""/>
              <a:tabLst>
                <a:tab pos="234950" algn="l"/>
              </a:tabLst>
            </a:pPr>
            <a:r>
              <a:rPr sz="2600" dirty="0">
                <a:latin typeface="Calibri"/>
                <a:cs typeface="Calibri"/>
              </a:rPr>
              <a:t>It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important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point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vector</a:t>
            </a:r>
            <a:r>
              <a:rPr sz="2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addition</a:t>
            </a:r>
            <a:r>
              <a:rPr sz="26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example</a:t>
            </a:r>
            <a:r>
              <a:rPr sz="26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its </a:t>
            </a:r>
            <a:r>
              <a:rPr sz="2600" spc="-10" dirty="0">
                <a:latin typeface="Calibri"/>
                <a:cs typeface="Calibri"/>
              </a:rPr>
              <a:t>simplicity.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4950" indent="-222250">
              <a:lnSpc>
                <a:spcPts val="3110"/>
              </a:lnSpc>
              <a:spcBef>
                <a:spcPts val="105"/>
              </a:spcBef>
              <a:buClr>
                <a:srgbClr val="0000A2"/>
              </a:buClr>
              <a:buFont typeface="Wingdings"/>
              <a:buChar char=""/>
              <a:tabLst>
                <a:tab pos="234950" algn="l"/>
              </a:tabLst>
            </a:pPr>
            <a:r>
              <a:rPr dirty="0"/>
              <a:t>In</a:t>
            </a:r>
            <a:r>
              <a:rPr spc="-50" dirty="0"/>
              <a:t> </a:t>
            </a:r>
            <a:r>
              <a:rPr dirty="0"/>
              <a:t>practice,</a:t>
            </a:r>
            <a:r>
              <a:rPr spc="-7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overhead</a:t>
            </a:r>
            <a:r>
              <a:rPr spc="-50" dirty="0"/>
              <a:t> </a:t>
            </a:r>
            <a:r>
              <a:rPr spc="-25" dirty="0"/>
              <a:t>of:</a:t>
            </a:r>
          </a:p>
          <a:p>
            <a:pPr marL="577850" lvl="1" indent="-231140">
              <a:lnSpc>
                <a:spcPts val="2620"/>
              </a:lnSpc>
              <a:buClr>
                <a:srgbClr val="0000A8"/>
              </a:buClr>
              <a:buFont typeface="Arial MT"/>
              <a:buChar char="•"/>
              <a:tabLst>
                <a:tab pos="577850" algn="l"/>
              </a:tabLst>
            </a:pPr>
            <a:r>
              <a:rPr sz="2200" dirty="0">
                <a:latin typeface="Calibri"/>
                <a:cs typeface="Calibri"/>
              </a:rPr>
              <a:t>allocating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device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memory,</a:t>
            </a:r>
            <a:endParaRPr sz="2200">
              <a:latin typeface="Calibri"/>
              <a:cs typeface="Calibri"/>
            </a:endParaRPr>
          </a:p>
          <a:p>
            <a:pPr marL="577850" lvl="1" indent="-231140">
              <a:lnSpc>
                <a:spcPts val="2615"/>
              </a:lnSpc>
              <a:buClr>
                <a:srgbClr val="0000A8"/>
              </a:buClr>
              <a:buFont typeface="Arial MT"/>
              <a:buChar char="•"/>
              <a:tabLst>
                <a:tab pos="577850" algn="l"/>
              </a:tabLst>
            </a:pPr>
            <a:r>
              <a:rPr sz="2200" dirty="0">
                <a:latin typeface="Calibri"/>
                <a:cs typeface="Calibri"/>
              </a:rPr>
              <a:t>Input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transfer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host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device,</a:t>
            </a:r>
            <a:endParaRPr sz="2200">
              <a:latin typeface="Calibri"/>
              <a:cs typeface="Calibri"/>
            </a:endParaRPr>
          </a:p>
          <a:p>
            <a:pPr marL="577850" lvl="1" indent="-231140">
              <a:lnSpc>
                <a:spcPts val="2610"/>
              </a:lnSpc>
              <a:buClr>
                <a:srgbClr val="0000A8"/>
              </a:buClr>
              <a:buFont typeface="Arial MT"/>
              <a:buChar char="•"/>
              <a:tabLst>
                <a:tab pos="577850" algn="l"/>
              </a:tabLst>
            </a:pPr>
            <a:r>
              <a:rPr sz="2200" dirty="0">
                <a:latin typeface="Calibri"/>
                <a:cs typeface="Calibri"/>
              </a:rPr>
              <a:t>output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transfer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device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host,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and</a:t>
            </a:r>
            <a:endParaRPr sz="2200">
              <a:latin typeface="Calibri"/>
              <a:cs typeface="Calibri"/>
            </a:endParaRPr>
          </a:p>
          <a:p>
            <a:pPr marL="577850" lvl="1" indent="-231140">
              <a:lnSpc>
                <a:spcPts val="2625"/>
              </a:lnSpc>
              <a:buClr>
                <a:srgbClr val="0000A8"/>
              </a:buClr>
              <a:buFont typeface="Arial MT"/>
              <a:buChar char="•"/>
              <a:tabLst>
                <a:tab pos="577850" algn="l"/>
              </a:tabLst>
            </a:pPr>
            <a:r>
              <a:rPr sz="2200" spc="-20" dirty="0">
                <a:latin typeface="Calibri"/>
                <a:cs typeface="Calibri"/>
              </a:rPr>
              <a:t>de-</a:t>
            </a:r>
            <a:r>
              <a:rPr sz="2200" dirty="0">
                <a:latin typeface="Calibri"/>
                <a:cs typeface="Calibri"/>
              </a:rPr>
              <a:t>allocating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device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memory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8360" y="4393438"/>
            <a:ext cx="10504805" cy="1943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22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will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likely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make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resulting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code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slower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sequential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code.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95"/>
              </a:spcBef>
            </a:pPr>
            <a:endParaRPr sz="2600">
              <a:latin typeface="Calibri"/>
              <a:cs typeface="Calibri"/>
            </a:endParaRPr>
          </a:p>
          <a:p>
            <a:pPr marL="234950" marR="5080" indent="-222885">
              <a:lnSpc>
                <a:spcPts val="2500"/>
              </a:lnSpc>
              <a:buClr>
                <a:srgbClr val="0000A2"/>
              </a:buClr>
              <a:buFont typeface="Wingdings"/>
              <a:buChar char=""/>
              <a:tabLst>
                <a:tab pos="234950" algn="l"/>
              </a:tabLst>
            </a:pPr>
            <a:r>
              <a:rPr sz="2600" dirty="0">
                <a:latin typeface="Calibri"/>
                <a:cs typeface="Calibri"/>
              </a:rPr>
              <a:t>Why?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…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because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kernel</a:t>
            </a:r>
            <a:r>
              <a:rPr sz="26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doing</a:t>
            </a:r>
            <a:r>
              <a:rPr sz="26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small</a:t>
            </a:r>
            <a:r>
              <a:rPr sz="2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computation</a:t>
            </a:r>
            <a:r>
              <a:rPr sz="2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relative</a:t>
            </a:r>
            <a:r>
              <a:rPr sz="26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6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amount</a:t>
            </a:r>
            <a:r>
              <a:rPr sz="2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FF0000"/>
                </a:solidFill>
                <a:latin typeface="Calibri"/>
                <a:cs typeface="Calibri"/>
              </a:rPr>
              <a:t>of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2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processed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1F5F"/>
                </a:solidFill>
                <a:latin typeface="Calibri"/>
                <a:cs typeface="Calibri"/>
              </a:rPr>
              <a:t>Only</a:t>
            </a:r>
            <a:r>
              <a:rPr sz="2600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1F5F"/>
                </a:solidFill>
                <a:latin typeface="Calibri"/>
                <a:cs typeface="Calibri"/>
              </a:rPr>
              <a:t>one</a:t>
            </a:r>
            <a:r>
              <a:rPr sz="2600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1F5F"/>
                </a:solidFill>
                <a:latin typeface="Calibri"/>
                <a:cs typeface="Calibri"/>
              </a:rPr>
              <a:t>addition</a:t>
            </a:r>
            <a:r>
              <a:rPr sz="2600" spc="-6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26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1F5F"/>
                </a:solidFill>
                <a:latin typeface="Calibri"/>
                <a:cs typeface="Calibri"/>
              </a:rPr>
              <a:t>performed</a:t>
            </a:r>
            <a:r>
              <a:rPr sz="2600" spc="-7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26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1F5F"/>
                </a:solidFill>
                <a:latin typeface="Calibri"/>
                <a:cs typeface="Calibri"/>
              </a:rPr>
              <a:t>two</a:t>
            </a:r>
            <a:r>
              <a:rPr sz="2600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01F5F"/>
                </a:solidFill>
                <a:latin typeface="Calibri"/>
                <a:cs typeface="Calibri"/>
              </a:rPr>
              <a:t>floating-</a:t>
            </a:r>
            <a:r>
              <a:rPr sz="2600" dirty="0">
                <a:solidFill>
                  <a:srgbClr val="001F5F"/>
                </a:solidFill>
                <a:latin typeface="Calibri"/>
                <a:cs typeface="Calibri"/>
              </a:rPr>
              <a:t>point</a:t>
            </a:r>
            <a:r>
              <a:rPr sz="26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01F5F"/>
                </a:solidFill>
                <a:latin typeface="Calibri"/>
                <a:cs typeface="Calibri"/>
              </a:rPr>
              <a:t>input </a:t>
            </a:r>
            <a:r>
              <a:rPr sz="2600" dirty="0">
                <a:solidFill>
                  <a:srgbClr val="001F5F"/>
                </a:solidFill>
                <a:latin typeface="Calibri"/>
                <a:cs typeface="Calibri"/>
              </a:rPr>
              <a:t>operands</a:t>
            </a:r>
            <a:r>
              <a:rPr sz="26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26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1F5F"/>
                </a:solidFill>
                <a:latin typeface="Calibri"/>
                <a:cs typeface="Calibri"/>
              </a:rPr>
              <a:t>one</a:t>
            </a:r>
            <a:r>
              <a:rPr sz="26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001F5F"/>
                </a:solidFill>
                <a:latin typeface="Calibri"/>
                <a:cs typeface="Calibri"/>
              </a:rPr>
              <a:t>floating-</a:t>
            </a:r>
            <a:r>
              <a:rPr sz="2600" dirty="0">
                <a:solidFill>
                  <a:srgbClr val="001F5F"/>
                </a:solidFill>
                <a:latin typeface="Calibri"/>
                <a:cs typeface="Calibri"/>
              </a:rPr>
              <a:t>point</a:t>
            </a:r>
            <a:r>
              <a:rPr sz="26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1F5F"/>
                </a:solidFill>
                <a:latin typeface="Calibri"/>
                <a:cs typeface="Calibri"/>
              </a:rPr>
              <a:t>output</a:t>
            </a:r>
            <a:r>
              <a:rPr sz="26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01F5F"/>
                </a:solidFill>
                <a:latin typeface="Calibri"/>
                <a:cs typeface="Calibri"/>
              </a:rPr>
              <a:t>operand.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19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Tasks</a:t>
            </a:r>
            <a:r>
              <a:rPr spc="-150" dirty="0"/>
              <a:t> </a:t>
            </a:r>
            <a:r>
              <a:rPr spc="-30" dirty="0"/>
              <a:t>suitable</a:t>
            </a:r>
            <a:r>
              <a:rPr spc="-204" dirty="0"/>
              <a:t> </a:t>
            </a:r>
            <a:r>
              <a:rPr spc="-10" dirty="0"/>
              <a:t>for</a:t>
            </a:r>
            <a:r>
              <a:rPr spc="-170" dirty="0"/>
              <a:t> </a:t>
            </a:r>
            <a:r>
              <a:rPr dirty="0"/>
              <a:t>GPUs</a:t>
            </a:r>
            <a:r>
              <a:rPr spc="-160" dirty="0"/>
              <a:t> </a:t>
            </a:r>
            <a:r>
              <a:rPr dirty="0"/>
              <a:t>–</a:t>
            </a:r>
            <a:r>
              <a:rPr spc="-160" dirty="0"/>
              <a:t> </a:t>
            </a:r>
            <a:r>
              <a:rPr spc="-40" dirty="0"/>
              <a:t>Throughput</a:t>
            </a:r>
            <a:r>
              <a:rPr spc="-170" dirty="0"/>
              <a:t> </a:t>
            </a:r>
            <a:r>
              <a:rPr dirty="0"/>
              <a:t>vs</a:t>
            </a:r>
            <a:r>
              <a:rPr spc="-155" dirty="0"/>
              <a:t> </a:t>
            </a:r>
            <a:r>
              <a:rPr spc="-10" dirty="0"/>
              <a:t>Latency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20256" y="2089404"/>
            <a:ext cx="5198745" cy="2032000"/>
          </a:xfrm>
          <a:prstGeom prst="rect">
            <a:avLst/>
          </a:prstGeom>
          <a:solidFill>
            <a:srgbClr val="B4C6E7"/>
          </a:solidFill>
        </p:spPr>
        <p:txBody>
          <a:bodyPr vert="horz" wrap="square" lIns="0" tIns="31750" rIns="0" bIns="0" rtlCol="0">
            <a:spAutoFit/>
          </a:bodyPr>
          <a:lstStyle/>
          <a:p>
            <a:pPr marL="378460" marR="358775" indent="-287020" algn="just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378460" algn="l"/>
              </a:tabLst>
            </a:pPr>
            <a:r>
              <a:rPr sz="1800" dirty="0">
                <a:latin typeface="Calibri"/>
                <a:cs typeface="Calibri"/>
              </a:rPr>
              <a:t>Kernels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applications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much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work </a:t>
            </a:r>
            <a:r>
              <a:rPr sz="1800" dirty="0">
                <a:latin typeface="Calibri"/>
                <a:cs typeface="Calibri"/>
              </a:rPr>
              <a:t>relative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amount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processed,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which </a:t>
            </a:r>
            <a:r>
              <a:rPr sz="1800" dirty="0">
                <a:latin typeface="Calibri"/>
                <a:cs typeface="Calibri"/>
              </a:rPr>
              <a:t>makes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additional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overhead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worthwhile.</a:t>
            </a:r>
            <a:endParaRPr sz="1800">
              <a:latin typeface="Calibri"/>
              <a:cs typeface="Calibri"/>
            </a:endParaRPr>
          </a:p>
          <a:p>
            <a:pPr marL="378460" marR="134620" indent="-28702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378460" algn="l"/>
              </a:tabLst>
            </a:pPr>
            <a:r>
              <a:rPr sz="1800" dirty="0">
                <a:latin typeface="Calibri"/>
                <a:cs typeface="Calibri"/>
              </a:rPr>
              <a:t>They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tend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keep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device </a:t>
            </a:r>
            <a:r>
              <a:rPr sz="1800" dirty="0">
                <a:latin typeface="Calibri"/>
                <a:cs typeface="Calibri"/>
              </a:rPr>
              <a:t>memory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across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multiple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kernel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invocations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that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overhead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amortized.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8007" y="1207051"/>
            <a:ext cx="8948420" cy="2219960"/>
            <a:chOff x="1578007" y="1207051"/>
            <a:chExt cx="8948420" cy="22199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8007" y="1207051"/>
              <a:ext cx="8947877" cy="215730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175760" y="2967355"/>
              <a:ext cx="956944" cy="459740"/>
            </a:xfrm>
            <a:custGeom>
              <a:avLst/>
              <a:gdLst/>
              <a:ahLst/>
              <a:cxnLst/>
              <a:rect l="l" t="t" r="r" b="b"/>
              <a:pathLst>
                <a:path w="956945" h="459739">
                  <a:moveTo>
                    <a:pt x="163702" y="250062"/>
                  </a:moveTo>
                  <a:lnTo>
                    <a:pt x="0" y="446278"/>
                  </a:lnTo>
                  <a:lnTo>
                    <a:pt x="255269" y="459486"/>
                  </a:lnTo>
                  <a:lnTo>
                    <a:pt x="231448" y="405003"/>
                  </a:lnTo>
                  <a:lnTo>
                    <a:pt x="189864" y="405003"/>
                  </a:lnTo>
                  <a:lnTo>
                    <a:pt x="159257" y="335153"/>
                  </a:lnTo>
                  <a:lnTo>
                    <a:pt x="194227" y="319876"/>
                  </a:lnTo>
                  <a:lnTo>
                    <a:pt x="163702" y="250062"/>
                  </a:lnTo>
                  <a:close/>
                </a:path>
                <a:path w="956945" h="459739">
                  <a:moveTo>
                    <a:pt x="194227" y="319876"/>
                  </a:moveTo>
                  <a:lnTo>
                    <a:pt x="159257" y="335153"/>
                  </a:lnTo>
                  <a:lnTo>
                    <a:pt x="189864" y="405003"/>
                  </a:lnTo>
                  <a:lnTo>
                    <a:pt x="224778" y="389748"/>
                  </a:lnTo>
                  <a:lnTo>
                    <a:pt x="194227" y="319876"/>
                  </a:lnTo>
                  <a:close/>
                </a:path>
                <a:path w="956945" h="459739">
                  <a:moveTo>
                    <a:pt x="224778" y="389748"/>
                  </a:moveTo>
                  <a:lnTo>
                    <a:pt x="189864" y="405003"/>
                  </a:lnTo>
                  <a:lnTo>
                    <a:pt x="231448" y="405003"/>
                  </a:lnTo>
                  <a:lnTo>
                    <a:pt x="224778" y="389748"/>
                  </a:lnTo>
                  <a:close/>
                </a:path>
                <a:path w="956945" h="459739">
                  <a:moveTo>
                    <a:pt x="926464" y="0"/>
                  </a:moveTo>
                  <a:lnTo>
                    <a:pt x="194227" y="319876"/>
                  </a:lnTo>
                  <a:lnTo>
                    <a:pt x="224778" y="389748"/>
                  </a:lnTo>
                  <a:lnTo>
                    <a:pt x="956944" y="69850"/>
                  </a:lnTo>
                  <a:lnTo>
                    <a:pt x="92646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12291" y="3813047"/>
            <a:ext cx="10768965" cy="2677795"/>
          </a:xfrm>
          <a:custGeom>
            <a:avLst/>
            <a:gdLst/>
            <a:ahLst/>
            <a:cxnLst/>
            <a:rect l="l" t="t" r="r" b="b"/>
            <a:pathLst>
              <a:path w="10768965" h="2677795">
                <a:moveTo>
                  <a:pt x="10768584" y="0"/>
                </a:moveTo>
                <a:lnTo>
                  <a:pt x="0" y="0"/>
                </a:lnTo>
                <a:lnTo>
                  <a:pt x="0" y="2677667"/>
                </a:lnTo>
                <a:lnTo>
                  <a:pt x="10768584" y="2677667"/>
                </a:lnTo>
                <a:lnTo>
                  <a:pt x="10768584" y="0"/>
                </a:lnTo>
                <a:close/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91336" y="3826891"/>
            <a:ext cx="1059688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-105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ensure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enough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threads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cover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vector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elements,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apply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ceiling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n/256.0.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floating-</a:t>
            </a:r>
            <a:r>
              <a:rPr sz="2400" dirty="0">
                <a:latin typeface="Calibri"/>
                <a:cs typeface="Calibri"/>
              </a:rPr>
              <a:t>point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256.0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ensures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we </a:t>
            </a:r>
            <a:r>
              <a:rPr sz="2400" spc="-10" dirty="0">
                <a:latin typeface="Calibri"/>
                <a:cs typeface="Calibri"/>
              </a:rPr>
              <a:t>generate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floating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division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ceiling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round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up </a:t>
            </a:r>
            <a:r>
              <a:rPr sz="2400" spc="-10" dirty="0">
                <a:latin typeface="Calibri"/>
                <a:cs typeface="Calibri"/>
              </a:rPr>
              <a:t>correctly.</a:t>
            </a:r>
            <a:endParaRPr sz="2400">
              <a:latin typeface="Calibri"/>
              <a:cs typeface="Calibri"/>
            </a:endParaRPr>
          </a:p>
          <a:p>
            <a:pPr marL="299085" marR="741045" indent="-287020">
              <a:lnSpc>
                <a:spcPct val="100000"/>
              </a:lnSpc>
              <a:spcBef>
                <a:spcPts val="288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1,000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threads,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would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ceil(1,000/256.0)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4 </a:t>
            </a:r>
            <a:r>
              <a:rPr sz="2400" dirty="0">
                <a:latin typeface="Calibri"/>
                <a:cs typeface="Calibri"/>
              </a:rPr>
              <a:t>thread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blocks.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statement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256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1,024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threads.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1595" y="3253740"/>
            <a:ext cx="2074545" cy="368935"/>
          </a:xfrm>
          <a:prstGeom prst="rect">
            <a:avLst/>
          </a:prstGeom>
          <a:solidFill>
            <a:srgbClr val="F8CAAC"/>
          </a:solidFill>
        </p:spPr>
        <p:txBody>
          <a:bodyPr vert="horz" wrap="square" lIns="0" tIns="31114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4"/>
              </a:spcBef>
            </a:pPr>
            <a:r>
              <a:rPr sz="1800" dirty="0">
                <a:latin typeface="Calibri"/>
                <a:cs typeface="Calibri"/>
              </a:rPr>
              <a:t>No.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thread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blocks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04304" y="2986023"/>
            <a:ext cx="992505" cy="402590"/>
          </a:xfrm>
          <a:custGeom>
            <a:avLst/>
            <a:gdLst/>
            <a:ahLst/>
            <a:cxnLst/>
            <a:rect l="l" t="t" r="r" b="b"/>
            <a:pathLst>
              <a:path w="992504" h="402589">
                <a:moveTo>
                  <a:pt x="763677" y="330333"/>
                </a:moveTo>
                <a:lnTo>
                  <a:pt x="739267" y="402589"/>
                </a:lnTo>
                <a:lnTo>
                  <a:pt x="992377" y="367538"/>
                </a:lnTo>
                <a:lnTo>
                  <a:pt x="967569" y="342518"/>
                </a:lnTo>
                <a:lnTo>
                  <a:pt x="799719" y="342518"/>
                </a:lnTo>
                <a:lnTo>
                  <a:pt x="763677" y="330333"/>
                </a:lnTo>
                <a:close/>
              </a:path>
              <a:path w="992504" h="402589">
                <a:moveTo>
                  <a:pt x="788048" y="258193"/>
                </a:moveTo>
                <a:lnTo>
                  <a:pt x="763677" y="330333"/>
                </a:lnTo>
                <a:lnTo>
                  <a:pt x="799719" y="342518"/>
                </a:lnTo>
                <a:lnTo>
                  <a:pt x="824102" y="270383"/>
                </a:lnTo>
                <a:lnTo>
                  <a:pt x="788048" y="258193"/>
                </a:lnTo>
                <a:close/>
              </a:path>
              <a:path w="992504" h="402589">
                <a:moveTo>
                  <a:pt x="812419" y="186054"/>
                </a:moveTo>
                <a:lnTo>
                  <a:pt x="788048" y="258193"/>
                </a:lnTo>
                <a:lnTo>
                  <a:pt x="824102" y="270383"/>
                </a:lnTo>
                <a:lnTo>
                  <a:pt x="799719" y="342518"/>
                </a:lnTo>
                <a:lnTo>
                  <a:pt x="967569" y="342518"/>
                </a:lnTo>
                <a:lnTo>
                  <a:pt x="812419" y="186054"/>
                </a:lnTo>
                <a:close/>
              </a:path>
              <a:path w="992504" h="402589">
                <a:moveTo>
                  <a:pt x="24384" y="0"/>
                </a:moveTo>
                <a:lnTo>
                  <a:pt x="0" y="72136"/>
                </a:lnTo>
                <a:lnTo>
                  <a:pt x="763677" y="330333"/>
                </a:lnTo>
                <a:lnTo>
                  <a:pt x="788048" y="258193"/>
                </a:lnTo>
                <a:lnTo>
                  <a:pt x="243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997952" y="3299459"/>
            <a:ext cx="2444750" cy="370840"/>
          </a:xfrm>
          <a:prstGeom prst="rect">
            <a:avLst/>
          </a:prstGeom>
          <a:solidFill>
            <a:srgbClr val="F8CAAC"/>
          </a:solidFill>
        </p:spPr>
        <p:txBody>
          <a:bodyPr vert="horz" wrap="square" lIns="0" tIns="317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/>
                <a:cs typeface="Calibri"/>
              </a:rPr>
              <a:t>No.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thread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blocks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0027" y="394715"/>
            <a:ext cx="7100316" cy="559308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50</a:t>
            </a:fld>
            <a:endParaRPr spc="-2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1616963"/>
            <a:ext cx="11109960" cy="4493260"/>
          </a:xfrm>
          <a:custGeom>
            <a:avLst/>
            <a:gdLst/>
            <a:ahLst/>
            <a:cxnLst/>
            <a:rect l="l" t="t" r="r" b="b"/>
            <a:pathLst>
              <a:path w="11109960" h="4493260">
                <a:moveTo>
                  <a:pt x="11109960" y="0"/>
                </a:moveTo>
                <a:lnTo>
                  <a:pt x="0" y="0"/>
                </a:lnTo>
                <a:lnTo>
                  <a:pt x="0" y="4492752"/>
                </a:lnTo>
                <a:lnTo>
                  <a:pt x="11109960" y="4492752"/>
                </a:lnTo>
                <a:lnTo>
                  <a:pt x="11109960" y="0"/>
                </a:lnTo>
                <a:close/>
              </a:path>
            </a:pathLst>
          </a:custGeom>
          <a:solidFill>
            <a:srgbClr val="F8C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52068" y="1628648"/>
            <a:ext cx="10866120" cy="4385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260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=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750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-</a:t>
            </a:r>
            <a:r>
              <a:rPr sz="2600" dirty="0">
                <a:latin typeface="Calibri"/>
                <a:cs typeface="Calibri"/>
              </a:rPr>
              <a:t>&gt;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blocks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=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3,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=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4,000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-</a:t>
            </a:r>
            <a:r>
              <a:rPr sz="2600" dirty="0">
                <a:latin typeface="Calibri"/>
                <a:cs typeface="Calibri"/>
              </a:rPr>
              <a:t>&gt;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blocks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=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16,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=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2,000,000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-</a:t>
            </a:r>
            <a:r>
              <a:rPr sz="2600" dirty="0">
                <a:latin typeface="Calibri"/>
                <a:cs typeface="Calibri"/>
              </a:rPr>
              <a:t>&gt;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block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=</a:t>
            </a:r>
            <a:r>
              <a:rPr sz="2600" spc="-10" dirty="0">
                <a:latin typeface="Calibri"/>
                <a:cs typeface="Calibri"/>
              </a:rPr>
              <a:t> 7,813.</a:t>
            </a:r>
            <a:endParaRPr sz="2600">
              <a:latin typeface="Calibri"/>
              <a:cs typeface="Calibri"/>
            </a:endParaRPr>
          </a:p>
          <a:p>
            <a:pPr marL="299085" marR="224154" indent="-287020">
              <a:lnSpc>
                <a:spcPct val="100000"/>
              </a:lnSpc>
              <a:spcBef>
                <a:spcPts val="3120"/>
              </a:spcBef>
              <a:buFont typeface="Arial MT"/>
              <a:buChar char="•"/>
              <a:tabLst>
                <a:tab pos="299085" algn="l"/>
              </a:tabLst>
            </a:pPr>
            <a:r>
              <a:rPr sz="2600" dirty="0">
                <a:latin typeface="Calibri"/>
                <a:cs typeface="Calibri"/>
              </a:rPr>
              <a:t>Note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thread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blocks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operate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different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parts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vectors.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They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executed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arbitrary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order.</a:t>
            </a:r>
            <a:endParaRPr sz="26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spcBef>
                <a:spcPts val="3120"/>
              </a:spcBef>
              <a:buFont typeface="Arial MT"/>
              <a:buChar char="•"/>
              <a:tabLst>
                <a:tab pos="299085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small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GPU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limited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execution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resources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execute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two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these </a:t>
            </a:r>
            <a:r>
              <a:rPr sz="2600" dirty="0">
                <a:latin typeface="Calibri"/>
                <a:cs typeface="Calibri"/>
              </a:rPr>
              <a:t>thread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blocks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parallel.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larger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GPU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execute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64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128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blocks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parallel.</a:t>
            </a:r>
            <a:endParaRPr sz="2600">
              <a:latin typeface="Calibri"/>
              <a:cs typeface="Calibri"/>
            </a:endParaRPr>
          </a:p>
          <a:p>
            <a:pPr marL="299085" marR="26670" indent="-287020">
              <a:lnSpc>
                <a:spcPct val="100000"/>
              </a:lnSpc>
              <a:spcBef>
                <a:spcPts val="3120"/>
              </a:spcBef>
              <a:buFont typeface="Arial MT"/>
              <a:buChar char="•"/>
              <a:tabLst>
                <a:tab pos="299085" algn="l"/>
              </a:tabLst>
            </a:pPr>
            <a:r>
              <a:rPr sz="2600" dirty="0">
                <a:latin typeface="Calibri"/>
                <a:cs typeface="Calibri"/>
              </a:rPr>
              <a:t>This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gives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CUDA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kernels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scalability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execution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speed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hardware.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i.e.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same </a:t>
            </a:r>
            <a:r>
              <a:rPr sz="2600" dirty="0">
                <a:latin typeface="Calibri"/>
                <a:cs typeface="Calibri"/>
              </a:rPr>
              <a:t>code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runs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lower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performance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small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GPUs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higher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performance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on </a:t>
            </a:r>
            <a:r>
              <a:rPr sz="2600" dirty="0">
                <a:latin typeface="Calibri"/>
                <a:cs typeface="Calibri"/>
              </a:rPr>
              <a:t>larger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GPUs.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777" y="677625"/>
            <a:ext cx="10854525" cy="31297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Introduction:</a:t>
            </a:r>
            <a:r>
              <a:rPr spc="50" dirty="0"/>
              <a:t> </a:t>
            </a:r>
            <a:r>
              <a:rPr spc="-10" dirty="0"/>
              <a:t>1-</a:t>
            </a:r>
            <a:fld id="{81D60167-4931-47E6-BA6A-407CBD079E47}" type="slidenum">
              <a:rPr spc="-25" dirty="0"/>
              <a:t>51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1568</Words>
  <Application>Microsoft Office PowerPoint</Application>
  <PresentationFormat>Widescreen</PresentationFormat>
  <Paragraphs>163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Arial MT</vt:lpstr>
      <vt:lpstr>Calibri</vt:lpstr>
      <vt:lpstr>Calibri Light</vt:lpstr>
      <vt:lpstr>Wingdings</vt:lpstr>
      <vt:lpstr>Office Theme</vt:lpstr>
      <vt:lpstr>GPU Programming Week # 14</vt:lpstr>
      <vt:lpstr>CPU</vt:lpstr>
      <vt:lpstr>Graphic Processing</vt:lpstr>
      <vt:lpstr>Graphic Processing Units (GPUs)</vt:lpstr>
      <vt:lpstr>Latency vs Throughput</vt:lpstr>
      <vt:lpstr>PowerPoint Presentation</vt:lpstr>
      <vt:lpstr>PowerPoint Presentation</vt:lpstr>
      <vt:lpstr>PowerPoint Presentation</vt:lpstr>
      <vt:lpstr>How GPU increases throughput?</vt:lpstr>
      <vt:lpstr>PowerPoint Presentation</vt:lpstr>
      <vt:lpstr>PowerPoint Presentation</vt:lpstr>
      <vt:lpstr>GPU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NVIDIA CUDA platform</vt:lpstr>
      <vt:lpstr>OpenCL vs CUDA</vt:lpstr>
      <vt:lpstr>PowerPoint Presentation</vt:lpstr>
      <vt:lpstr>PowerPoint Presentation</vt:lpstr>
      <vt:lpstr>How GPU Accelerate Compute?</vt:lpstr>
      <vt:lpstr>PowerPoint Presentation</vt:lpstr>
      <vt:lpstr>Declare and Allocate GPU memory</vt:lpstr>
      <vt:lpstr>Specify Kernel code in your program</vt:lpstr>
      <vt:lpstr>Execute Kernel code on GPU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GPU Threads: Grid Block</vt:lpstr>
      <vt:lpstr>PowerPoint Presentation</vt:lpstr>
      <vt:lpstr>PowerPoint Presentation</vt:lpstr>
      <vt:lpstr>GPU Threads: Grid Block</vt:lpstr>
      <vt:lpstr>GPU Threads: Grid Block</vt:lpstr>
      <vt:lpstr>CUDA Vector Addition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Tasks suitable for GPUs – Throughput vs Latency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Nadeem Kafi</cp:lastModifiedBy>
  <cp:revision>1</cp:revision>
  <dcterms:created xsi:type="dcterms:W3CDTF">2024-11-20T02:57:50Z</dcterms:created>
  <dcterms:modified xsi:type="dcterms:W3CDTF">2024-11-21T03:53:48Z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2023-11-21T00:00:00Z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2024-11-20T00:00:00Z</vt:filetime>
  </property>
  <property fmtid="{D5CDD505-2E9C-101B-9397-08002B2CF9AE}" pid="5" name="Producer">
    <vt:lpwstr>Microsoft® PowerPoint® 2016</vt:lpwstr>
  </property>
</Properties>
</file>