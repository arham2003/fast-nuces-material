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37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305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4" r:id="rId25"/>
    <p:sldId id="285" r:id="rId26"/>
    <p:sldId id="286" r:id="rId27"/>
    <p:sldId id="289" r:id="rId28"/>
    <p:sldId id="290" r:id="rId29"/>
    <p:sldId id="291" r:id="rId30"/>
    <p:sldId id="298" r:id="rId31"/>
    <p:sldId id="299" r:id="rId32"/>
    <p:sldId id="300" r:id="rId33"/>
    <p:sldId id="301" r:id="rId34"/>
    <p:sldId id="303" r:id="rId35"/>
    <p:sldId id="304" r:id="rId36"/>
  </p:sldIdLst>
  <p:sldSz cx="12192000" cy="6858000"/>
  <p:notesSz cx="6858000" cy="9144000"/>
  <p:embeddedFontLst>
    <p:embeddedFont>
      <p:font typeface="MS PGothic" panose="020B0600070205080204" pitchFamily="34" charset="-128"/>
      <p:regular r:id="rId38"/>
    </p:embeddedFont>
    <p:embeddedFont>
      <p:font typeface="Garamond" panose="02020404030301010803" pitchFamily="18" charset="0"/>
      <p:regular r:id="rId39"/>
      <p:bold r:id="rId40"/>
      <p:italic r:id="rId41"/>
      <p:boldItalic r:id="rId42"/>
    </p:embeddedFont>
    <p:embeddedFont>
      <p:font typeface="MS PGothic" panose="020B0600070205080204" pitchFamily="34" charset="-128"/>
      <p:regular r:id="rId38"/>
    </p:embeddedFont>
    <p:embeddedFont>
      <p:font typeface="Tahoma" panose="020B0604030504040204" pitchFamily="34" charset="0"/>
      <p:regular r:id="rId43"/>
      <p:bold r:id="rId44"/>
    </p:embeddedFont>
    <p:embeddedFont>
      <p:font typeface="Verdana" panose="020B060403050404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A8D499-423A-4940-9E00-C2E22F4AE5A8}">
  <a:tblStyle styleId="{7AA8D499-423A-4940-9E00-C2E22F4AE5A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F9310EA-DE64-431A-A53C-A09F3E481D8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6FC167F-4778-47DE-9198-08BE17CF6F71}" type="slidenum">
              <a:rPr lang="en-CA" altLang="en-US" sz="1200">
                <a:latin typeface="Tahoma" panose="020B0604030504040204" pitchFamily="34" charset="0"/>
              </a:rPr>
              <a:pPr/>
              <a:t>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048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E80E9B7-FFC8-410D-8DAC-5C924DA29CAB}" type="slidenum">
              <a:rPr lang="en-CA" altLang="en-US" sz="1200">
                <a:latin typeface="Tahoma" panose="020B0604030504040204" pitchFamily="34" charset="0"/>
              </a:rPr>
              <a:pPr/>
              <a:t>5</a:t>
            </a:fld>
            <a:endParaRPr lang="en-CA" altLang="en-US" sz="12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186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2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8" name="Google Shape;18;p2" descr="HD-PanelTitleR1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2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" name="Google Shape;20;p2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dt" idx="10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ftr" idx="11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sldNum" idx="12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2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5" name="Google Shape;75;p9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2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body" idx="3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4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5" name="Google Shape;85;p10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body" idx="1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004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2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7" name="Google Shape;97;p12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>
            <a:spLocks noGrp="1"/>
          </p:cNvSpPr>
          <p:nvPr>
            <p:ph type="pic" idx="2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1" name="Google Shape;101;p13"/>
          <p:cNvSpPr txBox="1">
            <a:spLocks noGrp="1"/>
          </p:cNvSpPr>
          <p:nvPr>
            <p:ph type="body" idx="1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>
            <a:spLocks noGrp="1"/>
          </p:cNvSpPr>
          <p:nvPr>
            <p:ph type="pic" idx="2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8" name="Google Shape;108;p14"/>
          <p:cNvSpPr txBox="1">
            <a:spLocks noGrp="1"/>
          </p:cNvSpPr>
          <p:nvPr>
            <p:ph type="body" idx="1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8" name="Google Shape;118;p15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marL="2743200" lvl="5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2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p16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8"/>
          <p:cNvSpPr txBox="1">
            <a:spLocks noGrp="1"/>
          </p:cNvSpPr>
          <p:nvPr>
            <p:ph type="body" idx="1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18"/>
          <p:cNvSpPr txBox="1">
            <a:spLocks noGrp="1"/>
          </p:cNvSpPr>
          <p:nvPr>
            <p:ph type="body" idx="2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18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9"/>
          <p:cNvSpPr txBox="1">
            <a:spLocks noGrp="1"/>
          </p:cNvSpPr>
          <p:nvPr>
            <p:ph type="body" idx="1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19"/>
          <p:cNvSpPr txBox="1">
            <a:spLocks noGrp="1"/>
          </p:cNvSpPr>
          <p:nvPr>
            <p:ph type="body" idx="2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1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2" name="Google Shape;152;p19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body" idx="1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9" name="Google Shape;159;p20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body" idx="1"/>
          </p:nvPr>
        </p:nvSpPr>
        <p:spPr>
          <a:xfrm rot="5400000">
            <a:off x="2565043" y="-287513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6" name="Google Shape;166;p21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A472E87D-6B95-4ABF-A82A-A1421891B9A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7- </a:t>
            </a:r>
            <a:fld id="{157C2E66-77B2-415D-B674-C9DFB85510C5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07498484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9A9EF0B2-2912-428B-B56D-A726F4895BC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1- </a:t>
            </a:r>
            <a:fld id="{34BF32DF-9325-4000-950F-BDAD2F25F063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47884774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7" name="Google Shape;7;p1" descr="HD-PanelContent.png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1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" name="Google Shape;9;p1" descr="HDRibbonContent-UniformTrim.png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0;p1" descr="HDRibbonContent-UniformTrim.png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386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746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sz="2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6004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543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308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308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308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3083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3083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6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9" r:id="rId14"/>
    <p:sldLayoutId id="2147483670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Garamond"/>
              <a:buNone/>
            </a:pPr>
            <a:r>
              <a:rPr lang="en-US" sz="4500" dirty="0" smtClean="0"/>
              <a:t>Database Systems</a:t>
            </a:r>
            <a:endParaRPr sz="45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Garamond"/>
              <a:buNone/>
            </a:pPr>
            <a:r>
              <a:rPr lang="en-US" sz="4500" dirty="0"/>
              <a:t>(</a:t>
            </a:r>
            <a:r>
              <a:rPr lang="en-US" sz="4500" dirty="0" smtClean="0">
                <a:solidFill>
                  <a:srgbClr val="0D0D0D"/>
                </a:solidFill>
              </a:rPr>
              <a:t>CS2005</a:t>
            </a:r>
            <a:r>
              <a:rPr lang="en-US" sz="4500" dirty="0" smtClean="0"/>
              <a:t>)</a:t>
            </a:r>
            <a:endParaRPr sz="4500" dirty="0"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2692400" y="3657600"/>
            <a:ext cx="6815700" cy="1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28"/>
              <a:buNone/>
            </a:pPr>
            <a:endParaRPr sz="24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28"/>
              <a:buNone/>
            </a:pPr>
            <a:r>
              <a:rPr lang="en-US" sz="2400" dirty="0"/>
              <a:t>Week – </a:t>
            </a:r>
            <a:r>
              <a:rPr lang="en-US" sz="2400" dirty="0" smtClean="0"/>
              <a:t>05</a:t>
            </a:r>
            <a:endParaRPr sz="2400" dirty="0"/>
          </a:p>
          <a:p>
            <a:pPr marL="0" lvl="0" indent="0" algn="ctr" rtl="0">
              <a:lnSpc>
                <a:spcPct val="80000"/>
              </a:lnSpc>
              <a:spcBef>
                <a:spcPts val="831"/>
              </a:spcBef>
              <a:spcAft>
                <a:spcPts val="0"/>
              </a:spcAft>
              <a:buSzPts val="1328"/>
              <a:buNone/>
            </a:pPr>
            <a:endParaRPr sz="2400" dirty="0"/>
          </a:p>
          <a:p>
            <a:pPr marL="0" lvl="0" indent="0" algn="ctr" rtl="0">
              <a:lnSpc>
                <a:spcPct val="80000"/>
              </a:lnSpc>
              <a:spcBef>
                <a:spcPts val="831"/>
              </a:spcBef>
              <a:spcAft>
                <a:spcPts val="0"/>
              </a:spcAft>
              <a:buSzPts val="1328"/>
              <a:buNone/>
            </a:pPr>
            <a:r>
              <a:rPr lang="en-US" sz="2400" dirty="0"/>
              <a:t>Instructor: </a:t>
            </a:r>
            <a:r>
              <a:rPr lang="en-US" sz="2400" b="1" dirty="0"/>
              <a:t>Basit Ali </a:t>
            </a:r>
            <a:endParaRPr sz="2400" dirty="0"/>
          </a:p>
          <a:p>
            <a:pPr marL="0" lvl="0" indent="0" algn="l" rtl="0">
              <a:lnSpc>
                <a:spcPct val="80000"/>
              </a:lnSpc>
              <a:spcBef>
                <a:spcPts val="864"/>
              </a:spcBef>
              <a:spcAft>
                <a:spcPts val="0"/>
              </a:spcAft>
              <a:buSzPts val="1518"/>
              <a:buNone/>
            </a:pPr>
            <a:r>
              <a:rPr lang="en-US" sz="2400" dirty="0"/>
              <a:t>	</a:t>
            </a:r>
            <a:endParaRPr sz="2400" dirty="0"/>
          </a:p>
          <a:p>
            <a:pPr marL="0" lvl="0" indent="0" algn="ctr" rtl="0">
              <a:lnSpc>
                <a:spcPct val="80000"/>
              </a:lnSpc>
              <a:spcBef>
                <a:spcPts val="831"/>
              </a:spcBef>
              <a:spcAft>
                <a:spcPts val="0"/>
              </a:spcAft>
              <a:buSzPts val="1328"/>
              <a:buNone/>
            </a:pP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295402" y="1225281"/>
            <a:ext cx="9601196" cy="3318936"/>
          </a:xfrm>
        </p:spPr>
        <p:txBody>
          <a:bodyPr>
            <a:normAutofit fontScale="92500" lnSpcReduction="10000"/>
          </a:bodyPr>
          <a:lstStyle/>
          <a:p>
            <a:endParaRPr lang="en-US" altLang="en-US" dirty="0" smtClean="0"/>
          </a:p>
          <a:p>
            <a:endParaRPr lang="en-US" altLang="en-US" dirty="0" smtClean="0"/>
          </a:p>
          <a:p>
            <a:endParaRPr lang="en-US" altLang="en-US" dirty="0" smtClean="0"/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sz="3200" b="1" dirty="0"/>
              <a:t>CHAPTER 7</a:t>
            </a:r>
          </a:p>
          <a:p>
            <a:pPr algn="ctr">
              <a:buFont typeface="Wingdings" panose="05000000000000000000" pitchFamily="2" charset="2"/>
              <a:buNone/>
            </a:pPr>
            <a:endParaRPr lang="en-US" altLang="en-US" sz="3200" b="1" dirty="0"/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sz="3600" b="1" dirty="0"/>
              <a:t>More SQL: Complex Queries, Triggers, Views, and Schema Modification</a:t>
            </a:r>
          </a:p>
        </p:txBody>
      </p:sp>
    </p:spTree>
    <p:extLst>
      <p:ext uri="{BB962C8B-B14F-4D97-AF65-F5344CB8AC3E}">
        <p14:creationId xmlns:p14="http://schemas.microsoft.com/office/powerpoint/2010/main" val="228601295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More Complex SQL Retrieval Queries</a:t>
            </a:r>
          </a:p>
        </p:txBody>
      </p:sp>
      <p:sp>
        <p:nvSpPr>
          <p:cNvPr id="1024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Additional features allow users to specify more complex retrievals from database:</a:t>
            </a:r>
          </a:p>
          <a:p>
            <a:pPr lvl="1"/>
            <a:endParaRPr lang="en-US" altLang="en-US" dirty="0" smtClean="0"/>
          </a:p>
          <a:p>
            <a:pPr lvl="1"/>
            <a:r>
              <a:rPr lang="en-US" altLang="en-US" dirty="0" smtClean="0"/>
              <a:t>Nested queries, joined tables, and outer joins (in the FROM clause), aggregate functions, and grouping</a:t>
            </a:r>
          </a:p>
        </p:txBody>
      </p:sp>
    </p:spTree>
    <p:extLst>
      <p:ext uri="{BB962C8B-B14F-4D97-AF65-F5344CB8AC3E}">
        <p14:creationId xmlns:p14="http://schemas.microsoft.com/office/powerpoint/2010/main" val="1965669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Comparisons Involving NULL</a:t>
            </a:r>
            <a:br>
              <a:rPr lang="en-US" altLang="en-US" smtClean="0"/>
            </a:br>
            <a:r>
              <a:rPr lang="en-US" altLang="en-US" smtClean="0"/>
              <a:t>and Three-Valued Logic (cont’d.)</a:t>
            </a:r>
          </a:p>
        </p:txBody>
      </p:sp>
      <p:sp>
        <p:nvSpPr>
          <p:cNvPr id="1331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SQL allows queries that check whether an attribute value is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</a:p>
          <a:p>
            <a:pPr lvl="1"/>
            <a:endParaRPr lang="en-US" alt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IS </a:t>
            </a:r>
            <a:r>
              <a:rPr lang="en-US" altLang="en-US" dirty="0" smtClean="0"/>
              <a:t>or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IS NOT NULL</a:t>
            </a:r>
          </a:p>
        </p:txBody>
      </p:sp>
      <p:pic>
        <p:nvPicPr>
          <p:cNvPr id="133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323" y="3865034"/>
            <a:ext cx="725328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61591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Nested Queries, Tuples,</a:t>
            </a:r>
            <a:br>
              <a:rPr lang="en-US" altLang="en-US" smtClean="0"/>
            </a:br>
            <a:r>
              <a:rPr lang="en-US" altLang="en-US" smtClean="0"/>
              <a:t>and Set/Multiset Comparisons</a:t>
            </a:r>
          </a:p>
        </p:txBody>
      </p:sp>
      <p:sp>
        <p:nvSpPr>
          <p:cNvPr id="1433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 smtClean="0"/>
              <a:t>Nested queries</a:t>
            </a:r>
          </a:p>
          <a:p>
            <a:pPr lvl="1"/>
            <a:r>
              <a:rPr lang="en-US" altLang="en-US" dirty="0" smtClean="0"/>
              <a:t>Complete select-from-where blocks within WHERE clause of another query</a:t>
            </a:r>
          </a:p>
          <a:p>
            <a:pPr lvl="1"/>
            <a:r>
              <a:rPr lang="en-US" altLang="en-US" b="1" dirty="0" smtClean="0"/>
              <a:t>Outer query and nested subqueries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Comparison operator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</a:p>
          <a:p>
            <a:pPr lvl="1"/>
            <a:r>
              <a:rPr lang="en-US" altLang="en-US" dirty="0" smtClean="0"/>
              <a:t>Compares value </a:t>
            </a:r>
            <a:r>
              <a:rPr lang="en-US" altLang="en-US" i="1" dirty="0" smtClean="0"/>
              <a:t>v</a:t>
            </a:r>
            <a:r>
              <a:rPr lang="en-US" altLang="en-US" dirty="0" smtClean="0"/>
              <a:t> with a set (or multiset) of values </a:t>
            </a:r>
            <a:r>
              <a:rPr lang="en-US" altLang="en-US" i="1" dirty="0" smtClean="0"/>
              <a:t>V </a:t>
            </a:r>
          </a:p>
          <a:p>
            <a:pPr lvl="1"/>
            <a:r>
              <a:rPr lang="en-US" altLang="en-US" dirty="0" smtClean="0"/>
              <a:t>Evaluates to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en-US" dirty="0" smtClean="0"/>
              <a:t> if </a:t>
            </a:r>
            <a:r>
              <a:rPr lang="en-US" altLang="en-US" i="1" dirty="0" smtClean="0"/>
              <a:t>v</a:t>
            </a:r>
            <a:r>
              <a:rPr lang="en-US" altLang="en-US" dirty="0" smtClean="0"/>
              <a:t> is one of the elements in </a:t>
            </a:r>
            <a:r>
              <a:rPr lang="en-US" altLang="en-US" i="1" dirty="0" smtClean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49489655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4"/>
          <p:cNvSpPr>
            <a:spLocks noGrp="1" noChangeArrowheads="1"/>
          </p:cNvSpPr>
          <p:nvPr>
            <p:ph type="title"/>
          </p:nvPr>
        </p:nvSpPr>
        <p:spPr>
          <a:xfrm>
            <a:off x="1295402" y="627025"/>
            <a:ext cx="9601196" cy="1303867"/>
          </a:xfrm>
        </p:spPr>
        <p:txBody>
          <a:bodyPr/>
          <a:lstStyle/>
          <a:p>
            <a:r>
              <a:rPr lang="en-US" altLang="en-US" dirty="0" smtClean="0"/>
              <a:t>Nested Queries (cont’d.)</a:t>
            </a:r>
          </a:p>
        </p:txBody>
      </p:sp>
      <p:pic>
        <p:nvPicPr>
          <p:cNvPr id="1638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451" y="3478695"/>
            <a:ext cx="6400799" cy="2562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065" y="1930892"/>
            <a:ext cx="9776533" cy="1172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595774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Nested Queries (cont’d.)</a:t>
            </a:r>
          </a:p>
        </p:txBody>
      </p:sp>
      <p:sp>
        <p:nvSpPr>
          <p:cNvPr id="1741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Use tuples of values in comparisons </a:t>
            </a:r>
          </a:p>
          <a:p>
            <a:pPr lvl="1"/>
            <a:r>
              <a:rPr lang="en-US" altLang="en-US" smtClean="0"/>
              <a:t>Place them within parentheses</a:t>
            </a:r>
          </a:p>
        </p:txBody>
      </p:sp>
      <p:pic>
        <p:nvPicPr>
          <p:cNvPr id="174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279" y="3818138"/>
            <a:ext cx="65627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410816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752600" y="1935332"/>
            <a:ext cx="8909482" cy="3965406"/>
          </a:xfrm>
        </p:spPr>
        <p:txBody>
          <a:bodyPr/>
          <a:lstStyle/>
          <a:p>
            <a:r>
              <a:rPr lang="en-US" altLang="en-US" dirty="0" smtClean="0"/>
              <a:t>Use other comparison operators to compare a single value </a:t>
            </a:r>
            <a:r>
              <a:rPr lang="en-US" altLang="en-US" i="1" dirty="0" smtClean="0"/>
              <a:t>v</a:t>
            </a:r>
            <a:r>
              <a:rPr lang="en-US" altLang="en-US" dirty="0" smtClean="0"/>
              <a:t> </a:t>
            </a:r>
          </a:p>
          <a:p>
            <a:pPr lvl="1"/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ANY </a:t>
            </a:r>
            <a:r>
              <a:rPr lang="en-US" altLang="en-US" dirty="0" smtClean="0"/>
              <a:t>(or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SOME</a:t>
            </a:r>
            <a:r>
              <a:rPr lang="en-US" altLang="en-US" dirty="0" smtClean="0"/>
              <a:t>) operator </a:t>
            </a:r>
          </a:p>
          <a:p>
            <a:pPr lvl="2"/>
            <a:r>
              <a:rPr lang="en-US" altLang="en-US" dirty="0" smtClean="0"/>
              <a:t>Returns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TRUE </a:t>
            </a:r>
            <a:r>
              <a:rPr lang="en-US" altLang="en-US" dirty="0" smtClean="0"/>
              <a:t>if the value </a:t>
            </a:r>
            <a:r>
              <a:rPr lang="en-US" altLang="en-US" i="1" dirty="0" smtClean="0"/>
              <a:t>v</a:t>
            </a:r>
            <a:r>
              <a:rPr lang="en-US" altLang="en-US" dirty="0" smtClean="0"/>
              <a:t> is equal to some value in the set </a:t>
            </a:r>
            <a:r>
              <a:rPr lang="en-US" altLang="en-US" i="1" dirty="0" smtClean="0"/>
              <a:t>V</a:t>
            </a:r>
            <a:r>
              <a:rPr lang="en-US" altLang="en-US" dirty="0" smtClean="0"/>
              <a:t> and is hence equivalent to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</a:p>
          <a:p>
            <a:pPr lvl="1"/>
            <a:r>
              <a:rPr lang="en-US" altLang="en-US" dirty="0" smtClean="0"/>
              <a:t>Other operators that can be combined with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ANY</a:t>
            </a:r>
            <a:r>
              <a:rPr lang="en-US" altLang="en-US" dirty="0" smtClean="0"/>
              <a:t> (or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SOME</a:t>
            </a:r>
            <a:r>
              <a:rPr lang="en-US" altLang="en-US" dirty="0" smtClean="0"/>
              <a:t>):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en-US" dirty="0" smtClean="0">
                <a:cs typeface="Courier New" panose="02070309020205020404" pitchFamily="49" charset="0"/>
              </a:rPr>
              <a:t>,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en-US" altLang="en-US" dirty="0" smtClean="0"/>
              <a:t>,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en-US" dirty="0" smtClean="0"/>
              <a:t>,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altLang="en-US" dirty="0" smtClean="0"/>
              <a:t>, and 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&lt;&gt;</a:t>
            </a:r>
          </a:p>
          <a:p>
            <a:pPr lvl="1"/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ALL: </a:t>
            </a:r>
            <a:r>
              <a:rPr lang="en-US" altLang="en-US" dirty="0" smtClean="0">
                <a:cs typeface="Courier New" panose="02070309020205020404" pitchFamily="49" charset="0"/>
              </a:rPr>
              <a:t>value must exceed all values from nested query</a:t>
            </a:r>
          </a:p>
        </p:txBody>
      </p:sp>
      <p:pic>
        <p:nvPicPr>
          <p:cNvPr id="1843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5178" y="4688566"/>
            <a:ext cx="5009225" cy="142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Tit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Nested Queries (cont’d.)</a:t>
            </a:r>
          </a:p>
        </p:txBody>
      </p:sp>
    </p:spTree>
    <p:extLst>
      <p:ext uri="{BB962C8B-B14F-4D97-AF65-F5344CB8AC3E}">
        <p14:creationId xmlns:p14="http://schemas.microsoft.com/office/powerpoint/2010/main" val="191262727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Nested Queries (cont’d.)</a:t>
            </a:r>
          </a:p>
        </p:txBody>
      </p:sp>
      <p:sp>
        <p:nvSpPr>
          <p:cNvPr id="1945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Avoid potential errors and ambiguities</a:t>
            </a:r>
          </a:p>
          <a:p>
            <a:pPr lvl="1"/>
            <a:r>
              <a:rPr lang="en-US" altLang="en-US" smtClean="0"/>
              <a:t>Create tuple variables (aliases) for all tables referenced in SQL query</a:t>
            </a:r>
          </a:p>
        </p:txBody>
      </p:sp>
      <p:pic>
        <p:nvPicPr>
          <p:cNvPr id="1946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307" y="3589868"/>
            <a:ext cx="7272338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142316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Correlated Nested Queries</a:t>
            </a:r>
          </a:p>
        </p:txBody>
      </p:sp>
      <p:sp>
        <p:nvSpPr>
          <p:cNvPr id="2048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b="1" dirty="0" smtClean="0"/>
              <a:t>Queries that are nested using the = or IN comparison operator </a:t>
            </a:r>
            <a:r>
              <a:rPr lang="en-US" altLang="en-US" dirty="0" smtClean="0"/>
              <a:t>can be collapsed into one single block: E.g., Q16 can be written as:</a:t>
            </a:r>
          </a:p>
          <a:p>
            <a:endParaRPr lang="en-US" altLang="en-US" dirty="0" smtClean="0"/>
          </a:p>
          <a:p>
            <a:r>
              <a:rPr lang="en-US" altLang="en-US" sz="1800" b="1" dirty="0">
                <a:solidFill>
                  <a:srgbClr val="800000"/>
                </a:solidFill>
              </a:rPr>
              <a:t>         SELECT</a:t>
            </a:r>
            <a:r>
              <a:rPr lang="en-US" altLang="en-US" sz="1800" dirty="0">
                <a:solidFill>
                  <a:srgbClr val="800000"/>
                </a:solidFill>
              </a:rPr>
              <a:t>	              </a:t>
            </a:r>
            <a:r>
              <a:rPr lang="en-US" altLang="en-US" sz="1800" dirty="0" err="1">
                <a:solidFill>
                  <a:srgbClr val="800000"/>
                </a:solidFill>
              </a:rPr>
              <a:t>E.Fname</a:t>
            </a:r>
            <a:r>
              <a:rPr lang="en-US" altLang="en-US" sz="1800" dirty="0">
                <a:solidFill>
                  <a:srgbClr val="800000"/>
                </a:solidFill>
              </a:rPr>
              <a:t>, </a:t>
            </a:r>
            <a:r>
              <a:rPr lang="en-US" altLang="en-US" sz="1800" dirty="0" err="1">
                <a:solidFill>
                  <a:srgbClr val="800000"/>
                </a:solidFill>
              </a:rPr>
              <a:t>E.Lname</a:t>
            </a:r>
            <a:endParaRPr lang="en-US" altLang="en-US" sz="1800" dirty="0">
              <a:solidFill>
                <a:srgbClr val="80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rgbClr val="800000"/>
                </a:solidFill>
              </a:rPr>
              <a:t>		</a:t>
            </a:r>
            <a:r>
              <a:rPr lang="en-US" altLang="en-US" sz="1800" b="1" dirty="0">
                <a:solidFill>
                  <a:srgbClr val="800000"/>
                </a:solidFill>
              </a:rPr>
              <a:t>FROM</a:t>
            </a:r>
            <a:r>
              <a:rPr lang="en-US" altLang="en-US" sz="1800" dirty="0">
                <a:solidFill>
                  <a:srgbClr val="800000"/>
                </a:solidFill>
              </a:rPr>
              <a:t>		EMPLOYEE </a:t>
            </a:r>
            <a:r>
              <a:rPr lang="en-US" altLang="en-US" sz="1800" b="1" dirty="0">
                <a:solidFill>
                  <a:srgbClr val="800000"/>
                </a:solidFill>
              </a:rPr>
              <a:t>AS</a:t>
            </a:r>
            <a:r>
              <a:rPr lang="en-US" altLang="en-US" sz="1800" dirty="0">
                <a:solidFill>
                  <a:srgbClr val="800000"/>
                </a:solidFill>
              </a:rPr>
              <a:t> E, DEPENDENT </a:t>
            </a:r>
            <a:r>
              <a:rPr lang="en-US" altLang="en-US" sz="1800" b="1" dirty="0">
                <a:solidFill>
                  <a:srgbClr val="800000"/>
                </a:solidFill>
              </a:rPr>
              <a:t>AS</a:t>
            </a:r>
            <a:r>
              <a:rPr lang="en-US" altLang="en-US" sz="1800" dirty="0">
                <a:solidFill>
                  <a:srgbClr val="800000"/>
                </a:solidFill>
              </a:rPr>
              <a:t> 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rgbClr val="800000"/>
                </a:solidFill>
              </a:rPr>
              <a:t>		</a:t>
            </a:r>
            <a:r>
              <a:rPr lang="en-US" altLang="en-US" sz="1800" b="1" dirty="0">
                <a:solidFill>
                  <a:srgbClr val="800000"/>
                </a:solidFill>
              </a:rPr>
              <a:t>WHERE</a:t>
            </a:r>
            <a:r>
              <a:rPr lang="en-US" altLang="en-US" sz="1800" dirty="0">
                <a:solidFill>
                  <a:srgbClr val="800000"/>
                </a:solidFill>
              </a:rPr>
              <a:t>		</a:t>
            </a:r>
            <a:r>
              <a:rPr lang="en-US" altLang="en-US" sz="1800" dirty="0" err="1">
                <a:solidFill>
                  <a:srgbClr val="800000"/>
                </a:solidFill>
              </a:rPr>
              <a:t>E.Ssn</a:t>
            </a:r>
            <a:r>
              <a:rPr lang="en-US" altLang="en-US" sz="1800" dirty="0">
                <a:solidFill>
                  <a:srgbClr val="800000"/>
                </a:solidFill>
              </a:rPr>
              <a:t>=</a:t>
            </a:r>
            <a:r>
              <a:rPr lang="en-US" altLang="en-US" sz="1800" dirty="0" err="1">
                <a:solidFill>
                  <a:srgbClr val="800000"/>
                </a:solidFill>
              </a:rPr>
              <a:t>D.Essn</a:t>
            </a:r>
            <a:r>
              <a:rPr lang="en-US" altLang="en-US" sz="1800" dirty="0">
                <a:solidFill>
                  <a:srgbClr val="800000"/>
                </a:solidFill>
              </a:rPr>
              <a:t> </a:t>
            </a:r>
            <a:r>
              <a:rPr lang="en-US" altLang="en-US" sz="1800" b="1" dirty="0">
                <a:solidFill>
                  <a:srgbClr val="800000"/>
                </a:solidFill>
              </a:rPr>
              <a:t>AND</a:t>
            </a:r>
            <a:r>
              <a:rPr lang="en-US" altLang="en-US" sz="1800" dirty="0">
                <a:solidFill>
                  <a:srgbClr val="800000"/>
                </a:solidFill>
              </a:rPr>
              <a:t> </a:t>
            </a:r>
            <a:r>
              <a:rPr lang="en-US" altLang="en-US" sz="1800" dirty="0" err="1">
                <a:solidFill>
                  <a:srgbClr val="800000"/>
                </a:solidFill>
              </a:rPr>
              <a:t>E.Sex</a:t>
            </a:r>
            <a:r>
              <a:rPr lang="en-US" altLang="en-US" sz="1800" dirty="0">
                <a:solidFill>
                  <a:srgbClr val="800000"/>
                </a:solidFill>
              </a:rPr>
              <a:t>=</a:t>
            </a:r>
            <a:r>
              <a:rPr lang="en-US" altLang="en-US" sz="1800" dirty="0" err="1">
                <a:solidFill>
                  <a:srgbClr val="800000"/>
                </a:solidFill>
              </a:rPr>
              <a:t>D.Sex</a:t>
            </a:r>
            <a:endParaRPr lang="en-US" altLang="en-US" sz="1800" dirty="0">
              <a:solidFill>
                <a:srgbClr val="80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 dirty="0">
                <a:solidFill>
                  <a:srgbClr val="800000"/>
                </a:solidFill>
              </a:rPr>
              <a:t>						</a:t>
            </a:r>
            <a:r>
              <a:rPr lang="en-US" altLang="en-US" sz="1800" b="1" dirty="0">
                <a:solidFill>
                  <a:srgbClr val="800000"/>
                </a:solidFill>
              </a:rPr>
              <a:t>	AND</a:t>
            </a:r>
            <a:r>
              <a:rPr lang="en-US" altLang="en-US" sz="1800" dirty="0">
                <a:solidFill>
                  <a:srgbClr val="800000"/>
                </a:solidFill>
              </a:rPr>
              <a:t> 					</a:t>
            </a:r>
            <a:r>
              <a:rPr lang="en-US" altLang="en-US" sz="1800" dirty="0" err="1">
                <a:solidFill>
                  <a:srgbClr val="800000"/>
                </a:solidFill>
              </a:rPr>
              <a:t>E.Fname</a:t>
            </a:r>
            <a:r>
              <a:rPr lang="en-US" altLang="en-US" sz="1800" dirty="0">
                <a:solidFill>
                  <a:srgbClr val="800000"/>
                </a:solidFill>
              </a:rPr>
              <a:t>=</a:t>
            </a:r>
            <a:r>
              <a:rPr lang="en-US" altLang="en-US" sz="1800" dirty="0" err="1">
                <a:solidFill>
                  <a:srgbClr val="800000"/>
                </a:solidFill>
              </a:rPr>
              <a:t>D.Dependent_name</a:t>
            </a:r>
            <a:r>
              <a:rPr lang="en-US" altLang="en-US" sz="1800" dirty="0">
                <a:solidFill>
                  <a:srgbClr val="800000"/>
                </a:solidFill>
              </a:rPr>
              <a:t>;</a:t>
            </a:r>
          </a:p>
          <a:p>
            <a:endParaRPr lang="en-US" altLang="en-US" b="1" dirty="0" smtClean="0"/>
          </a:p>
          <a:p>
            <a:r>
              <a:rPr lang="en-US" altLang="en-US" b="1" dirty="0" smtClean="0"/>
              <a:t>Correlated</a:t>
            </a:r>
            <a:r>
              <a:rPr lang="en-US" altLang="en-US" dirty="0" smtClean="0"/>
              <a:t> nested query </a:t>
            </a:r>
          </a:p>
          <a:p>
            <a:pPr lvl="1"/>
            <a:r>
              <a:rPr lang="en-US" altLang="en-US" dirty="0" smtClean="0"/>
              <a:t>Evaluated once for each tuple in the outer query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7958644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Explicit Sets and Renaming of Attributes in SQL</a:t>
            </a:r>
          </a:p>
        </p:txBody>
      </p:sp>
      <p:sp>
        <p:nvSpPr>
          <p:cNvPr id="2150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Can use explicit set of values in WHERE clause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595959"/>
                </a:solidFill>
              </a:rPr>
              <a:t>   </a:t>
            </a:r>
            <a:endParaRPr lang="en-US" altLang="en-US" sz="2000" b="1" dirty="0" smtClean="0">
              <a:solidFill>
                <a:srgbClr val="595959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 smtClean="0">
                <a:solidFill>
                  <a:srgbClr val="595959"/>
                </a:solidFill>
              </a:rPr>
              <a:t>Q17</a:t>
            </a:r>
            <a:r>
              <a:rPr lang="en-US" altLang="en-US" sz="2000" b="1" dirty="0">
                <a:solidFill>
                  <a:srgbClr val="595959"/>
                </a:solidFill>
              </a:rPr>
              <a:t>:</a:t>
            </a:r>
            <a:r>
              <a:rPr lang="en-US" altLang="en-US" sz="2000" dirty="0">
                <a:solidFill>
                  <a:srgbClr val="595959"/>
                </a:solidFill>
              </a:rPr>
              <a:t>		</a:t>
            </a:r>
            <a:r>
              <a:rPr lang="en-US" altLang="en-US" sz="2000" b="1" dirty="0">
                <a:solidFill>
                  <a:srgbClr val="595959"/>
                </a:solidFill>
              </a:rPr>
              <a:t>SELECT	DISTINCT</a:t>
            </a:r>
            <a:r>
              <a:rPr lang="en-US" altLang="en-US" sz="2000" dirty="0">
                <a:solidFill>
                  <a:srgbClr val="595959"/>
                </a:solidFill>
              </a:rPr>
              <a:t> </a:t>
            </a:r>
            <a:r>
              <a:rPr lang="en-US" altLang="en-US" sz="2000" dirty="0" err="1">
                <a:solidFill>
                  <a:srgbClr val="595959"/>
                </a:solidFill>
              </a:rPr>
              <a:t>Essn</a:t>
            </a:r>
            <a:endParaRPr lang="en-US" altLang="en-US" sz="1200" dirty="0">
              <a:solidFill>
                <a:srgbClr val="595959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595959"/>
                </a:solidFill>
              </a:rPr>
              <a:t>		</a:t>
            </a:r>
            <a:r>
              <a:rPr lang="en-US" altLang="en-US" sz="2000" dirty="0" smtClean="0">
                <a:solidFill>
                  <a:srgbClr val="595959"/>
                </a:solidFill>
              </a:rPr>
              <a:t>	</a:t>
            </a:r>
            <a:r>
              <a:rPr lang="en-US" altLang="en-US" sz="2000" b="1" dirty="0" smtClean="0">
                <a:solidFill>
                  <a:srgbClr val="595959"/>
                </a:solidFill>
              </a:rPr>
              <a:t>FROM</a:t>
            </a:r>
            <a:r>
              <a:rPr lang="en-US" altLang="en-US" sz="2000" dirty="0">
                <a:solidFill>
                  <a:srgbClr val="595959"/>
                </a:solidFill>
              </a:rPr>
              <a:t>		WORKS_ON</a:t>
            </a:r>
            <a:endParaRPr lang="en-US" altLang="en-US" sz="1200" dirty="0">
              <a:solidFill>
                <a:srgbClr val="595959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595959"/>
                </a:solidFill>
              </a:rPr>
              <a:t>		</a:t>
            </a:r>
            <a:r>
              <a:rPr lang="en-US" altLang="en-US" sz="2000" dirty="0" smtClean="0">
                <a:solidFill>
                  <a:srgbClr val="595959"/>
                </a:solidFill>
              </a:rPr>
              <a:t>	</a:t>
            </a:r>
            <a:r>
              <a:rPr lang="en-US" altLang="en-US" sz="2000" b="1" dirty="0" smtClean="0">
                <a:solidFill>
                  <a:srgbClr val="595959"/>
                </a:solidFill>
              </a:rPr>
              <a:t>WHERE</a:t>
            </a:r>
            <a:r>
              <a:rPr lang="en-US" altLang="en-US" sz="2000" dirty="0">
                <a:solidFill>
                  <a:srgbClr val="595959"/>
                </a:solidFill>
              </a:rPr>
              <a:t>	</a:t>
            </a:r>
            <a:r>
              <a:rPr lang="en-US" altLang="en-US" sz="2000" dirty="0" err="1">
                <a:solidFill>
                  <a:srgbClr val="595959"/>
                </a:solidFill>
              </a:rPr>
              <a:t>Pno</a:t>
            </a:r>
            <a:r>
              <a:rPr lang="en-US" altLang="en-US" sz="2000" dirty="0">
                <a:solidFill>
                  <a:srgbClr val="595959"/>
                </a:solidFill>
              </a:rPr>
              <a:t> </a:t>
            </a:r>
            <a:r>
              <a:rPr lang="en-US" altLang="en-US" sz="2000" b="1" dirty="0">
                <a:solidFill>
                  <a:srgbClr val="595959"/>
                </a:solidFill>
              </a:rPr>
              <a:t>IN</a:t>
            </a:r>
            <a:r>
              <a:rPr lang="en-US" altLang="en-US" sz="2000" dirty="0">
                <a:solidFill>
                  <a:srgbClr val="595959"/>
                </a:solidFill>
              </a:rPr>
              <a:t> (1, 2, 3</a:t>
            </a:r>
            <a:r>
              <a:rPr lang="en-US" altLang="en-US" sz="2000" dirty="0" smtClean="0">
                <a:solidFill>
                  <a:srgbClr val="595959"/>
                </a:solidFill>
              </a:rPr>
              <a:t>);</a:t>
            </a:r>
            <a:endParaRPr lang="en-US" altLang="en-US" dirty="0" smtClean="0"/>
          </a:p>
          <a:p>
            <a:r>
              <a:rPr lang="en-US" altLang="en-US" dirty="0" smtClean="0"/>
              <a:t>Use qualifier AS followed by desired new name</a:t>
            </a:r>
          </a:p>
          <a:p>
            <a:pPr lvl="1"/>
            <a:r>
              <a:rPr lang="en-US" altLang="en-US" dirty="0" smtClean="0"/>
              <a:t>Rename any attribute that appears in the result of a query</a:t>
            </a:r>
          </a:p>
        </p:txBody>
      </p:sp>
      <p:pic>
        <p:nvPicPr>
          <p:cNvPr id="2150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0809" y="5330929"/>
            <a:ext cx="6630380" cy="815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65377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Specifying Joined Tables in the FROM Clause of SQL</a:t>
            </a:r>
          </a:p>
        </p:txBody>
      </p:sp>
      <p:sp>
        <p:nvSpPr>
          <p:cNvPr id="2253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smtClean="0"/>
              <a:t>Joined table</a:t>
            </a:r>
          </a:p>
          <a:p>
            <a:pPr lvl="1"/>
            <a:r>
              <a:rPr lang="en-US" altLang="en-US" smtClean="0"/>
              <a:t>Permits users to specify a table resulting from a join operation in the FROM clause of a query</a:t>
            </a:r>
          </a:p>
          <a:p>
            <a:r>
              <a:rPr lang="en-US" altLang="en-US" smtClean="0"/>
              <a:t>The FROM clause in Q1A </a:t>
            </a:r>
          </a:p>
          <a:p>
            <a:pPr lvl="1"/>
            <a:r>
              <a:rPr lang="en-US" altLang="en-US" smtClean="0"/>
              <a:t>Contains a single joined table. JOIN may also be called INNER JOIN</a:t>
            </a:r>
          </a:p>
        </p:txBody>
      </p:sp>
      <p:pic>
        <p:nvPicPr>
          <p:cNvPr id="225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017" y="4790242"/>
            <a:ext cx="8081963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25047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Different Types of JOINed Tables  in SQL</a:t>
            </a:r>
          </a:p>
        </p:txBody>
      </p:sp>
      <p:sp>
        <p:nvSpPr>
          <p:cNvPr id="2355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621671" y="2285999"/>
            <a:ext cx="9182453" cy="4572000"/>
          </a:xfrm>
        </p:spPr>
        <p:txBody>
          <a:bodyPr/>
          <a:lstStyle/>
          <a:p>
            <a:r>
              <a:rPr lang="en-US" altLang="en-US" dirty="0" smtClean="0"/>
              <a:t>Specify different types of join</a:t>
            </a:r>
          </a:p>
          <a:p>
            <a:pPr lvl="1"/>
            <a:r>
              <a:rPr lang="en-US" altLang="en-US" dirty="0" smtClean="0"/>
              <a:t>NATURAL JOIN </a:t>
            </a:r>
          </a:p>
          <a:p>
            <a:pPr lvl="1"/>
            <a:r>
              <a:rPr lang="en-US" altLang="en-US" dirty="0" smtClean="0"/>
              <a:t>Various types of OUTER JOIN (LEFT, RIGHT, FULL )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NATURAL JOIN on two relations R and S</a:t>
            </a:r>
          </a:p>
          <a:p>
            <a:pPr lvl="1"/>
            <a:r>
              <a:rPr lang="en-US" altLang="en-US" dirty="0" smtClean="0"/>
              <a:t>No join condition specified</a:t>
            </a:r>
          </a:p>
          <a:p>
            <a:pPr lvl="1"/>
            <a:r>
              <a:rPr lang="en-US" altLang="en-US" dirty="0" smtClean="0"/>
              <a:t>Is equivalent to an implicit EQUIJOIN condition for each pair of attributes with same name from R and S</a:t>
            </a:r>
          </a:p>
        </p:txBody>
      </p:sp>
    </p:spTree>
    <p:extLst>
      <p:ext uri="{BB962C8B-B14F-4D97-AF65-F5344CB8AC3E}">
        <p14:creationId xmlns:p14="http://schemas.microsoft.com/office/powerpoint/2010/main" val="156932193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NATURAL JOIN</a:t>
            </a:r>
          </a:p>
        </p:txBody>
      </p:sp>
      <p:sp>
        <p:nvSpPr>
          <p:cNvPr id="2457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>
                <a:solidFill>
                  <a:srgbClr val="800000"/>
                </a:solidFill>
              </a:rPr>
              <a:t>Rename attributes of one relation so it can be joined with another using NATURAL JOIN: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000" b="1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/>
              <a:t>Q1B:        SELECT</a:t>
            </a:r>
            <a:r>
              <a:rPr lang="en-US" altLang="en-US" sz="2000" dirty="0"/>
              <a:t>        </a:t>
            </a:r>
            <a:r>
              <a:rPr lang="en-US" altLang="en-US" sz="2000" dirty="0" err="1"/>
              <a:t>Fname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Lname</a:t>
            </a:r>
            <a:r>
              <a:rPr lang="en-US" altLang="en-US" sz="2000" dirty="0"/>
              <a:t>, Address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/>
              <a:t>	    </a:t>
            </a:r>
            <a:r>
              <a:rPr lang="en-US" altLang="en-US" sz="2000" dirty="0" smtClean="0"/>
              <a:t>	</a:t>
            </a:r>
            <a:r>
              <a:rPr lang="en-US" altLang="en-US" sz="2000" b="1" dirty="0" smtClean="0"/>
              <a:t>FROM</a:t>
            </a:r>
            <a:r>
              <a:rPr lang="en-US" altLang="en-US" sz="2000" dirty="0"/>
              <a:t>	(EMPLOYEE </a:t>
            </a:r>
            <a:r>
              <a:rPr lang="en-US" altLang="en-US" sz="2000" b="1" dirty="0"/>
              <a:t>NATURAL JOIN</a:t>
            </a:r>
            <a:endParaRPr lang="en-US" altLang="en-US" sz="2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/>
              <a:t>			(DEPARTMENT </a:t>
            </a:r>
            <a:r>
              <a:rPr lang="en-US" altLang="en-US" sz="2000" b="1" dirty="0"/>
              <a:t>AS</a:t>
            </a:r>
            <a:r>
              <a:rPr lang="en-US" altLang="en-US" sz="2000" dirty="0"/>
              <a:t> DEPT (</a:t>
            </a:r>
            <a:r>
              <a:rPr lang="en-US" altLang="en-US" sz="2000" dirty="0" err="1"/>
              <a:t>Dname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Dno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Mssn</a:t>
            </a:r>
            <a:r>
              <a:rPr lang="en-US" altLang="en-US" sz="2000" dirty="0"/>
              <a:t>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/>
              <a:t>                                        </a:t>
            </a:r>
            <a:r>
              <a:rPr lang="en-US" altLang="en-US" sz="2000" dirty="0" err="1"/>
              <a:t>Msdate</a:t>
            </a:r>
            <a:r>
              <a:rPr lang="en-US" altLang="en-US" sz="2000" dirty="0"/>
              <a:t>)))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/>
              <a:t>	    </a:t>
            </a:r>
            <a:r>
              <a:rPr lang="en-US" altLang="en-US" sz="2000" dirty="0" smtClean="0"/>
              <a:t>	</a:t>
            </a:r>
            <a:r>
              <a:rPr lang="en-US" altLang="en-US" sz="2000" b="1" dirty="0" smtClean="0"/>
              <a:t>WHERE</a:t>
            </a:r>
            <a:r>
              <a:rPr lang="en-US" altLang="en-US" sz="2000" dirty="0"/>
              <a:t>	 </a:t>
            </a:r>
            <a:r>
              <a:rPr lang="en-US" altLang="en-US" sz="2000" dirty="0" err="1"/>
              <a:t>Dname</a:t>
            </a:r>
            <a:r>
              <a:rPr lang="en-US" altLang="en-US" sz="2000" dirty="0"/>
              <a:t>=‘Research’;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800000"/>
                </a:solidFill>
              </a:rPr>
              <a:t>The above works with </a:t>
            </a:r>
            <a:r>
              <a:rPr lang="en-US" altLang="en-US" dirty="0" err="1">
                <a:solidFill>
                  <a:srgbClr val="800000"/>
                </a:solidFill>
              </a:rPr>
              <a:t>EMPLOYEE.Dno</a:t>
            </a:r>
            <a:r>
              <a:rPr lang="en-US" altLang="en-US" dirty="0">
                <a:solidFill>
                  <a:srgbClr val="800000"/>
                </a:solidFill>
              </a:rPr>
              <a:t> = </a:t>
            </a:r>
            <a:r>
              <a:rPr lang="en-US" altLang="en-US" dirty="0" err="1">
                <a:solidFill>
                  <a:srgbClr val="800000"/>
                </a:solidFill>
              </a:rPr>
              <a:t>DEPT.Dno</a:t>
            </a:r>
            <a:r>
              <a:rPr lang="en-US" altLang="en-US" dirty="0">
                <a:solidFill>
                  <a:srgbClr val="800000"/>
                </a:solidFill>
              </a:rPr>
              <a:t> as an implicit join condition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000" dirty="0"/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90946493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INNER and OUTER Joins</a:t>
            </a:r>
          </a:p>
        </p:txBody>
      </p:sp>
      <p:sp>
        <p:nvSpPr>
          <p:cNvPr id="2560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en-US" sz="2200"/>
              <a:t>INNER JOIN  </a:t>
            </a:r>
            <a:r>
              <a:rPr lang="en-US" altLang="en-US" sz="2200" b="1"/>
              <a:t>(versus </a:t>
            </a:r>
            <a:r>
              <a:rPr lang="en-US" altLang="en-US" sz="2200"/>
              <a:t>OUTER JOIN</a:t>
            </a:r>
            <a:r>
              <a:rPr lang="en-US" altLang="en-US" sz="2200" b="1"/>
              <a:t>)</a:t>
            </a:r>
          </a:p>
          <a:p>
            <a:pPr lvl="1"/>
            <a:r>
              <a:rPr lang="en-US" altLang="en-US" sz="2200"/>
              <a:t>Default type of join in a joined table</a:t>
            </a:r>
          </a:p>
          <a:p>
            <a:pPr lvl="1"/>
            <a:r>
              <a:rPr lang="en-US" altLang="en-US" sz="2200"/>
              <a:t>Tuple is included in the result only if a matching tuple exists in the other relation</a:t>
            </a:r>
          </a:p>
          <a:p>
            <a:r>
              <a:rPr lang="en-US" altLang="en-US" sz="2200"/>
              <a:t>LEFT OUTER JOIN 	</a:t>
            </a:r>
          </a:p>
          <a:p>
            <a:pPr lvl="1"/>
            <a:r>
              <a:rPr lang="en-US" altLang="en-US" sz="2200"/>
              <a:t>Every tuple in left table must appear in result</a:t>
            </a:r>
          </a:p>
          <a:p>
            <a:pPr lvl="1"/>
            <a:r>
              <a:rPr lang="en-US" altLang="en-US" sz="2200"/>
              <a:t>If no matching tuple</a:t>
            </a:r>
          </a:p>
          <a:p>
            <a:pPr lvl="2"/>
            <a:r>
              <a:rPr lang="en-US" altLang="en-US" sz="2200"/>
              <a:t>Padded with NULL values for attributes of right table</a:t>
            </a:r>
          </a:p>
          <a:p>
            <a:r>
              <a:rPr lang="en-US" altLang="en-US" sz="2200"/>
              <a:t>RIGHT OUTER JOIN</a:t>
            </a:r>
          </a:p>
          <a:p>
            <a:pPr lvl="1"/>
            <a:r>
              <a:rPr lang="en-US" altLang="en-US" sz="2200"/>
              <a:t>Every tuple in right table must appear in result</a:t>
            </a:r>
          </a:p>
          <a:p>
            <a:pPr lvl="1"/>
            <a:r>
              <a:rPr lang="en-US" altLang="en-US" sz="2200"/>
              <a:t>If no matching tuple</a:t>
            </a:r>
          </a:p>
          <a:p>
            <a:pPr lvl="2"/>
            <a:r>
              <a:rPr lang="en-US" altLang="en-US" sz="2200"/>
              <a:t>Padded with NULL values for attributes of left table</a:t>
            </a:r>
          </a:p>
        </p:txBody>
      </p:sp>
    </p:spTree>
    <p:extLst>
      <p:ext uri="{BB962C8B-B14F-4D97-AF65-F5344CB8AC3E}">
        <p14:creationId xmlns:p14="http://schemas.microsoft.com/office/powerpoint/2010/main" val="175914196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872" y="422839"/>
            <a:ext cx="9601196" cy="1303867"/>
          </a:xfrm>
        </p:spPr>
        <p:txBody>
          <a:bodyPr/>
          <a:lstStyle/>
          <a:p>
            <a:r>
              <a:rPr lang="en-US" dirty="0" smtClean="0"/>
              <a:t>Joins (All Together)</a:t>
            </a:r>
            <a:endParaRPr lang="en-US" dirty="0"/>
          </a:p>
        </p:txBody>
      </p:sp>
      <p:pic>
        <p:nvPicPr>
          <p:cNvPr id="1026" name="Picture 2" descr="Visual Representation of SQL Joins - CodeProjec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897" y="1500327"/>
            <a:ext cx="5974672" cy="4687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539271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Aggregate Functions in SQL</a:t>
            </a:r>
          </a:p>
        </p:txBody>
      </p:sp>
      <p:sp>
        <p:nvSpPr>
          <p:cNvPr id="2867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 smtClean="0"/>
              <a:t>Used to summarize information from multiple tuples into a single-tuple summary</a:t>
            </a:r>
          </a:p>
          <a:p>
            <a:r>
              <a:rPr lang="en-US" altLang="en-US" smtClean="0"/>
              <a:t>Built-in aggregate functions </a:t>
            </a:r>
          </a:p>
          <a:p>
            <a:pPr lvl="1"/>
            <a:r>
              <a:rPr lang="en-US" alt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altLang="en-US" i="1" smtClean="0"/>
              <a:t>,</a:t>
            </a:r>
            <a:r>
              <a:rPr lang="en-US" altLang="en-US" smtClean="0"/>
              <a:t> </a:t>
            </a:r>
            <a:r>
              <a:rPr lang="en-US" alt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altLang="en-US" smtClean="0"/>
              <a:t>, </a:t>
            </a:r>
            <a:r>
              <a:rPr lang="en-US" alt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altLang="en-US" smtClean="0"/>
              <a:t>, </a:t>
            </a:r>
            <a:r>
              <a:rPr lang="en-US" alt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en-US" altLang="en-US" smtClean="0"/>
              <a:t>, and </a:t>
            </a:r>
            <a:r>
              <a:rPr lang="en-US" alt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</a:p>
          <a:p>
            <a:r>
              <a:rPr lang="en-US" altLang="en-US" b="1" smtClean="0"/>
              <a:t>Grouping </a:t>
            </a:r>
          </a:p>
          <a:p>
            <a:pPr lvl="1"/>
            <a:r>
              <a:rPr lang="en-US" altLang="en-US" smtClean="0"/>
              <a:t>Create subgroups of tuples before summarizing</a:t>
            </a:r>
          </a:p>
          <a:p>
            <a:r>
              <a:rPr lang="en-US" altLang="en-US" smtClean="0"/>
              <a:t>To select entire groups,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  <a:r>
              <a:rPr lang="en-US" altLang="en-US" smtClean="0"/>
              <a:t> clause is used</a:t>
            </a:r>
          </a:p>
          <a:p>
            <a:r>
              <a:rPr lang="en-US" altLang="en-US" smtClean="0"/>
              <a:t>Aggregate functions can be used in the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smtClean="0"/>
              <a:t> clause or in a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  <a:r>
              <a:rPr lang="en-US" altLang="en-US" smtClean="0"/>
              <a:t> clause</a:t>
            </a:r>
          </a:p>
        </p:txBody>
      </p:sp>
    </p:spTree>
    <p:extLst>
      <p:ext uri="{BB962C8B-B14F-4D97-AF65-F5344CB8AC3E}">
        <p14:creationId xmlns:p14="http://schemas.microsoft.com/office/powerpoint/2010/main" val="214031704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Renaming Results of Aggregation</a:t>
            </a:r>
          </a:p>
        </p:txBody>
      </p:sp>
      <p:sp>
        <p:nvSpPr>
          <p:cNvPr id="2969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en-US" dirty="0"/>
              <a:t>Following query returns a single row of computed values from EMPLOYEE table:</a:t>
            </a:r>
          </a:p>
          <a:p>
            <a:endParaRPr lang="en-US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595959"/>
                </a:solidFill>
              </a:rPr>
              <a:t>Q19:</a:t>
            </a:r>
            <a:r>
              <a:rPr lang="en-US" altLang="en-US" sz="2000" dirty="0">
                <a:solidFill>
                  <a:srgbClr val="595959"/>
                </a:solidFill>
              </a:rPr>
              <a:t>	       </a:t>
            </a:r>
            <a:r>
              <a:rPr lang="en-US" altLang="en-US" sz="2000" b="1" dirty="0">
                <a:solidFill>
                  <a:srgbClr val="595959"/>
                </a:solidFill>
              </a:rPr>
              <a:t>SELECT</a:t>
            </a:r>
            <a:r>
              <a:rPr lang="en-US" altLang="en-US" sz="2000" dirty="0">
                <a:solidFill>
                  <a:srgbClr val="595959"/>
                </a:solidFill>
              </a:rPr>
              <a:t>    </a:t>
            </a:r>
            <a:r>
              <a:rPr lang="en-US" altLang="en-US" sz="2000" b="1" dirty="0">
                <a:solidFill>
                  <a:srgbClr val="595959"/>
                </a:solidFill>
              </a:rPr>
              <a:t>SUM</a:t>
            </a:r>
            <a:r>
              <a:rPr lang="en-US" altLang="en-US" sz="2000" dirty="0">
                <a:solidFill>
                  <a:srgbClr val="595959"/>
                </a:solidFill>
              </a:rPr>
              <a:t> (Salary), </a:t>
            </a:r>
            <a:r>
              <a:rPr lang="en-US" altLang="en-US" sz="2000" b="1" dirty="0">
                <a:solidFill>
                  <a:srgbClr val="595959"/>
                </a:solidFill>
              </a:rPr>
              <a:t>MAX</a:t>
            </a:r>
            <a:r>
              <a:rPr lang="en-US" altLang="en-US" sz="2000" dirty="0">
                <a:solidFill>
                  <a:srgbClr val="595959"/>
                </a:solidFill>
              </a:rPr>
              <a:t> (Salary), </a:t>
            </a:r>
            <a:r>
              <a:rPr lang="en-US" altLang="en-US" sz="2000" b="1" dirty="0">
                <a:solidFill>
                  <a:srgbClr val="595959"/>
                </a:solidFill>
              </a:rPr>
              <a:t>MIN</a:t>
            </a:r>
            <a:r>
              <a:rPr lang="en-US" altLang="en-US" sz="2000" dirty="0">
                <a:solidFill>
                  <a:srgbClr val="595959"/>
                </a:solidFill>
              </a:rPr>
              <a:t> (Salary), </a:t>
            </a:r>
            <a:r>
              <a:rPr lang="en-US" altLang="en-US" sz="2000" b="1" dirty="0" smtClean="0">
                <a:solidFill>
                  <a:srgbClr val="595959"/>
                </a:solidFill>
              </a:rPr>
              <a:t>AVG</a:t>
            </a:r>
            <a:r>
              <a:rPr lang="en-US" altLang="en-US" sz="2000" dirty="0">
                <a:solidFill>
                  <a:srgbClr val="595959"/>
                </a:solidFill>
              </a:rPr>
              <a:t> </a:t>
            </a:r>
            <a:r>
              <a:rPr lang="en-US" altLang="en-US" sz="2000" dirty="0" smtClean="0">
                <a:solidFill>
                  <a:srgbClr val="595959"/>
                </a:solidFill>
              </a:rPr>
              <a:t>(Salary</a:t>
            </a:r>
            <a:r>
              <a:rPr lang="en-US" altLang="en-US" sz="2000" dirty="0">
                <a:solidFill>
                  <a:srgbClr val="595959"/>
                </a:solidFill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595959"/>
                </a:solidFill>
              </a:rPr>
              <a:t>	        </a:t>
            </a:r>
            <a:r>
              <a:rPr lang="en-US" altLang="en-US" sz="2000" dirty="0" smtClean="0">
                <a:solidFill>
                  <a:srgbClr val="595959"/>
                </a:solidFill>
              </a:rPr>
              <a:t>	       </a:t>
            </a:r>
            <a:r>
              <a:rPr lang="en-US" altLang="en-US" sz="2000" b="1" dirty="0" smtClean="0">
                <a:solidFill>
                  <a:srgbClr val="595959"/>
                </a:solidFill>
              </a:rPr>
              <a:t>FROM</a:t>
            </a:r>
            <a:r>
              <a:rPr lang="en-US" altLang="en-US" sz="2000" dirty="0">
                <a:solidFill>
                  <a:srgbClr val="595959"/>
                </a:solidFill>
              </a:rPr>
              <a:t>	EMPLOYEE;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The </a:t>
            </a:r>
            <a:r>
              <a:rPr lang="en-US" altLang="en-US" dirty="0"/>
              <a:t>result can be presented with new names: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595959"/>
                </a:solidFill>
              </a:rPr>
              <a:t>Q19A:</a:t>
            </a:r>
            <a:r>
              <a:rPr lang="en-US" altLang="en-US" sz="2000" dirty="0">
                <a:solidFill>
                  <a:srgbClr val="595959"/>
                </a:solidFill>
              </a:rPr>
              <a:t>          </a:t>
            </a:r>
            <a:r>
              <a:rPr lang="en-US" altLang="en-US" sz="2000" b="1" dirty="0">
                <a:solidFill>
                  <a:srgbClr val="595959"/>
                </a:solidFill>
              </a:rPr>
              <a:t>SELECT</a:t>
            </a:r>
            <a:r>
              <a:rPr lang="en-US" altLang="en-US" sz="2000" dirty="0">
                <a:solidFill>
                  <a:srgbClr val="595959"/>
                </a:solidFill>
              </a:rPr>
              <a:t>	</a:t>
            </a:r>
            <a:r>
              <a:rPr lang="en-US" altLang="en-US" sz="2000" b="1" dirty="0">
                <a:solidFill>
                  <a:srgbClr val="595959"/>
                </a:solidFill>
              </a:rPr>
              <a:t>SUM</a:t>
            </a:r>
            <a:r>
              <a:rPr lang="en-US" altLang="en-US" sz="2000" dirty="0">
                <a:solidFill>
                  <a:srgbClr val="595959"/>
                </a:solidFill>
              </a:rPr>
              <a:t> (Salary) </a:t>
            </a:r>
            <a:r>
              <a:rPr lang="en-US" altLang="en-US" sz="2000" b="1" dirty="0">
                <a:solidFill>
                  <a:srgbClr val="595959"/>
                </a:solidFill>
              </a:rPr>
              <a:t>AS </a:t>
            </a:r>
            <a:r>
              <a:rPr lang="en-US" altLang="en-US" sz="2000" dirty="0" err="1">
                <a:solidFill>
                  <a:srgbClr val="595959"/>
                </a:solidFill>
              </a:rPr>
              <a:t>Total_Sal</a:t>
            </a:r>
            <a:r>
              <a:rPr lang="en-US" altLang="en-US" sz="2000" dirty="0">
                <a:solidFill>
                  <a:srgbClr val="595959"/>
                </a:solidFill>
              </a:rPr>
              <a:t>, </a:t>
            </a:r>
            <a:r>
              <a:rPr lang="en-US" altLang="en-US" sz="2000" b="1" dirty="0">
                <a:solidFill>
                  <a:srgbClr val="595959"/>
                </a:solidFill>
              </a:rPr>
              <a:t>MAX</a:t>
            </a:r>
            <a:r>
              <a:rPr lang="en-US" altLang="en-US" sz="2000" dirty="0">
                <a:solidFill>
                  <a:srgbClr val="595959"/>
                </a:solidFill>
              </a:rPr>
              <a:t> (Salary) </a:t>
            </a:r>
            <a:r>
              <a:rPr lang="en-US" altLang="en-US" sz="2000" b="1" dirty="0">
                <a:solidFill>
                  <a:srgbClr val="595959"/>
                </a:solidFill>
              </a:rPr>
              <a:t>AS </a:t>
            </a:r>
            <a:r>
              <a:rPr lang="en-US" altLang="en-US" sz="2000" dirty="0" err="1" smtClean="0">
                <a:solidFill>
                  <a:srgbClr val="595959"/>
                </a:solidFill>
              </a:rPr>
              <a:t>Highest_Sal</a:t>
            </a:r>
            <a:r>
              <a:rPr lang="en-US" altLang="en-US" sz="2000" dirty="0">
                <a:solidFill>
                  <a:srgbClr val="595959"/>
                </a:solidFill>
              </a:rPr>
              <a:t>, </a:t>
            </a:r>
            <a:r>
              <a:rPr lang="en-US" altLang="en-US" sz="2000" b="1" dirty="0">
                <a:solidFill>
                  <a:srgbClr val="595959"/>
                </a:solidFill>
              </a:rPr>
              <a:t>MIN</a:t>
            </a:r>
            <a:r>
              <a:rPr lang="en-US" altLang="en-US" sz="2000" dirty="0">
                <a:solidFill>
                  <a:srgbClr val="595959"/>
                </a:solidFill>
              </a:rPr>
              <a:t> (Salary) </a:t>
            </a:r>
            <a:r>
              <a:rPr lang="en-US" altLang="en-US" sz="2000" b="1" dirty="0" smtClean="0">
                <a:solidFill>
                  <a:srgbClr val="595959"/>
                </a:solidFill>
              </a:rPr>
              <a:t>AS 	    </a:t>
            </a:r>
            <a:r>
              <a:rPr lang="en-US" altLang="en-US" sz="2000" dirty="0" err="1" smtClean="0">
                <a:solidFill>
                  <a:srgbClr val="595959"/>
                </a:solidFill>
              </a:rPr>
              <a:t>Lowest_Sal</a:t>
            </a:r>
            <a:r>
              <a:rPr lang="en-US" altLang="en-US" sz="2000" dirty="0">
                <a:solidFill>
                  <a:srgbClr val="595959"/>
                </a:solidFill>
              </a:rPr>
              <a:t>, </a:t>
            </a:r>
            <a:r>
              <a:rPr lang="en-US" altLang="en-US" sz="2000" b="1" dirty="0" smtClean="0">
                <a:solidFill>
                  <a:srgbClr val="595959"/>
                </a:solidFill>
              </a:rPr>
              <a:t>AVG</a:t>
            </a:r>
            <a:r>
              <a:rPr lang="en-US" altLang="en-US" sz="2000" dirty="0" smtClean="0">
                <a:solidFill>
                  <a:srgbClr val="595959"/>
                </a:solidFill>
              </a:rPr>
              <a:t>(Salary</a:t>
            </a:r>
            <a:r>
              <a:rPr lang="en-US" altLang="en-US" sz="2000" dirty="0">
                <a:solidFill>
                  <a:srgbClr val="595959"/>
                </a:solidFill>
              </a:rPr>
              <a:t>) </a:t>
            </a:r>
            <a:r>
              <a:rPr lang="en-US" altLang="en-US" sz="2000" b="1" dirty="0">
                <a:solidFill>
                  <a:srgbClr val="595959"/>
                </a:solidFill>
              </a:rPr>
              <a:t>AS </a:t>
            </a:r>
            <a:r>
              <a:rPr lang="en-US" altLang="en-US" sz="2000" dirty="0" err="1">
                <a:solidFill>
                  <a:srgbClr val="595959"/>
                </a:solidFill>
              </a:rPr>
              <a:t>Average_Sal</a:t>
            </a:r>
            <a:endParaRPr lang="en-US" altLang="en-US" sz="2000" dirty="0">
              <a:solidFill>
                <a:srgbClr val="595959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595959"/>
                </a:solidFill>
              </a:rPr>
              <a:t>	        </a:t>
            </a:r>
            <a:r>
              <a:rPr lang="en-US" altLang="en-US" sz="2000" dirty="0" smtClean="0">
                <a:solidFill>
                  <a:srgbClr val="595959"/>
                </a:solidFill>
              </a:rPr>
              <a:t>    </a:t>
            </a:r>
            <a:r>
              <a:rPr lang="en-US" altLang="en-US" sz="2000" b="1" dirty="0" smtClean="0">
                <a:solidFill>
                  <a:srgbClr val="595959"/>
                </a:solidFill>
              </a:rPr>
              <a:t>FROM</a:t>
            </a:r>
            <a:r>
              <a:rPr lang="en-US" altLang="en-US" sz="2000" dirty="0">
                <a:solidFill>
                  <a:srgbClr val="595959"/>
                </a:solidFill>
              </a:rPr>
              <a:t>	EMPLOYEE;</a:t>
            </a:r>
          </a:p>
          <a:p>
            <a:endParaRPr lang="en-US" altLang="en-US" sz="2000" dirty="0">
              <a:solidFill>
                <a:srgbClr val="595959"/>
              </a:solidFill>
            </a:endParaRPr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61882069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Aggregate Functions in SQL (cont’d.)</a:t>
            </a:r>
          </a:p>
        </p:txBody>
      </p:sp>
      <p:sp>
        <p:nvSpPr>
          <p:cNvPr id="3072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NULL values are discarded when aggregate functions are applied to a particular column</a:t>
            </a:r>
          </a:p>
          <a:p>
            <a:endParaRPr lang="en-US" altLang="en-US" smtClean="0"/>
          </a:p>
        </p:txBody>
      </p:sp>
      <p:pic>
        <p:nvPicPr>
          <p:cNvPr id="3072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4346" y="3241472"/>
            <a:ext cx="6072326" cy="2905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224802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Aggregate Functions on Booleans</a:t>
            </a:r>
          </a:p>
        </p:txBody>
      </p:sp>
      <p:sp>
        <p:nvSpPr>
          <p:cNvPr id="3174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SOME and ALL  may be applied as functions on Boolean Values.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SOME </a:t>
            </a:r>
            <a:r>
              <a:rPr lang="en-US" altLang="en-US" dirty="0" smtClean="0"/>
              <a:t>returns true if at least one element in the collection is TRUE (similar to OR)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ALL </a:t>
            </a:r>
            <a:r>
              <a:rPr lang="en-US" altLang="en-US" dirty="0" smtClean="0"/>
              <a:t>returns true if all of the elements in the collection are TRUE (similar to AND)</a:t>
            </a:r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53544353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Grouping: The GROUP BY Clause</a:t>
            </a:r>
          </a:p>
        </p:txBody>
      </p:sp>
      <p:sp>
        <p:nvSpPr>
          <p:cNvPr id="3277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b="1" dirty="0" smtClean="0"/>
              <a:t>Partition</a:t>
            </a:r>
            <a:r>
              <a:rPr lang="en-US" altLang="en-US" dirty="0" smtClean="0"/>
              <a:t> relation into subsets of tuples</a:t>
            </a:r>
          </a:p>
          <a:p>
            <a:pPr lvl="1"/>
            <a:r>
              <a:rPr lang="en-US" altLang="en-US" dirty="0" smtClean="0"/>
              <a:t>Based on </a:t>
            </a:r>
            <a:r>
              <a:rPr lang="en-US" altLang="en-US" b="1" dirty="0" smtClean="0"/>
              <a:t>grouping attribute(s)</a:t>
            </a:r>
          </a:p>
          <a:p>
            <a:pPr lvl="1"/>
            <a:r>
              <a:rPr lang="en-US" altLang="en-US" dirty="0" smtClean="0"/>
              <a:t>Apply function to each such group independently</a:t>
            </a:r>
          </a:p>
          <a:p>
            <a:endParaRPr lang="en-US" altLang="en-US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GROUP </a:t>
            </a:r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altLang="en-US" dirty="0" smtClean="0"/>
              <a:t>clause </a:t>
            </a:r>
          </a:p>
          <a:p>
            <a:pPr lvl="1"/>
            <a:r>
              <a:rPr lang="en-US" altLang="en-US" dirty="0" smtClean="0"/>
              <a:t>Specifies grouping attributes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COUNT </a:t>
            </a:r>
            <a:r>
              <a:rPr lang="en-US" altLang="en-US" dirty="0" smtClean="0"/>
              <a:t>(*) counts the number of rows in the group</a:t>
            </a:r>
          </a:p>
        </p:txBody>
      </p:sp>
    </p:spTree>
    <p:extLst>
      <p:ext uri="{BB962C8B-B14F-4D97-AF65-F5344CB8AC3E}">
        <p14:creationId xmlns:p14="http://schemas.microsoft.com/office/powerpoint/2010/main" val="113461286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Examples of GROUP BY</a:t>
            </a:r>
          </a:p>
        </p:txBody>
      </p:sp>
      <p:sp>
        <p:nvSpPr>
          <p:cNvPr id="3379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295401" y="2556932"/>
            <a:ext cx="9601196" cy="3586416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dirty="0"/>
              <a:t>The grouping attribute must appear in the SELECT clause: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 smtClean="0">
                <a:solidFill>
                  <a:srgbClr val="595959"/>
                </a:solidFill>
              </a:rPr>
              <a:t>	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 smtClean="0">
                <a:solidFill>
                  <a:srgbClr val="595959"/>
                </a:solidFill>
              </a:rPr>
              <a:t>	Q24</a:t>
            </a:r>
            <a:r>
              <a:rPr lang="en-US" altLang="en-US" sz="2000" b="1" dirty="0">
                <a:solidFill>
                  <a:srgbClr val="595959"/>
                </a:solidFill>
              </a:rPr>
              <a:t>:</a:t>
            </a:r>
            <a:r>
              <a:rPr lang="en-US" altLang="en-US" sz="2000" dirty="0">
                <a:solidFill>
                  <a:srgbClr val="595959"/>
                </a:solidFill>
              </a:rPr>
              <a:t>	</a:t>
            </a:r>
            <a:r>
              <a:rPr lang="en-US" altLang="en-US" sz="2000" b="1" dirty="0">
                <a:solidFill>
                  <a:srgbClr val="595959"/>
                </a:solidFill>
              </a:rPr>
              <a:t>SELECT</a:t>
            </a:r>
            <a:r>
              <a:rPr lang="en-US" altLang="en-US" sz="2000" dirty="0">
                <a:solidFill>
                  <a:srgbClr val="595959"/>
                </a:solidFill>
              </a:rPr>
              <a:t>	</a:t>
            </a:r>
            <a:r>
              <a:rPr lang="en-US" altLang="en-US" sz="2000" dirty="0" smtClean="0">
                <a:solidFill>
                  <a:srgbClr val="595959"/>
                </a:solidFill>
              </a:rPr>
              <a:t>	</a:t>
            </a:r>
            <a:r>
              <a:rPr lang="en-US" altLang="en-US" sz="2000" dirty="0" err="1" smtClean="0">
                <a:solidFill>
                  <a:srgbClr val="595959"/>
                </a:solidFill>
              </a:rPr>
              <a:t>Dno</a:t>
            </a:r>
            <a:r>
              <a:rPr lang="en-US" altLang="en-US" sz="2000" dirty="0">
                <a:solidFill>
                  <a:srgbClr val="595959"/>
                </a:solidFill>
              </a:rPr>
              <a:t>, </a:t>
            </a:r>
            <a:r>
              <a:rPr lang="en-US" altLang="en-US" sz="2000" dirty="0" smtClean="0">
                <a:solidFill>
                  <a:srgbClr val="595959"/>
                </a:solidFill>
              </a:rPr>
              <a:t> </a:t>
            </a:r>
            <a:r>
              <a:rPr lang="en-US" altLang="en-US" sz="2000" b="1" dirty="0" smtClean="0">
                <a:solidFill>
                  <a:srgbClr val="595959"/>
                </a:solidFill>
              </a:rPr>
              <a:t>COUNT</a:t>
            </a:r>
            <a:r>
              <a:rPr lang="en-US" altLang="en-US" sz="2000" dirty="0" smtClean="0">
                <a:solidFill>
                  <a:srgbClr val="595959"/>
                </a:solidFill>
              </a:rPr>
              <a:t> </a:t>
            </a:r>
            <a:r>
              <a:rPr lang="en-US" altLang="en-US" sz="2000" dirty="0">
                <a:solidFill>
                  <a:srgbClr val="595959"/>
                </a:solidFill>
              </a:rPr>
              <a:t>(*), </a:t>
            </a:r>
            <a:r>
              <a:rPr lang="en-US" altLang="en-US" sz="2000" dirty="0" smtClean="0">
                <a:solidFill>
                  <a:srgbClr val="595959"/>
                </a:solidFill>
              </a:rPr>
              <a:t>	</a:t>
            </a:r>
            <a:r>
              <a:rPr lang="en-US" altLang="en-US" sz="2000" b="1" dirty="0" smtClean="0">
                <a:solidFill>
                  <a:srgbClr val="595959"/>
                </a:solidFill>
              </a:rPr>
              <a:t>AVG</a:t>
            </a:r>
            <a:r>
              <a:rPr lang="en-US" altLang="en-US" sz="2000" dirty="0" smtClean="0">
                <a:solidFill>
                  <a:srgbClr val="595959"/>
                </a:solidFill>
              </a:rPr>
              <a:t> </a:t>
            </a:r>
            <a:r>
              <a:rPr lang="en-US" altLang="en-US" sz="2000" dirty="0">
                <a:solidFill>
                  <a:srgbClr val="595959"/>
                </a:solidFill>
              </a:rPr>
              <a:t>(Salary)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595959"/>
                </a:solidFill>
              </a:rPr>
              <a:t>		</a:t>
            </a:r>
            <a:r>
              <a:rPr lang="en-US" altLang="en-US" sz="2000" b="1" dirty="0">
                <a:solidFill>
                  <a:srgbClr val="595959"/>
                </a:solidFill>
              </a:rPr>
              <a:t>FROM</a:t>
            </a:r>
            <a:r>
              <a:rPr lang="en-US" altLang="en-US" sz="2000" dirty="0">
                <a:solidFill>
                  <a:srgbClr val="595959"/>
                </a:solidFill>
              </a:rPr>
              <a:t>	</a:t>
            </a:r>
            <a:r>
              <a:rPr lang="en-US" altLang="en-US" sz="2000" dirty="0" smtClean="0">
                <a:solidFill>
                  <a:srgbClr val="595959"/>
                </a:solidFill>
              </a:rPr>
              <a:t>	EMPLOYEE</a:t>
            </a:r>
            <a:endParaRPr lang="en-US" altLang="en-US" sz="2000" dirty="0">
              <a:solidFill>
                <a:srgbClr val="595959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595959"/>
                </a:solidFill>
              </a:rPr>
              <a:t>		</a:t>
            </a:r>
            <a:r>
              <a:rPr lang="en-US" altLang="en-US" sz="2000" b="1" dirty="0">
                <a:solidFill>
                  <a:srgbClr val="595959"/>
                </a:solidFill>
              </a:rPr>
              <a:t>GROUP BY</a:t>
            </a:r>
            <a:r>
              <a:rPr lang="en-US" altLang="en-US" sz="2000" dirty="0">
                <a:solidFill>
                  <a:srgbClr val="595959"/>
                </a:solidFill>
              </a:rPr>
              <a:t>	</a:t>
            </a:r>
            <a:r>
              <a:rPr lang="en-US" altLang="en-US" sz="2000" dirty="0" err="1">
                <a:solidFill>
                  <a:srgbClr val="595959"/>
                </a:solidFill>
              </a:rPr>
              <a:t>Dno</a:t>
            </a:r>
            <a:r>
              <a:rPr lang="en-US" altLang="en-US" sz="2000" dirty="0">
                <a:solidFill>
                  <a:srgbClr val="595959"/>
                </a:solidFill>
              </a:rPr>
              <a:t>;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If </a:t>
            </a:r>
            <a:r>
              <a:rPr lang="en-US" altLang="en-US" dirty="0"/>
              <a:t>the grouping attribute has NULL as a possible value, then a separate group is created for the null value (e.g., null </a:t>
            </a:r>
            <a:r>
              <a:rPr lang="en-US" altLang="en-US" dirty="0" err="1"/>
              <a:t>Dno</a:t>
            </a:r>
            <a:r>
              <a:rPr lang="en-US" altLang="en-US" dirty="0"/>
              <a:t> in the above query)</a:t>
            </a:r>
          </a:p>
          <a:p>
            <a:r>
              <a:rPr lang="en-US" altLang="en-US" dirty="0"/>
              <a:t>GROUP BY may be applied to the result of a JOIN: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800" b="1" dirty="0" smtClean="0">
              <a:solidFill>
                <a:srgbClr val="595959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 b="1" dirty="0" smtClean="0">
                <a:solidFill>
                  <a:srgbClr val="595959"/>
                </a:solidFill>
              </a:rPr>
              <a:t>	</a:t>
            </a:r>
            <a:r>
              <a:rPr lang="en-US" altLang="en-US" sz="1900" b="1" dirty="0" smtClean="0">
                <a:solidFill>
                  <a:srgbClr val="595959"/>
                </a:solidFill>
              </a:rPr>
              <a:t>Q25</a:t>
            </a:r>
            <a:r>
              <a:rPr lang="en-US" altLang="en-US" sz="1900" b="1" dirty="0">
                <a:solidFill>
                  <a:srgbClr val="595959"/>
                </a:solidFill>
              </a:rPr>
              <a:t>:</a:t>
            </a:r>
            <a:r>
              <a:rPr lang="en-US" altLang="en-US" sz="1900" dirty="0">
                <a:solidFill>
                  <a:srgbClr val="595959"/>
                </a:solidFill>
              </a:rPr>
              <a:t>	</a:t>
            </a:r>
            <a:r>
              <a:rPr lang="en-US" altLang="en-US" sz="1900" b="1" dirty="0" smtClean="0">
                <a:solidFill>
                  <a:srgbClr val="595959"/>
                </a:solidFill>
              </a:rPr>
              <a:t>SELECT</a:t>
            </a:r>
            <a:r>
              <a:rPr lang="en-US" altLang="en-US" sz="1900" dirty="0">
                <a:solidFill>
                  <a:srgbClr val="595959"/>
                </a:solidFill>
              </a:rPr>
              <a:t>		</a:t>
            </a:r>
            <a:r>
              <a:rPr lang="en-US" altLang="en-US" sz="1900" dirty="0" err="1">
                <a:solidFill>
                  <a:srgbClr val="595959"/>
                </a:solidFill>
              </a:rPr>
              <a:t>Pnumber</a:t>
            </a:r>
            <a:r>
              <a:rPr lang="en-US" altLang="en-US" sz="1900" dirty="0">
                <a:solidFill>
                  <a:srgbClr val="595959"/>
                </a:solidFill>
              </a:rPr>
              <a:t>, </a:t>
            </a:r>
            <a:r>
              <a:rPr lang="en-US" altLang="en-US" sz="1900" dirty="0" err="1">
                <a:solidFill>
                  <a:srgbClr val="595959"/>
                </a:solidFill>
              </a:rPr>
              <a:t>Pname</a:t>
            </a:r>
            <a:r>
              <a:rPr lang="en-US" altLang="en-US" sz="1900" dirty="0">
                <a:solidFill>
                  <a:srgbClr val="595959"/>
                </a:solidFill>
              </a:rPr>
              <a:t>, </a:t>
            </a:r>
            <a:r>
              <a:rPr lang="en-US" altLang="en-US" sz="1900" b="1" dirty="0">
                <a:solidFill>
                  <a:srgbClr val="595959"/>
                </a:solidFill>
              </a:rPr>
              <a:t>COUNT</a:t>
            </a:r>
            <a:r>
              <a:rPr lang="en-US" altLang="en-US" sz="1900" dirty="0">
                <a:solidFill>
                  <a:srgbClr val="595959"/>
                </a:solidFill>
              </a:rPr>
              <a:t> (*)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900" dirty="0">
                <a:solidFill>
                  <a:srgbClr val="595959"/>
                </a:solidFill>
              </a:rPr>
              <a:t>		</a:t>
            </a:r>
            <a:r>
              <a:rPr lang="en-US" altLang="en-US" sz="1900" b="1" dirty="0">
                <a:solidFill>
                  <a:srgbClr val="595959"/>
                </a:solidFill>
              </a:rPr>
              <a:t>FROM</a:t>
            </a:r>
            <a:r>
              <a:rPr lang="en-US" altLang="en-US" sz="1900" dirty="0">
                <a:solidFill>
                  <a:srgbClr val="595959"/>
                </a:solidFill>
              </a:rPr>
              <a:t>		PROJECT, WORKS_ON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900" dirty="0">
                <a:solidFill>
                  <a:srgbClr val="595959"/>
                </a:solidFill>
              </a:rPr>
              <a:t>		</a:t>
            </a:r>
            <a:r>
              <a:rPr lang="en-US" altLang="en-US" sz="1900" b="1" dirty="0">
                <a:solidFill>
                  <a:srgbClr val="595959"/>
                </a:solidFill>
              </a:rPr>
              <a:t>WHERE</a:t>
            </a:r>
            <a:r>
              <a:rPr lang="en-US" altLang="en-US" sz="1900" dirty="0">
                <a:solidFill>
                  <a:srgbClr val="595959"/>
                </a:solidFill>
              </a:rPr>
              <a:t>		</a:t>
            </a:r>
            <a:r>
              <a:rPr lang="en-US" altLang="en-US" sz="1900" dirty="0" err="1">
                <a:solidFill>
                  <a:srgbClr val="595959"/>
                </a:solidFill>
              </a:rPr>
              <a:t>Pnumber</a:t>
            </a:r>
            <a:r>
              <a:rPr lang="en-US" altLang="en-US" sz="1900" dirty="0">
                <a:solidFill>
                  <a:srgbClr val="595959"/>
                </a:solidFill>
              </a:rPr>
              <a:t>=</a:t>
            </a:r>
            <a:r>
              <a:rPr lang="en-US" altLang="en-US" sz="1900" dirty="0" err="1">
                <a:solidFill>
                  <a:srgbClr val="595959"/>
                </a:solidFill>
              </a:rPr>
              <a:t>Pno</a:t>
            </a:r>
            <a:endParaRPr lang="en-US" altLang="en-US" sz="1900" dirty="0">
              <a:solidFill>
                <a:srgbClr val="595959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900" dirty="0">
                <a:solidFill>
                  <a:srgbClr val="595959"/>
                </a:solidFill>
              </a:rPr>
              <a:t>		</a:t>
            </a:r>
            <a:r>
              <a:rPr lang="en-US" altLang="en-US" sz="1900" b="1" dirty="0">
                <a:solidFill>
                  <a:srgbClr val="595959"/>
                </a:solidFill>
              </a:rPr>
              <a:t>GROUP BY</a:t>
            </a:r>
            <a:r>
              <a:rPr lang="en-US" altLang="en-US" sz="1900" dirty="0">
                <a:solidFill>
                  <a:srgbClr val="595959"/>
                </a:solidFill>
              </a:rPr>
              <a:t>	</a:t>
            </a:r>
            <a:r>
              <a:rPr lang="en-US" altLang="en-US" sz="1900" dirty="0" smtClean="0">
                <a:solidFill>
                  <a:srgbClr val="595959"/>
                </a:solidFill>
              </a:rPr>
              <a:t>	</a:t>
            </a:r>
            <a:r>
              <a:rPr lang="en-US" altLang="en-US" sz="1900" dirty="0" err="1" smtClean="0">
                <a:solidFill>
                  <a:srgbClr val="595959"/>
                </a:solidFill>
              </a:rPr>
              <a:t>Pnumber</a:t>
            </a:r>
            <a:r>
              <a:rPr lang="en-US" altLang="en-US" sz="1900" dirty="0">
                <a:solidFill>
                  <a:srgbClr val="595959"/>
                </a:solidFill>
              </a:rPr>
              <a:t>, </a:t>
            </a:r>
            <a:r>
              <a:rPr lang="en-US" altLang="en-US" sz="1900" dirty="0" err="1">
                <a:solidFill>
                  <a:srgbClr val="595959"/>
                </a:solidFill>
              </a:rPr>
              <a:t>Pname</a:t>
            </a:r>
            <a:r>
              <a:rPr lang="en-US" altLang="en-US" sz="1900" dirty="0">
                <a:solidFill>
                  <a:srgbClr val="595959"/>
                </a:solidFill>
              </a:rPr>
              <a:t>;</a:t>
            </a:r>
          </a:p>
          <a:p>
            <a:endParaRPr lang="en-US" altLang="en-US" dirty="0"/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71878375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Grouping: The GROUP BY and HAVING Clauses (cont’d.)</a:t>
            </a:r>
          </a:p>
        </p:txBody>
      </p:sp>
      <p:sp>
        <p:nvSpPr>
          <p:cNvPr id="3481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  <a:r>
              <a:rPr lang="en-US" altLang="en-US" b="1" dirty="0" smtClean="0"/>
              <a:t> </a:t>
            </a:r>
            <a:r>
              <a:rPr lang="en-US" altLang="en-US" dirty="0" smtClean="0"/>
              <a:t>clause</a:t>
            </a:r>
          </a:p>
          <a:p>
            <a:pPr lvl="1"/>
            <a:r>
              <a:rPr lang="en-US" altLang="en-US" dirty="0" smtClean="0"/>
              <a:t>Provides a condition to select or reject an entire group</a:t>
            </a:r>
            <a:r>
              <a:rPr lang="en-US" altLang="en-US" dirty="0" smtClean="0"/>
              <a:t>:</a:t>
            </a:r>
          </a:p>
          <a:p>
            <a:pPr marL="539750" lvl="1" indent="0">
              <a:buNone/>
            </a:pPr>
            <a:endParaRPr lang="en-US" altLang="en-US" dirty="0" smtClean="0"/>
          </a:p>
          <a:p>
            <a:r>
              <a:rPr lang="en-US" altLang="en-US" sz="2000" b="1" dirty="0"/>
              <a:t>Query 26.</a:t>
            </a:r>
            <a:r>
              <a:rPr lang="en-US" altLang="en-US" sz="2000" dirty="0"/>
              <a:t> For each project </a:t>
            </a:r>
            <a:r>
              <a:rPr lang="en-US" altLang="en-US" sz="2000" i="1" dirty="0"/>
              <a:t>on which more than two employees work,</a:t>
            </a:r>
            <a:r>
              <a:rPr lang="en-US" altLang="en-US" sz="2000" dirty="0"/>
              <a:t> retrieve the project number, the project name, and the number of employees who work on the project.</a:t>
            </a:r>
          </a:p>
          <a:p>
            <a:endParaRPr lang="en-US" altLang="en-US" sz="16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 smtClean="0">
                <a:solidFill>
                  <a:srgbClr val="595959"/>
                </a:solidFill>
              </a:rPr>
              <a:t>Q26</a:t>
            </a:r>
            <a:r>
              <a:rPr lang="en-US" altLang="en-US" sz="2000" b="1" dirty="0">
                <a:solidFill>
                  <a:srgbClr val="595959"/>
                </a:solidFill>
              </a:rPr>
              <a:t>:</a:t>
            </a:r>
            <a:r>
              <a:rPr lang="en-US" altLang="en-US" sz="2000" dirty="0">
                <a:solidFill>
                  <a:srgbClr val="595959"/>
                </a:solidFill>
              </a:rPr>
              <a:t>	</a:t>
            </a:r>
            <a:r>
              <a:rPr lang="en-US" altLang="en-US" sz="2000" b="1" dirty="0">
                <a:solidFill>
                  <a:srgbClr val="595959"/>
                </a:solidFill>
              </a:rPr>
              <a:t>SELECT</a:t>
            </a:r>
            <a:r>
              <a:rPr lang="en-US" altLang="en-US" sz="2000" dirty="0">
                <a:solidFill>
                  <a:srgbClr val="595959"/>
                </a:solidFill>
              </a:rPr>
              <a:t>	</a:t>
            </a:r>
            <a:r>
              <a:rPr lang="en-US" altLang="en-US" sz="2000" dirty="0" err="1">
                <a:solidFill>
                  <a:srgbClr val="595959"/>
                </a:solidFill>
              </a:rPr>
              <a:t>Pnumber</a:t>
            </a:r>
            <a:r>
              <a:rPr lang="en-US" altLang="en-US" sz="2000" dirty="0">
                <a:solidFill>
                  <a:srgbClr val="595959"/>
                </a:solidFill>
              </a:rPr>
              <a:t>, </a:t>
            </a:r>
            <a:r>
              <a:rPr lang="en-US" altLang="en-US" sz="2000" dirty="0" err="1">
                <a:solidFill>
                  <a:srgbClr val="595959"/>
                </a:solidFill>
              </a:rPr>
              <a:t>Pname</a:t>
            </a:r>
            <a:r>
              <a:rPr lang="en-US" altLang="en-US" sz="2000" dirty="0">
                <a:solidFill>
                  <a:srgbClr val="595959"/>
                </a:solidFill>
              </a:rPr>
              <a:t>, </a:t>
            </a:r>
            <a:r>
              <a:rPr lang="en-US" altLang="en-US" sz="2000" b="1" dirty="0">
                <a:solidFill>
                  <a:srgbClr val="595959"/>
                </a:solidFill>
              </a:rPr>
              <a:t>COUNT</a:t>
            </a:r>
            <a:r>
              <a:rPr lang="en-US" altLang="en-US" sz="2000" dirty="0">
                <a:solidFill>
                  <a:srgbClr val="595959"/>
                </a:solidFill>
              </a:rPr>
              <a:t> (*)</a:t>
            </a:r>
            <a:endParaRPr lang="en-US" altLang="en-US" sz="1200" dirty="0">
              <a:solidFill>
                <a:srgbClr val="595959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595959"/>
                </a:solidFill>
              </a:rPr>
              <a:t>		</a:t>
            </a:r>
            <a:r>
              <a:rPr lang="en-US" altLang="en-US" sz="2000" b="1" dirty="0">
                <a:solidFill>
                  <a:srgbClr val="595959"/>
                </a:solidFill>
              </a:rPr>
              <a:t>FROM</a:t>
            </a:r>
            <a:r>
              <a:rPr lang="en-US" altLang="en-US" sz="2000" dirty="0">
                <a:solidFill>
                  <a:srgbClr val="595959"/>
                </a:solidFill>
              </a:rPr>
              <a:t>		PROJECT, WORKS_ON</a:t>
            </a:r>
            <a:endParaRPr lang="en-US" altLang="en-US" sz="1200" dirty="0">
              <a:solidFill>
                <a:srgbClr val="595959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595959"/>
                </a:solidFill>
              </a:rPr>
              <a:t>		</a:t>
            </a:r>
            <a:r>
              <a:rPr lang="en-US" altLang="en-US" sz="2000" b="1" dirty="0">
                <a:solidFill>
                  <a:srgbClr val="595959"/>
                </a:solidFill>
              </a:rPr>
              <a:t>WHERE</a:t>
            </a:r>
            <a:r>
              <a:rPr lang="en-US" altLang="en-US" sz="2000" dirty="0">
                <a:solidFill>
                  <a:srgbClr val="595959"/>
                </a:solidFill>
              </a:rPr>
              <a:t>	</a:t>
            </a:r>
            <a:r>
              <a:rPr lang="en-US" altLang="en-US" sz="2000" dirty="0" err="1">
                <a:solidFill>
                  <a:srgbClr val="595959"/>
                </a:solidFill>
              </a:rPr>
              <a:t>Pnumber</a:t>
            </a:r>
            <a:r>
              <a:rPr lang="en-US" altLang="en-US" sz="2000" dirty="0">
                <a:solidFill>
                  <a:srgbClr val="595959"/>
                </a:solidFill>
              </a:rPr>
              <a:t>=</a:t>
            </a:r>
            <a:r>
              <a:rPr lang="en-US" altLang="en-US" sz="2000" dirty="0" err="1">
                <a:solidFill>
                  <a:srgbClr val="595959"/>
                </a:solidFill>
              </a:rPr>
              <a:t>Pno</a:t>
            </a:r>
            <a:endParaRPr lang="en-US" altLang="en-US" sz="1200" dirty="0">
              <a:solidFill>
                <a:srgbClr val="595959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595959"/>
                </a:solidFill>
              </a:rPr>
              <a:t>		</a:t>
            </a:r>
            <a:r>
              <a:rPr lang="en-US" altLang="en-US" sz="2000" b="1" dirty="0">
                <a:solidFill>
                  <a:srgbClr val="595959"/>
                </a:solidFill>
              </a:rPr>
              <a:t>GROUP BY</a:t>
            </a:r>
            <a:r>
              <a:rPr lang="en-US" altLang="en-US" sz="2000" dirty="0">
                <a:solidFill>
                  <a:srgbClr val="595959"/>
                </a:solidFill>
              </a:rPr>
              <a:t>	</a:t>
            </a:r>
            <a:r>
              <a:rPr lang="en-US" altLang="en-US" sz="2000" dirty="0" err="1">
                <a:solidFill>
                  <a:srgbClr val="595959"/>
                </a:solidFill>
              </a:rPr>
              <a:t>Pnumber</a:t>
            </a:r>
            <a:r>
              <a:rPr lang="en-US" altLang="en-US" sz="2000" dirty="0">
                <a:solidFill>
                  <a:srgbClr val="595959"/>
                </a:solidFill>
              </a:rPr>
              <a:t>, </a:t>
            </a:r>
            <a:r>
              <a:rPr lang="en-US" altLang="en-US" sz="2000" dirty="0" err="1">
                <a:solidFill>
                  <a:srgbClr val="595959"/>
                </a:solidFill>
              </a:rPr>
              <a:t>Pname</a:t>
            </a:r>
            <a:endParaRPr lang="en-US" altLang="en-US" sz="1200" dirty="0">
              <a:solidFill>
                <a:srgbClr val="595959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595959"/>
                </a:solidFill>
              </a:rPr>
              <a:t>		</a:t>
            </a:r>
            <a:r>
              <a:rPr lang="en-US" altLang="en-US" sz="2000" b="1" dirty="0">
                <a:solidFill>
                  <a:srgbClr val="595959"/>
                </a:solidFill>
              </a:rPr>
              <a:t>HAVING</a:t>
            </a:r>
            <a:r>
              <a:rPr lang="en-US" altLang="en-US" sz="2000" dirty="0">
                <a:solidFill>
                  <a:srgbClr val="595959"/>
                </a:solidFill>
              </a:rPr>
              <a:t>	</a:t>
            </a:r>
            <a:r>
              <a:rPr lang="en-US" altLang="en-US" sz="2000" b="1" dirty="0">
                <a:solidFill>
                  <a:srgbClr val="595959"/>
                </a:solidFill>
              </a:rPr>
              <a:t>COUNT</a:t>
            </a:r>
            <a:r>
              <a:rPr lang="en-US" altLang="en-US" sz="2000" dirty="0">
                <a:solidFill>
                  <a:srgbClr val="595959"/>
                </a:solidFill>
              </a:rPr>
              <a:t> (*) &gt; 2;</a:t>
            </a:r>
            <a:endParaRPr lang="en-US" altLang="en-US" sz="1200" dirty="0">
              <a:solidFill>
                <a:srgbClr val="595959"/>
              </a:solidFill>
            </a:endParaRPr>
          </a:p>
          <a:p>
            <a:pPr lvl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73283269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EXPANDED Block Structure of SQL Queries</a:t>
            </a:r>
          </a:p>
        </p:txBody>
      </p:sp>
      <p:pic>
        <p:nvPicPr>
          <p:cNvPr id="378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2438400"/>
            <a:ext cx="6100763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258277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 noChangeArrowheads="1"/>
          </p:cNvSpPr>
          <p:nvPr>
            <p:ph type="title"/>
          </p:nvPr>
        </p:nvSpPr>
        <p:spPr>
          <a:xfrm>
            <a:off x="1989391" y="878150"/>
            <a:ext cx="8228013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Specifying Constraints as Assertions and Actions as Triggers</a:t>
            </a:r>
          </a:p>
        </p:txBody>
      </p:sp>
      <p:sp>
        <p:nvSpPr>
          <p:cNvPr id="3891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358283" y="2343704"/>
            <a:ext cx="9490230" cy="3785633"/>
          </a:xfrm>
        </p:spPr>
        <p:txBody>
          <a:bodyPr/>
          <a:lstStyle/>
          <a:p>
            <a:r>
              <a:rPr lang="en-US" altLang="en-US" dirty="0" smtClean="0"/>
              <a:t>Semantic Constraints: The following are beyond the scope of the EER and relational model </a:t>
            </a:r>
            <a:endParaRPr lang="en-US" altLang="en-US" dirty="0" smtClean="0"/>
          </a:p>
          <a:p>
            <a:pPr marL="53340" indent="0">
              <a:buNone/>
            </a:pPr>
            <a:endParaRPr lang="en-US" altLang="en-US" dirty="0" smtClean="0"/>
          </a:p>
          <a:p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CREATE ASSERTION</a:t>
            </a:r>
          </a:p>
          <a:p>
            <a:pPr lvl="1"/>
            <a:r>
              <a:rPr lang="en-US" altLang="en-US" dirty="0" smtClean="0"/>
              <a:t>Specify additional types of constraints outside scope of built-in relational model constraints</a:t>
            </a:r>
          </a:p>
          <a:p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CREATE TRIGGER</a:t>
            </a:r>
          </a:p>
          <a:p>
            <a:pPr lvl="1"/>
            <a:r>
              <a:rPr lang="en-US" altLang="en-US" dirty="0" smtClean="0"/>
              <a:t>Specify automatic actions that database system will perform when certain events and conditions occur</a:t>
            </a:r>
          </a:p>
        </p:txBody>
      </p:sp>
    </p:spTree>
    <p:extLst>
      <p:ext uri="{BB962C8B-B14F-4D97-AF65-F5344CB8AC3E}">
        <p14:creationId xmlns:p14="http://schemas.microsoft.com/office/powerpoint/2010/main" val="219699617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Specifying General Constraints as Assertions in SQL</a:t>
            </a:r>
          </a:p>
        </p:txBody>
      </p:sp>
      <p:sp>
        <p:nvSpPr>
          <p:cNvPr id="3993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CREATE ASSERTION </a:t>
            </a:r>
          </a:p>
          <a:p>
            <a:pPr lvl="1"/>
            <a:r>
              <a:rPr lang="en-US" altLang="en-US" smtClean="0"/>
              <a:t>Specify a query that selects any tuples that violate the desired condition</a:t>
            </a:r>
          </a:p>
          <a:p>
            <a:pPr lvl="1"/>
            <a:r>
              <a:rPr lang="en-US" altLang="en-US" smtClean="0"/>
              <a:t>Use only in cases where it goes beyond a simple </a:t>
            </a:r>
            <a:r>
              <a:rPr lang="en-US" alt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lang="en-US" altLang="en-US" smtClean="0"/>
              <a:t> which applies to individual attributes and domains</a:t>
            </a:r>
          </a:p>
        </p:txBody>
      </p:sp>
      <p:pic>
        <p:nvPicPr>
          <p:cNvPr id="3994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191000"/>
            <a:ext cx="63373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6018137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Views (Virtual Tables) in SQL</a:t>
            </a:r>
          </a:p>
        </p:txBody>
      </p:sp>
      <p:sp>
        <p:nvSpPr>
          <p:cNvPr id="4301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Concept of a view in SQL</a:t>
            </a:r>
          </a:p>
          <a:p>
            <a:pPr lvl="1"/>
            <a:r>
              <a:rPr lang="en-US" altLang="en-US" smtClean="0"/>
              <a:t>Single table derived from other tables called the </a:t>
            </a:r>
            <a:r>
              <a:rPr lang="en-US" altLang="en-US" b="1" smtClean="0"/>
              <a:t>defining tables</a:t>
            </a:r>
          </a:p>
          <a:p>
            <a:pPr lvl="1"/>
            <a:r>
              <a:rPr lang="en-US" altLang="en-US" smtClean="0"/>
              <a:t>Considered to be a virtual table that is not necessarily populated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9921808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Specification of Views in SQL</a:t>
            </a:r>
          </a:p>
        </p:txBody>
      </p:sp>
      <p:sp>
        <p:nvSpPr>
          <p:cNvPr id="4403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smtClean="0">
                <a:latin typeface="Courier New" panose="02070309020205020404" pitchFamily="49" charset="0"/>
                <a:cs typeface="Courier New" panose="02070309020205020404" pitchFamily="49" charset="0"/>
              </a:rPr>
              <a:t>CREATE VIEW</a:t>
            </a:r>
            <a:r>
              <a:rPr lang="en-US" altLang="en-US" smtClean="0"/>
              <a:t> command</a:t>
            </a:r>
          </a:p>
          <a:p>
            <a:pPr lvl="1"/>
            <a:r>
              <a:rPr lang="en-US" altLang="en-US" sz="2400"/>
              <a:t>Give table name, list of attribute names, and a query to specify the contents of the view</a:t>
            </a:r>
          </a:p>
          <a:p>
            <a:pPr lvl="1"/>
            <a:r>
              <a:rPr lang="en-US" altLang="en-US" sz="2400"/>
              <a:t>In V1, attributes retain the names from base tables. In V2, attributes are assigned names</a:t>
            </a:r>
          </a:p>
          <a:p>
            <a:pPr lvl="1"/>
            <a:endParaRPr lang="en-US" altLang="en-US" sz="2400"/>
          </a:p>
        </p:txBody>
      </p:sp>
      <p:pic>
        <p:nvPicPr>
          <p:cNvPr id="440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908" y="4350059"/>
            <a:ext cx="4757786" cy="1875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3948201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Specification of Views in SQL (cont’d.)</a:t>
            </a:r>
          </a:p>
        </p:txBody>
      </p:sp>
      <p:sp>
        <p:nvSpPr>
          <p:cNvPr id="4505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 smtClean="0"/>
              <a:t>Once a View is defined, SQL queries can use the View relation in the FROM clause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View </a:t>
            </a:r>
            <a:r>
              <a:rPr lang="en-US" altLang="en-US" dirty="0" smtClean="0"/>
              <a:t>is always up-to-date</a:t>
            </a:r>
          </a:p>
          <a:p>
            <a:pPr lvl="1"/>
            <a:r>
              <a:rPr lang="en-US" altLang="en-US" dirty="0" smtClean="0"/>
              <a:t>Responsibility of the DBMS and not the user </a:t>
            </a:r>
          </a:p>
          <a:p>
            <a:endParaRPr lang="en-US" altLang="en-US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DROP </a:t>
            </a:r>
            <a:r>
              <a:rPr lang="en-US" alt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VIEW </a:t>
            </a:r>
            <a:r>
              <a:rPr lang="en-US" altLang="en-US" dirty="0" smtClean="0"/>
              <a:t>command </a:t>
            </a:r>
          </a:p>
          <a:p>
            <a:pPr lvl="1"/>
            <a:r>
              <a:rPr lang="en-US" altLang="en-US" dirty="0" smtClean="0"/>
              <a:t>Dispose of a view</a:t>
            </a:r>
          </a:p>
        </p:txBody>
      </p:sp>
    </p:spTree>
    <p:extLst>
      <p:ext uri="{BB962C8B-B14F-4D97-AF65-F5344CB8AC3E}">
        <p14:creationId xmlns:p14="http://schemas.microsoft.com/office/powerpoint/2010/main" val="1629972489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Schema Change Statements in SQL</a:t>
            </a:r>
          </a:p>
        </p:txBody>
      </p:sp>
      <p:sp>
        <p:nvSpPr>
          <p:cNvPr id="5222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 smtClean="0"/>
              <a:t>Schema evolution commands </a:t>
            </a:r>
          </a:p>
          <a:p>
            <a:pPr lvl="1"/>
            <a:endParaRPr lang="en-US" altLang="en-US" dirty="0" smtClean="0"/>
          </a:p>
          <a:p>
            <a:pPr lvl="1"/>
            <a:r>
              <a:rPr lang="en-US" altLang="en-US" dirty="0" smtClean="0"/>
              <a:t>DBA </a:t>
            </a:r>
            <a:r>
              <a:rPr lang="en-US" altLang="en-US" dirty="0" smtClean="0"/>
              <a:t>may want to change the schema while the database is operational </a:t>
            </a:r>
          </a:p>
          <a:p>
            <a:pPr lvl="1"/>
            <a:r>
              <a:rPr lang="en-US" altLang="en-US" dirty="0" smtClean="0"/>
              <a:t>Does not require recompilation of the database schema</a:t>
            </a:r>
          </a:p>
        </p:txBody>
      </p:sp>
    </p:spTree>
    <p:extLst>
      <p:ext uri="{BB962C8B-B14F-4D97-AF65-F5344CB8AC3E}">
        <p14:creationId xmlns:p14="http://schemas.microsoft.com/office/powerpoint/2010/main" val="4195658081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DROP Command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D596CB61-0AF0-4935-B881-3EDB253F0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DROP </a:t>
            </a:r>
            <a:r>
              <a:rPr lang="en-US" altLang="en-US" dirty="0">
                <a:solidFill>
                  <a:schemeClr val="tx1"/>
                </a:solidFill>
                <a:ea typeface="MS PGothic" panose="020B0600070205080204" pitchFamily="34" charset="-128"/>
              </a:rPr>
              <a:t>command </a:t>
            </a:r>
          </a:p>
          <a:p>
            <a:pPr lvl="1">
              <a:defRPr/>
            </a:pPr>
            <a:r>
              <a:rPr lang="en-US" altLang="en-US" dirty="0">
                <a:solidFill>
                  <a:schemeClr val="tx1"/>
                </a:solidFill>
                <a:ea typeface="MS PGothic" panose="020B0600070205080204" pitchFamily="34" charset="-128"/>
              </a:rPr>
              <a:t>Used to drop named schema elements, such as tables, domains, or constraint</a:t>
            </a:r>
          </a:p>
          <a:p>
            <a:pPr>
              <a:defRPr/>
            </a:pPr>
            <a:r>
              <a:rPr lang="en-US" altLang="en-US" dirty="0">
                <a:solidFill>
                  <a:schemeClr val="tx1"/>
                </a:solidFill>
                <a:ea typeface="MS PGothic" panose="020B0600070205080204" pitchFamily="34" charset="-128"/>
              </a:rPr>
              <a:t>Drop behavior options: </a:t>
            </a:r>
          </a:p>
          <a:p>
            <a:pPr lvl="1">
              <a:defRPr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CASCADE </a:t>
            </a:r>
            <a:r>
              <a:rPr lang="en-US" altLang="en-US" dirty="0">
                <a:solidFill>
                  <a:schemeClr val="tx1"/>
                </a:solidFill>
                <a:ea typeface="MS PGothic" panose="020B0600070205080204" pitchFamily="34" charset="-128"/>
              </a:rPr>
              <a:t>and 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RESTRICT</a:t>
            </a:r>
          </a:p>
          <a:p>
            <a:pPr>
              <a:defRPr/>
            </a:pPr>
            <a:r>
              <a:rPr lang="en-US" altLang="en-US" dirty="0">
                <a:solidFill>
                  <a:schemeClr val="tx1"/>
                </a:solidFill>
                <a:ea typeface="MS PGothic" panose="020B0600070205080204" pitchFamily="34" charset="-128"/>
              </a:rPr>
              <a:t>Example:</a:t>
            </a:r>
          </a:p>
          <a:p>
            <a:pPr lvl="1">
              <a:defRPr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  <a:cs typeface="Courier New" panose="02070309020205020404" pitchFamily="49" charset="0"/>
              </a:rPr>
              <a:t>DROP SCHEMA COMPANY CASCADE;</a:t>
            </a:r>
          </a:p>
          <a:p>
            <a:pPr lvl="1">
              <a:defRPr/>
            </a:pPr>
            <a:r>
              <a:rPr lang="en-US" altLang="en-US" sz="2800" dirty="0">
                <a:solidFill>
                  <a:schemeClr val="tx1"/>
                </a:solidFill>
                <a:ea typeface="MS PGothic" panose="020B0600070205080204" pitchFamily="34" charset="-128"/>
                <a:cs typeface="+mn-cs"/>
              </a:rPr>
              <a:t>This removes the schema and all its elements including </a:t>
            </a:r>
            <a:r>
              <a:rPr lang="en-US" altLang="en-US" sz="2800" dirty="0" err="1">
                <a:solidFill>
                  <a:schemeClr val="tx1"/>
                </a:solidFill>
                <a:ea typeface="MS PGothic" panose="020B0600070205080204" pitchFamily="34" charset="-128"/>
                <a:cs typeface="+mn-cs"/>
              </a:rPr>
              <a:t>tables,views</a:t>
            </a:r>
            <a:r>
              <a:rPr lang="en-US" altLang="en-US" sz="2800" dirty="0">
                <a:solidFill>
                  <a:schemeClr val="tx1"/>
                </a:solidFill>
                <a:ea typeface="MS PGothic" panose="020B0600070205080204" pitchFamily="34" charset="-128"/>
                <a:cs typeface="+mn-cs"/>
              </a:rPr>
              <a:t>, constraints, etc.</a:t>
            </a:r>
          </a:p>
        </p:txBody>
      </p:sp>
    </p:spTree>
    <p:extLst>
      <p:ext uri="{BB962C8B-B14F-4D97-AF65-F5344CB8AC3E}">
        <p14:creationId xmlns:p14="http://schemas.microsoft.com/office/powerpoint/2010/main" val="1173362006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ALTER table command</a:t>
            </a:r>
          </a:p>
        </p:txBody>
      </p:sp>
      <p:sp>
        <p:nvSpPr>
          <p:cNvPr id="5427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748902" y="2219416"/>
            <a:ext cx="8385700" cy="3876583"/>
          </a:xfrm>
        </p:spPr>
        <p:txBody>
          <a:bodyPr/>
          <a:lstStyle/>
          <a:p>
            <a:r>
              <a:rPr lang="en-US" altLang="en-US" b="1" dirty="0" smtClean="0"/>
              <a:t>Alter table actions </a:t>
            </a:r>
            <a:r>
              <a:rPr lang="en-US" altLang="en-US" dirty="0" smtClean="0"/>
              <a:t>include:</a:t>
            </a:r>
          </a:p>
          <a:p>
            <a:pPr lvl="1"/>
            <a:r>
              <a:rPr lang="en-US" altLang="en-US" dirty="0" smtClean="0"/>
              <a:t>Adding or dropping a column (attribute)</a:t>
            </a:r>
          </a:p>
          <a:p>
            <a:pPr lvl="1"/>
            <a:r>
              <a:rPr lang="en-US" altLang="en-US" dirty="0" smtClean="0"/>
              <a:t>Changing a column definition</a:t>
            </a:r>
          </a:p>
          <a:p>
            <a:pPr lvl="1"/>
            <a:r>
              <a:rPr lang="en-US" altLang="en-US" dirty="0" smtClean="0"/>
              <a:t>Adding or dropping table constraints</a:t>
            </a:r>
          </a:p>
          <a:p>
            <a:r>
              <a:rPr lang="en-US" altLang="en-US" dirty="0" smtClean="0">
                <a:cs typeface="Courier New" panose="02070309020205020404" pitchFamily="49" charset="0"/>
              </a:rPr>
              <a:t>Example:</a:t>
            </a:r>
          </a:p>
          <a:p>
            <a:pPr lvl="1"/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ALTER TABLE COMPANY.EMPLOYEE ADD COLUMN Job VARCHAR(12);</a:t>
            </a:r>
          </a:p>
          <a:p>
            <a:pPr lvl="1"/>
            <a:endParaRPr lang="en-US" alt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61231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Adding and Dropping Constraints</a:t>
            </a:r>
          </a:p>
        </p:txBody>
      </p:sp>
      <p:sp>
        <p:nvSpPr>
          <p:cNvPr id="5529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Change constraints specified on a table </a:t>
            </a:r>
          </a:p>
          <a:p>
            <a:pPr lvl="1"/>
            <a:r>
              <a:rPr lang="en-US" altLang="en-US" smtClean="0"/>
              <a:t>Add or drop a named constraint</a:t>
            </a:r>
          </a:p>
          <a:p>
            <a:endParaRPr lang="en-US" altLang="en-US" smtClean="0"/>
          </a:p>
        </p:txBody>
      </p:sp>
      <p:pic>
        <p:nvPicPr>
          <p:cNvPr id="5530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043" y="3901012"/>
            <a:ext cx="600392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64518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smtClean="0">
                <a:latin typeface="Verdana" panose="020B0604030504040204" pitchFamily="34" charset="0"/>
              </a:rPr>
              <a:t>Table 7.2</a:t>
            </a:r>
            <a:r>
              <a:rPr lang="en-US" altLang="en-US" smtClean="0">
                <a:latin typeface="Verdana" panose="020B0604030504040204" pitchFamily="34" charset="0"/>
              </a:rPr>
              <a:t>   Summary of SQL Syntax</a:t>
            </a:r>
          </a:p>
        </p:txBody>
      </p:sp>
      <p:pic>
        <p:nvPicPr>
          <p:cNvPr id="57347" name="Picture 2" descr="tab07_02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474" y="2285999"/>
            <a:ext cx="7204229" cy="3878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3519067"/>
      </p:ext>
    </p:extLst>
  </p:cSld>
  <p:clrMapOvr>
    <a:masterClrMapping/>
  </p:clrMapOvr>
  <p:transition spd="med" advTm="0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smtClean="0">
                <a:latin typeface="Verdana" panose="020B0604030504040204" pitchFamily="34" charset="0"/>
              </a:rPr>
              <a:t>Table 7.2 (continued)</a:t>
            </a:r>
            <a:r>
              <a:rPr lang="en-US" altLang="en-US" smtClean="0">
                <a:latin typeface="Verdana" panose="020B0604030504040204" pitchFamily="34" charset="0"/>
              </a:rPr>
              <a:t>   Summary of SQL Syntax</a:t>
            </a:r>
          </a:p>
        </p:txBody>
      </p:sp>
      <p:pic>
        <p:nvPicPr>
          <p:cNvPr id="58371" name="Picture 2" descr="tab07_02b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369" y="2498478"/>
            <a:ext cx="7671261" cy="3258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8320796"/>
      </p:ext>
    </p:extLst>
  </p:cSld>
  <p:clrMapOvr>
    <a:masterClrMapping/>
  </p:clrMapOvr>
  <p:transition spd="med" advTm="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rganic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</TotalTime>
  <Words>1543</Words>
  <Application>Microsoft Office PowerPoint</Application>
  <PresentationFormat>Widescreen</PresentationFormat>
  <Paragraphs>211</Paragraphs>
  <Slides>35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MS PGothic</vt:lpstr>
      <vt:lpstr>Wingdings</vt:lpstr>
      <vt:lpstr>Courier New</vt:lpstr>
      <vt:lpstr>Garamond</vt:lpstr>
      <vt:lpstr>MS PGothic</vt:lpstr>
      <vt:lpstr>Tahoma</vt:lpstr>
      <vt:lpstr>Verdana</vt:lpstr>
      <vt:lpstr>Organic</vt:lpstr>
      <vt:lpstr>Database Systems (CS2005)</vt:lpstr>
      <vt:lpstr>PowerPoint Presentation</vt:lpstr>
      <vt:lpstr>More Complex SQL Retrieval Queries</vt:lpstr>
      <vt:lpstr>Comparisons Involving NULL and Three-Valued Logic (cont’d.)</vt:lpstr>
      <vt:lpstr>Nested Queries, Tuples, and Set/Multiset Comparisons</vt:lpstr>
      <vt:lpstr>Nested Queries (cont’d.)</vt:lpstr>
      <vt:lpstr>Nested Queries (cont’d.)</vt:lpstr>
      <vt:lpstr>Nested Queries (cont’d.)</vt:lpstr>
      <vt:lpstr>Nested Queries (cont’d.)</vt:lpstr>
      <vt:lpstr>Correlated Nested Queries</vt:lpstr>
      <vt:lpstr>Explicit Sets and Renaming of Attributes in SQL</vt:lpstr>
      <vt:lpstr>Specifying Joined Tables in the FROM Clause of SQL</vt:lpstr>
      <vt:lpstr>Different Types of JOINed Tables  in SQL</vt:lpstr>
      <vt:lpstr>NATURAL JOIN</vt:lpstr>
      <vt:lpstr>INNER and OUTER Joins</vt:lpstr>
      <vt:lpstr>Joins (All Together)</vt:lpstr>
      <vt:lpstr>Aggregate Functions in SQL</vt:lpstr>
      <vt:lpstr>Renaming Results of Aggregation</vt:lpstr>
      <vt:lpstr>Aggregate Functions in SQL (cont’d.)</vt:lpstr>
      <vt:lpstr>Aggregate Functions on Booleans</vt:lpstr>
      <vt:lpstr>Grouping: The GROUP BY Clause</vt:lpstr>
      <vt:lpstr>Examples of GROUP BY</vt:lpstr>
      <vt:lpstr>Grouping: The GROUP BY and HAVING Clauses (cont’d.)</vt:lpstr>
      <vt:lpstr>EXPANDED Block Structure of SQL Queries</vt:lpstr>
      <vt:lpstr>Specifying Constraints as Assertions and Actions as Triggers</vt:lpstr>
      <vt:lpstr>Specifying General Constraints as Assertions in SQL</vt:lpstr>
      <vt:lpstr>Views (Virtual Tables) in SQL</vt:lpstr>
      <vt:lpstr>Specification of Views in SQL</vt:lpstr>
      <vt:lpstr>Specification of Views in SQL (cont’d.)</vt:lpstr>
      <vt:lpstr>Schema Change Statements in SQL</vt:lpstr>
      <vt:lpstr>The DROP Command</vt:lpstr>
      <vt:lpstr>The ALTER table command</vt:lpstr>
      <vt:lpstr>Adding and Dropping Constraints</vt:lpstr>
      <vt:lpstr>Table 7.2   Summary of SQL Syntax</vt:lpstr>
      <vt:lpstr>Table 7.2 (continued)   Summary of SQL Syntax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 (CS2005)</dc:title>
  <cp:lastModifiedBy>Fast</cp:lastModifiedBy>
  <cp:revision>116</cp:revision>
  <dcterms:modified xsi:type="dcterms:W3CDTF">2024-09-18T03:54:53Z</dcterms:modified>
</cp:coreProperties>
</file>