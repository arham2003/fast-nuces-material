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60" r:id="rId5"/>
    <p:sldId id="261" r:id="rId6"/>
    <p:sldId id="262" r:id="rId7"/>
    <p:sldId id="263" r:id="rId8"/>
    <p:sldId id="264" r:id="rId9"/>
    <p:sldId id="265" r:id="rId10"/>
    <p:sldId id="271"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514"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DCAF8-6132-4AFA-84C8-FEBDD629B8ED}" type="datetimeFigureOut">
              <a:rPr lang="en-US" smtClean="0"/>
              <a:t>06-Mar-23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5344A-7FC2-4C60-BEBC-098D5C901883}" type="slidenum">
              <a:rPr lang="en-US" smtClean="0"/>
              <a:t>‹#›</a:t>
            </a:fld>
            <a:endParaRPr lang="en-US"/>
          </a:p>
        </p:txBody>
      </p:sp>
    </p:spTree>
    <p:extLst>
      <p:ext uri="{BB962C8B-B14F-4D97-AF65-F5344CB8AC3E}">
        <p14:creationId xmlns:p14="http://schemas.microsoft.com/office/powerpoint/2010/main" val="3734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D4A1AA9C-FF76-434B-8926-E16F0265748D}" type="datetimeFigureOut">
              <a:rPr lang="en-PK" smtClean="0"/>
              <a:t>03/06/2023</a:t>
            </a:fld>
            <a:endParaRPr lang="en-PK"/>
          </a:p>
        </p:txBody>
      </p:sp>
    </p:spTree>
    <p:extLst>
      <p:ext uri="{BB962C8B-B14F-4D97-AF65-F5344CB8AC3E}">
        <p14:creationId xmlns:p14="http://schemas.microsoft.com/office/powerpoint/2010/main" val="65225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a:t>Click to edit Master title style</a:t>
            </a:r>
            <a:endParaRPr lang="en-US" dirty="0"/>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a:cs typeface="Calibri"/>
              </a:rPr>
              <a:t>Click to edit Master subtitle style</a:t>
            </a:r>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r>
              <a:rPr lang="en-US"/>
              <a:t>Click icon to add picture</a:t>
            </a:r>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dirty="0">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592941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PK"/>
          </a:p>
        </p:txBody>
      </p:sp>
      <p:sp>
        <p:nvSpPr>
          <p:cNvPr id="4" name="Date Placeholder 3"/>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6" name="Slide Number Placeholder 5"/>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648449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r>
              <a:rPr lang="en-US"/>
              <a:t>Click icon to add picture</a:t>
            </a:r>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r>
              <a:rPr lang="en-US"/>
              <a:t>Click icon to add picture</a:t>
            </a:r>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endParaRPr lang="en-PK"/>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r>
              <a:rPr lang="en-US"/>
              <a:t>Click icon to add picture</a:t>
            </a:r>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p:ph type="sldNum" sz="quarter" idx="12"/>
          </p:nvPr>
        </p:nvSpPr>
        <p:spPr>
          <a:xfrm>
            <a:off x="10537721" y="6286556"/>
            <a:ext cx="838200" cy="365760"/>
          </a:xfrm>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20250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7DDF1FF2-5B9A-4BE9-AD3C-F215F0D25F7A}"/>
              </a:ext>
            </a:extLst>
          </p:cNvPr>
          <p:cNvSpPr/>
          <p:nvPr/>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a:solidFill>
                  <a:schemeClr val="tx1"/>
                </a:solidFill>
              </a:rPr>
              <a:t>Click to edit Master subtitle style</a:t>
            </a:r>
            <a:endParaRPr lang="en-US" dirty="0">
              <a:solidFill>
                <a:schemeClr val="tx1"/>
              </a:solidFill>
            </a:endParaRPr>
          </a:p>
        </p:txBody>
      </p:sp>
      <p:sp>
        <p:nvSpPr>
          <p:cNvPr id="10" name="Date Placeholder 17">
            <a:extLst>
              <a:ext uri="{FF2B5EF4-FFF2-40B4-BE49-F238E27FC236}">
                <a16:creationId xmlns:a16="http://schemas.microsoft.com/office/drawing/2014/main" id="{ABF19E1F-D7E9-4D44-9873-8D8DDC338F7E}"/>
              </a:ext>
            </a:extLst>
          </p:cNvPr>
          <p:cNvSpPr txBox="1">
            <a:spLocks/>
          </p:cNvSpPr>
          <p:nvPr/>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90437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a:t>Click to edit Master title style</a:t>
            </a:r>
            <a:endParaRPr lang="en-US" dirty="0"/>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r>
              <a:rPr lang="en-US" sz="1800">
                <a:solidFill>
                  <a:schemeClr val="bg1">
                    <a:lumMod val="85000"/>
                    <a:lumOff val="15000"/>
                  </a:schemeClr>
                </a:solidFill>
              </a:rPr>
              <a:t>Click to edit Master subtitle style</a:t>
            </a:r>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r>
              <a:rPr lang="en-US"/>
              <a:t>Click icon to add picture</a:t>
            </a:r>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r>
              <a:rPr lang="en-US"/>
              <a:t>Click icon to add picture</a:t>
            </a:r>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4015796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3B9F23A9-0519-4A39-A9F9-F965C17D58A0}"/>
              </a:ext>
            </a:extLst>
          </p:cNvPr>
          <p:cNvSpPr/>
          <p:nvPr/>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r>
              <a:rPr lang="en-US"/>
              <a:t>Click icon to add picture</a:t>
            </a:r>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261982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a:t>Click to edit Master title style</a:t>
            </a:r>
            <a:endParaRPr lang="en-US" dirty="0"/>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fld id="{D4A1AA9C-FF76-434B-8926-E16F0265748D}" type="datetimeFigureOut">
              <a:rPr lang="en-PK" smtClean="0"/>
              <a:t>03/06/2023</a:t>
            </a:fld>
            <a:endParaRPr lang="en-PK"/>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dirty="0">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r>
              <a:rPr lang="en-US"/>
              <a:t>Click icon to add picture</a:t>
            </a:r>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r>
              <a:rPr lang="en-US"/>
              <a:t>Click icon to add picture</a:t>
            </a:r>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86556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a:t>Click to edit Master title style</a:t>
            </a:r>
            <a:endParaRPr lang="en-US" dirty="0"/>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fld id="{D4A1AA9C-FF76-434B-8926-E16F0265748D}" type="datetimeFigureOut">
              <a:rPr lang="en-PK" smtClean="0"/>
              <a:t>03/06/2023</a:t>
            </a:fld>
            <a:endParaRPr lang="en-PK"/>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a:t>Click to edit Master text styles</a:t>
            </a:r>
          </a:p>
          <a:p>
            <a:pPr lvl="1"/>
            <a:r>
              <a:rPr lang="en-US"/>
              <a:t>Second level</a:t>
            </a:r>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endParaRPr lang="en-PK"/>
          </a:p>
        </p:txBody>
      </p:sp>
    </p:spTree>
    <p:extLst>
      <p:ext uri="{BB962C8B-B14F-4D97-AF65-F5344CB8AC3E}">
        <p14:creationId xmlns:p14="http://schemas.microsoft.com/office/powerpoint/2010/main" val="994767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413968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PK"/>
          </a:p>
        </p:txBody>
      </p:sp>
      <p:sp>
        <p:nvSpPr>
          <p:cNvPr id="7" name="Date Placeholder 6"/>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9" name="Slide Number Placeholder 8"/>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671099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PK"/>
          </a:p>
        </p:txBody>
      </p:sp>
      <p:sp>
        <p:nvSpPr>
          <p:cNvPr id="7" name="Date Placeholder 6"/>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9" name="Slide Number Placeholder 8"/>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8628488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2876649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4A1AA9C-FF76-434B-8926-E16F0265748D}" type="datetimeFigureOut">
              <a:rPr lang="en-PK" smtClean="0"/>
              <a:t>03/06/2023</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948D9D24-C8CB-41A2-8904-9EF467DEB63C}" type="slidenum">
              <a:rPr lang="en-PK" smtClean="0"/>
              <a:t>‹#›</a:t>
            </a:fld>
            <a:endParaRPr lang="en-PK"/>
          </a:p>
        </p:txBody>
      </p:sp>
    </p:spTree>
    <p:extLst>
      <p:ext uri="{BB962C8B-B14F-4D97-AF65-F5344CB8AC3E}">
        <p14:creationId xmlns:p14="http://schemas.microsoft.com/office/powerpoint/2010/main" val="4151057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D4A1AA9C-FF76-434B-8926-E16F0265748D}" type="datetimeFigureOut">
              <a:rPr lang="en-PK" smtClean="0"/>
              <a:t>03/06/2023</a:t>
            </a:fld>
            <a:endParaRPr lang="en-PK"/>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PK"/>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948D9D24-C8CB-41A2-8904-9EF467DEB63C}" type="slidenum">
              <a:rPr lang="en-PK" smtClean="0"/>
              <a:t>‹#›</a:t>
            </a:fld>
            <a:endParaRPr lang="en-PK"/>
          </a:p>
        </p:txBody>
      </p:sp>
    </p:spTree>
    <p:extLst>
      <p:ext uri="{BB962C8B-B14F-4D97-AF65-F5344CB8AC3E}">
        <p14:creationId xmlns:p14="http://schemas.microsoft.com/office/powerpoint/2010/main" val="768482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D4A1AA9C-FF76-434B-8926-E16F0265748D}" type="datetimeFigureOut">
              <a:rPr lang="en-PK" smtClean="0"/>
              <a:t>03/06/2023</a:t>
            </a:fld>
            <a:endParaRPr lang="en-PK"/>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PK"/>
          </a:p>
        </p:txBody>
      </p:sp>
      <p:sp>
        <p:nvSpPr>
          <p:cNvPr id="7" name="Slide Number Placeholder 6"/>
          <p:cNvSpPr>
            <a:spLocks noGrp="1"/>
          </p:cNvSpPr>
          <p:nvPr>
            <p:ph type="sldNum" sz="quarter" idx="12"/>
          </p:nvPr>
        </p:nvSpPr>
        <p:spPr>
          <a:xfrm>
            <a:off x="10396728" y="6035040"/>
            <a:ext cx="1225296" cy="365760"/>
          </a:xfrm>
        </p:spPr>
        <p:txBody>
          <a:bodyPr/>
          <a:lstStyle/>
          <a:p>
            <a:fld id="{948D9D24-C8CB-41A2-8904-9EF467DEB63C}" type="slidenum">
              <a:rPr lang="en-PK" smtClean="0"/>
              <a:t>‹#›</a:t>
            </a:fld>
            <a:endParaRPr lang="en-PK"/>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9174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4A1AA9C-FF76-434B-8926-E16F0265748D}" type="datetimeFigureOut">
              <a:rPr lang="en-PK" smtClean="0"/>
              <a:t>03/06/2023</a:t>
            </a:fld>
            <a:endParaRPr lang="en-PK"/>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PK"/>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948D9D24-C8CB-41A2-8904-9EF467DEB63C}" type="slidenum">
              <a:rPr lang="en-PK" smtClean="0"/>
              <a:t>‹#›</a:t>
            </a:fld>
            <a:endParaRPr lang="en-PK"/>
          </a:p>
        </p:txBody>
      </p:sp>
    </p:spTree>
    <p:extLst>
      <p:ext uri="{BB962C8B-B14F-4D97-AF65-F5344CB8AC3E}">
        <p14:creationId xmlns:p14="http://schemas.microsoft.com/office/powerpoint/2010/main" val="3355603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Future Of Computer-Assisted Education - Techyv.com">
            <a:extLst>
              <a:ext uri="{FF2B5EF4-FFF2-40B4-BE49-F238E27FC236}">
                <a16:creationId xmlns:a16="http://schemas.microsoft.com/office/drawing/2014/main" id="{3D31651D-13EF-5436-568E-333224C3E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354" y="2869429"/>
            <a:ext cx="5007007" cy="22707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7E65AD-3C6E-8419-7C60-A2FA719185F5}"/>
              </a:ext>
            </a:extLst>
          </p:cNvPr>
          <p:cNvSpPr>
            <a:spLocks noGrp="1"/>
          </p:cNvSpPr>
          <p:nvPr>
            <p:ph type="ctrTitle"/>
          </p:nvPr>
        </p:nvSpPr>
        <p:spPr>
          <a:xfrm>
            <a:off x="1827320" y="1983444"/>
            <a:ext cx="8657208" cy="885985"/>
          </a:xfrm>
        </p:spPr>
        <p:txBody>
          <a:bodyPr>
            <a:normAutofit/>
          </a:bodyPr>
          <a:lstStyle/>
          <a:p>
            <a:r>
              <a:rPr lang="en-US" sz="3200" b="1" dirty="0">
                <a:effectLst/>
                <a:latin typeface="Calibri" panose="020F0502020204030204" pitchFamily="34" charset="0"/>
                <a:ea typeface="Calibri" panose="020F0502020204030204" pitchFamily="34" charset="0"/>
                <a:cs typeface="Times New Roman" panose="02020603050405020304" pitchFamily="18" charset="0"/>
              </a:rPr>
              <a:t>THE FUTURE OF COMPUTER-ASSISTED EDUCATION</a:t>
            </a:r>
            <a:endParaRPr lang="en-PK" sz="6000" dirty="0"/>
          </a:p>
        </p:txBody>
      </p:sp>
    </p:spTree>
    <p:extLst>
      <p:ext uri="{BB962C8B-B14F-4D97-AF65-F5344CB8AC3E}">
        <p14:creationId xmlns:p14="http://schemas.microsoft.com/office/powerpoint/2010/main" val="1480899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BD72-C0DF-1979-3EB2-C10AE312A67B}"/>
              </a:ext>
            </a:extLst>
          </p:cNvPr>
          <p:cNvSpPr>
            <a:spLocks noGrp="1"/>
          </p:cNvSpPr>
          <p:nvPr>
            <p:ph type="title"/>
          </p:nvPr>
        </p:nvSpPr>
        <p:spPr/>
        <p:txBody>
          <a:bodyPr/>
          <a:lstStyle/>
          <a:p>
            <a:r>
              <a:rPr lang="en-US" dirty="0"/>
              <a:t>ITINERARY</a:t>
            </a:r>
            <a:endParaRPr lang="en-PK" dirty="0"/>
          </a:p>
        </p:txBody>
      </p:sp>
      <p:sp>
        <p:nvSpPr>
          <p:cNvPr id="3" name="Content Placeholder 2">
            <a:extLst>
              <a:ext uri="{FF2B5EF4-FFF2-40B4-BE49-F238E27FC236}">
                <a16:creationId xmlns:a16="http://schemas.microsoft.com/office/drawing/2014/main" id="{0A65E05D-8F47-86E6-B234-22D6543A3AF1}"/>
              </a:ext>
            </a:extLst>
          </p:cNvPr>
          <p:cNvSpPr>
            <a:spLocks noGrp="1"/>
          </p:cNvSpPr>
          <p:nvPr>
            <p:ph idx="1"/>
          </p:nvPr>
        </p:nvSpPr>
        <p:spPr/>
        <p:txBody>
          <a:bodyPr>
            <a:normAutofit lnSpcReduction="10000"/>
          </a:bodyPr>
          <a:lstStyle/>
          <a:p>
            <a:pPr>
              <a:lnSpc>
                <a:spcPct val="107000"/>
              </a:lnSpc>
            </a:pPr>
            <a:r>
              <a:rPr lang="en-US" sz="1800" dirty="0">
                <a:latin typeface="Calibri" panose="020F0502020204030204" pitchFamily="34" charset="0"/>
                <a:ea typeface="Calibri" panose="020F0502020204030204" pitchFamily="34" charset="0"/>
                <a:cs typeface="Times New Roman" panose="02020603050405020304" pitchFamily="18" charset="0"/>
              </a:rPr>
              <a:t>W</a:t>
            </a:r>
            <a:r>
              <a:rPr lang="en-US" sz="1800" dirty="0">
                <a:effectLst/>
                <a:latin typeface="Calibri" panose="020F0502020204030204" pitchFamily="34" charset="0"/>
                <a:ea typeface="Calibri" panose="020F0502020204030204" pitchFamily="34" charset="0"/>
                <a:cs typeface="Times New Roman" panose="02020603050405020304" pitchFamily="18" charset="0"/>
              </a:rPr>
              <a:t>hat </a:t>
            </a:r>
            <a:r>
              <a:rPr lang="en-US" dirty="0">
                <a:latin typeface="Calibri" panose="020F0502020204030204" pitchFamily="34" charset="0"/>
                <a:ea typeface="Calibri" panose="020F0502020204030204" pitchFamily="34" charset="0"/>
                <a:cs typeface="Times New Roman" panose="02020603050405020304" pitchFamily="18" charset="0"/>
              </a:rPr>
              <a:t>is Computer-Assisted Education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effectLst/>
                <a:latin typeface="Calibri" panose="020F0502020204030204" pitchFamily="34" charset="0"/>
                <a:ea typeface="Calibri" panose="020F0502020204030204" pitchFamily="34" charset="0"/>
                <a:cs typeface="Times New Roman" panose="02020603050405020304" pitchFamily="18" charset="0"/>
              </a:rPr>
              <a:t> How does it work?</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 rise of online education</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Smart Classes</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Advantage and Disadvantage</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Findings</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Analysis</a:t>
            </a:r>
          </a:p>
          <a:p>
            <a:pPr>
              <a:lnSpc>
                <a:spcPct val="107000"/>
              </a:lnSpc>
              <a:spcAft>
                <a:spcPts val="800"/>
              </a:spcAft>
            </a:pPr>
            <a:r>
              <a:rPr lang="en-US" sz="1600" dirty="0"/>
              <a:t>KEY WORDS- Education, Teachers, Smart classes, Videos, Technology.</a:t>
            </a:r>
            <a:endParaRPr lang="en-PK"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PK" dirty="0"/>
          </a:p>
        </p:txBody>
      </p:sp>
    </p:spTree>
    <p:extLst>
      <p:ext uri="{BB962C8B-B14F-4D97-AF65-F5344CB8AC3E}">
        <p14:creationId xmlns:p14="http://schemas.microsoft.com/office/powerpoint/2010/main" val="4277598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918E7-1C0D-EFB2-ED04-9FD1BF487A65}"/>
              </a:ext>
            </a:extLst>
          </p:cNvPr>
          <p:cNvSpPr>
            <a:spLocks noGrp="1"/>
          </p:cNvSpPr>
          <p:nvPr>
            <p:ph type="title"/>
          </p:nvPr>
        </p:nvSpPr>
        <p:spPr>
          <a:xfrm>
            <a:off x="1066800" y="798990"/>
            <a:ext cx="10058400" cy="1304130"/>
          </a:xfrm>
        </p:spPr>
        <p:txBody>
          <a:bodyPr>
            <a:noAutofit/>
          </a:bodyPr>
          <a:lstStyle/>
          <a:p>
            <a:pPr algn="ctr"/>
            <a:r>
              <a:rPr lang="en-US" dirty="0">
                <a:ea typeface="Calibri" panose="020F0502020204030204" pitchFamily="34" charset="0"/>
                <a:cs typeface="Times New Roman" panose="02020603050405020304" pitchFamily="18" charset="0"/>
              </a:rPr>
              <a:t>What is Computer-Assisted Education</a:t>
            </a:r>
            <a:endParaRPr lang="en-PK" sz="4400" dirty="0"/>
          </a:p>
        </p:txBody>
      </p:sp>
      <p:sp>
        <p:nvSpPr>
          <p:cNvPr id="3" name="Content Placeholder 2">
            <a:extLst>
              <a:ext uri="{FF2B5EF4-FFF2-40B4-BE49-F238E27FC236}">
                <a16:creationId xmlns:a16="http://schemas.microsoft.com/office/drawing/2014/main" id="{880FD1DF-26E3-07C6-A980-CEE644D847C4}"/>
              </a:ext>
            </a:extLst>
          </p:cNvPr>
          <p:cNvSpPr>
            <a:spLocks noGrp="1"/>
          </p:cNvSpPr>
          <p:nvPr>
            <p:ph idx="1"/>
          </p:nvPr>
        </p:nvSpPr>
        <p:spPr/>
        <p:txBody>
          <a:bodyPr>
            <a:normAutofit/>
          </a:bodyPr>
          <a:lstStyle/>
          <a:p>
            <a:pPr algn="just"/>
            <a:r>
              <a:rPr lang="en-US" sz="3600" dirty="0"/>
              <a:t>U</a:t>
            </a:r>
            <a:r>
              <a:rPr lang="en-US" sz="3600" i="0" dirty="0">
                <a:effectLst/>
              </a:rPr>
              <a:t>ses technologies and doesn’t require human intervention. </a:t>
            </a:r>
          </a:p>
          <a:p>
            <a:pPr algn="just"/>
            <a:r>
              <a:rPr lang="en-US" sz="3600" dirty="0"/>
              <a:t>S</a:t>
            </a:r>
            <a:r>
              <a:rPr lang="en-US" sz="3600" i="0" dirty="0">
                <a:effectLst/>
              </a:rPr>
              <a:t>trategy to make teaching more sustainable.</a:t>
            </a:r>
          </a:p>
          <a:p>
            <a:pPr algn="just"/>
            <a:r>
              <a:rPr lang="en-US" sz="3600" i="0" dirty="0">
                <a:effectLst/>
              </a:rPr>
              <a:t>Provide access to educational resources and opportunities</a:t>
            </a:r>
            <a:r>
              <a:rPr lang="en-US" sz="3200" dirty="0">
                <a:latin typeface="arial" panose="020B0604020202020204" pitchFamily="34" charset="0"/>
              </a:rPr>
              <a:t>.</a:t>
            </a:r>
            <a:endParaRPr lang="en-US" b="0" i="0" dirty="0">
              <a:solidFill>
                <a:srgbClr val="202124"/>
              </a:solidFill>
              <a:effectLst/>
              <a:latin typeface="arial" panose="020B0604020202020204" pitchFamily="34" charset="0"/>
            </a:endParaRPr>
          </a:p>
          <a:p>
            <a:endParaRPr lang="en-PK" dirty="0"/>
          </a:p>
        </p:txBody>
      </p:sp>
    </p:spTree>
    <p:extLst>
      <p:ext uri="{BB962C8B-B14F-4D97-AF65-F5344CB8AC3E}">
        <p14:creationId xmlns:p14="http://schemas.microsoft.com/office/powerpoint/2010/main" val="1339629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94FA6B4-85B7-42FD-40A5-63F3CE074B0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6078" r="16078"/>
          <a:stretch>
            <a:fillRect/>
          </a:stretch>
        </p:blipFill>
        <p:spPr/>
      </p:pic>
      <p:sp>
        <p:nvSpPr>
          <p:cNvPr id="2" name="Title 1">
            <a:extLst>
              <a:ext uri="{FF2B5EF4-FFF2-40B4-BE49-F238E27FC236}">
                <a16:creationId xmlns:a16="http://schemas.microsoft.com/office/drawing/2014/main" id="{B8714A09-CF66-D7B1-2ECD-BA7AC24DD144}"/>
              </a:ext>
            </a:extLst>
          </p:cNvPr>
          <p:cNvSpPr>
            <a:spLocks noGrp="1"/>
          </p:cNvSpPr>
          <p:nvPr>
            <p:ph type="title"/>
          </p:nvPr>
        </p:nvSpPr>
        <p:spPr>
          <a:xfrm>
            <a:off x="8336132" y="457200"/>
            <a:ext cx="3525431" cy="995585"/>
          </a:xfrm>
        </p:spPr>
        <p:txBody>
          <a:bodyPr/>
          <a:lstStyle/>
          <a:p>
            <a:pPr algn="ctr"/>
            <a:r>
              <a:rPr lang="en-US" dirty="0"/>
              <a:t>How does It work</a:t>
            </a:r>
            <a:endParaRPr lang="en-PK" dirty="0"/>
          </a:p>
        </p:txBody>
      </p:sp>
      <p:sp>
        <p:nvSpPr>
          <p:cNvPr id="4" name="Text Placeholder 3">
            <a:extLst>
              <a:ext uri="{FF2B5EF4-FFF2-40B4-BE49-F238E27FC236}">
                <a16:creationId xmlns:a16="http://schemas.microsoft.com/office/drawing/2014/main" id="{60CFF969-57B8-9C95-8875-0166148F1561}"/>
              </a:ext>
            </a:extLst>
          </p:cNvPr>
          <p:cNvSpPr>
            <a:spLocks noGrp="1"/>
          </p:cNvSpPr>
          <p:nvPr>
            <p:ph type="body" sz="half" idx="2"/>
          </p:nvPr>
        </p:nvSpPr>
        <p:spPr>
          <a:xfrm>
            <a:off x="8336132" y="2386584"/>
            <a:ext cx="3285892" cy="3511296"/>
          </a:xfrm>
        </p:spPr>
        <p:txBody>
          <a:bodyPr/>
          <a:lstStyle/>
          <a:p>
            <a:pPr marL="285750" indent="-285750">
              <a:buFont typeface="Arial" panose="020B0604020202020204" pitchFamily="34" charset="0"/>
              <a:buChar char="•"/>
            </a:pPr>
            <a:r>
              <a:rPr lang="en-US" sz="1800" i="1" dirty="0">
                <a:solidFill>
                  <a:srgbClr val="374151"/>
                </a:solidFill>
                <a:effectLst/>
                <a:latin typeface="Söhne"/>
              </a:rPr>
              <a:t>Adaptive learning</a:t>
            </a:r>
          </a:p>
          <a:p>
            <a:pPr marL="285750" indent="-285750">
              <a:buFont typeface="Arial" panose="020B0604020202020204" pitchFamily="34" charset="0"/>
              <a:buChar char="•"/>
            </a:pPr>
            <a:r>
              <a:rPr lang="en-US" sz="1800" i="1" dirty="0">
                <a:solidFill>
                  <a:srgbClr val="374151"/>
                </a:solidFill>
                <a:effectLst/>
                <a:latin typeface="Söhne"/>
              </a:rPr>
              <a:t>Collaboration and communication</a:t>
            </a:r>
          </a:p>
          <a:p>
            <a:pPr marL="285750" indent="-285750">
              <a:buFont typeface="Arial" panose="020B0604020202020204" pitchFamily="34" charset="0"/>
              <a:buChar char="•"/>
            </a:pPr>
            <a:r>
              <a:rPr lang="en-US" sz="1800" i="1" dirty="0">
                <a:solidFill>
                  <a:srgbClr val="374151"/>
                </a:solidFill>
                <a:effectLst/>
                <a:latin typeface="Söhne"/>
              </a:rPr>
              <a:t>Feedback and assessment</a:t>
            </a:r>
            <a:endParaRPr lang="en-US" sz="1800" i="1" dirty="0">
              <a:solidFill>
                <a:srgbClr val="374151"/>
              </a:solidFill>
              <a:latin typeface="Söhne"/>
            </a:endParaRPr>
          </a:p>
          <a:p>
            <a:pPr marL="285750" indent="-285750">
              <a:buFont typeface="Arial" panose="020B0604020202020204" pitchFamily="34" charset="0"/>
              <a:buChar char="•"/>
            </a:pPr>
            <a:r>
              <a:rPr lang="en-US" sz="1800" i="1" dirty="0">
                <a:solidFill>
                  <a:srgbClr val="374151"/>
                </a:solidFill>
                <a:effectLst/>
                <a:latin typeface="Söhne"/>
              </a:rPr>
              <a:t>Access to resources</a:t>
            </a:r>
          </a:p>
          <a:p>
            <a:pPr marL="285750" indent="-285750">
              <a:buFont typeface="Arial" panose="020B0604020202020204" pitchFamily="34" charset="0"/>
              <a:buChar char="•"/>
            </a:pPr>
            <a:r>
              <a:rPr lang="en-US" sz="1800" i="1" dirty="0">
                <a:solidFill>
                  <a:srgbClr val="374151"/>
                </a:solidFill>
                <a:effectLst/>
                <a:latin typeface="Söhne"/>
              </a:rPr>
              <a:t>Delivery of content</a:t>
            </a:r>
            <a:endParaRPr lang="en-PK" sz="1800" i="1" dirty="0"/>
          </a:p>
          <a:p>
            <a:endParaRPr lang="en-PK" dirty="0"/>
          </a:p>
        </p:txBody>
      </p:sp>
    </p:spTree>
    <p:extLst>
      <p:ext uri="{BB962C8B-B14F-4D97-AF65-F5344CB8AC3E}">
        <p14:creationId xmlns:p14="http://schemas.microsoft.com/office/powerpoint/2010/main" val="287188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1FA2E4A-79C0-3109-6643-DAD0B3C97BDA}"/>
              </a:ext>
            </a:extLst>
          </p:cNvPr>
          <p:cNvPicPr>
            <a:picLocks noGrp="1" noChangeAspect="1"/>
          </p:cNvPicPr>
          <p:nvPr>
            <p:ph idx="1"/>
          </p:nvPr>
        </p:nvPicPr>
        <p:blipFill rotWithShape="1">
          <a:blip r:embed="rId2"/>
          <a:srcRect l="4515" t="3870" r="5537" b="3474"/>
          <a:stretch/>
        </p:blipFill>
        <p:spPr>
          <a:xfrm>
            <a:off x="982767" y="897307"/>
            <a:ext cx="10203678" cy="53069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27197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642A9-BEAA-166B-D690-C494534A577D}"/>
              </a:ext>
            </a:extLst>
          </p:cNvPr>
          <p:cNvSpPr>
            <a:spLocks noGrp="1"/>
          </p:cNvSpPr>
          <p:nvPr>
            <p:ph type="title"/>
          </p:nvPr>
        </p:nvSpPr>
        <p:spPr>
          <a:xfrm>
            <a:off x="1066800" y="642594"/>
            <a:ext cx="10058400" cy="1183030"/>
          </a:xfrm>
        </p:spPr>
        <p:txBody>
          <a:bodyPr>
            <a:normAutofit/>
          </a:bodyPr>
          <a:lstStyle/>
          <a:p>
            <a:pPr algn="ctr"/>
            <a:r>
              <a:rPr lang="en-US" sz="3600" dirty="0">
                <a:effectLst/>
                <a:ea typeface="Calibri" panose="020F0502020204030204" pitchFamily="34" charset="0"/>
                <a:cs typeface="Times New Roman" panose="02020603050405020304" pitchFamily="18" charset="0"/>
              </a:rPr>
              <a:t>THE RISE OF ONLINE EDUCATION</a:t>
            </a:r>
            <a:endParaRPr lang="en-PK" sz="6000" dirty="0"/>
          </a:p>
        </p:txBody>
      </p:sp>
      <p:sp>
        <p:nvSpPr>
          <p:cNvPr id="3" name="Content Placeholder 2">
            <a:extLst>
              <a:ext uri="{FF2B5EF4-FFF2-40B4-BE49-F238E27FC236}">
                <a16:creationId xmlns:a16="http://schemas.microsoft.com/office/drawing/2014/main" id="{7164D0AD-7F2F-25BE-1D1F-09F04B097A1D}"/>
              </a:ext>
            </a:extLst>
          </p:cNvPr>
          <p:cNvSpPr>
            <a:spLocks noGrp="1"/>
          </p:cNvSpPr>
          <p:nvPr>
            <p:ph idx="1"/>
          </p:nvPr>
        </p:nvSpPr>
        <p:spPr>
          <a:xfrm>
            <a:off x="838200" y="1825624"/>
            <a:ext cx="10515600" cy="4357061"/>
          </a:xfrm>
        </p:spPr>
        <p:txBody>
          <a:bodyPr>
            <a:normAutofit/>
          </a:bodyPr>
          <a:lstStyle/>
          <a:p>
            <a:r>
              <a:rPr lang="en-US" sz="2400" b="0" i="0" dirty="0">
                <a:effectLst/>
                <a:latin typeface="+mj-lt"/>
              </a:rPr>
              <a:t>Online learning has shown significant growth over the last decade. </a:t>
            </a:r>
          </a:p>
          <a:p>
            <a:r>
              <a:rPr lang="en-US" sz="2400" b="0" i="0" dirty="0">
                <a:effectLst/>
                <a:latin typeface="+mj-lt"/>
              </a:rPr>
              <a:t>Since the COVID-19 outbreak, online learning has become more centric in people's lives. </a:t>
            </a:r>
          </a:p>
          <a:p>
            <a:r>
              <a:rPr lang="en-US" sz="2400" b="0" i="0" dirty="0">
                <a:effectLst/>
                <a:latin typeface="+mj-lt"/>
              </a:rPr>
              <a:t>The pandemic has forced schools, and universities to remote working. </a:t>
            </a:r>
          </a:p>
          <a:p>
            <a:r>
              <a:rPr lang="en-US" sz="2400" b="0" i="0" dirty="0">
                <a:effectLst/>
                <a:latin typeface="+mj-lt"/>
              </a:rPr>
              <a:t>Research and Markets forecasts the online education market </a:t>
            </a:r>
            <a:r>
              <a:rPr lang="en-US" sz="2400" dirty="0">
                <a:latin typeface="+mj-lt"/>
              </a:rPr>
              <a:t>worth</a:t>
            </a:r>
            <a:r>
              <a:rPr lang="en-US" sz="2400" b="0" i="0" dirty="0">
                <a:effectLst/>
                <a:latin typeface="+mj-lt"/>
              </a:rPr>
              <a:t> $350 Billion by 2025.</a:t>
            </a:r>
          </a:p>
          <a:p>
            <a:r>
              <a:rPr lang="en-US" sz="2400" dirty="0">
                <a:latin typeface="+mj-lt"/>
              </a:rPr>
              <a:t>Numerous online learning platforms in the market:</a:t>
            </a:r>
          </a:p>
          <a:p>
            <a:pPr lvl="1">
              <a:buFont typeface="Wingdings" panose="05000000000000000000" pitchFamily="2" charset="2"/>
              <a:buChar char="Ø"/>
            </a:pPr>
            <a:r>
              <a:rPr lang="en-US" sz="2000" dirty="0">
                <a:latin typeface="+mj-lt"/>
              </a:rPr>
              <a:t>Udemy</a:t>
            </a:r>
          </a:p>
          <a:p>
            <a:pPr lvl="1">
              <a:buFont typeface="Wingdings" panose="05000000000000000000" pitchFamily="2" charset="2"/>
              <a:buChar char="Ø"/>
            </a:pPr>
            <a:r>
              <a:rPr lang="en-US" sz="2000" dirty="0">
                <a:latin typeface="+mj-lt"/>
              </a:rPr>
              <a:t>Coursera</a:t>
            </a:r>
          </a:p>
          <a:p>
            <a:pPr lvl="1">
              <a:buFont typeface="Wingdings" panose="05000000000000000000" pitchFamily="2" charset="2"/>
              <a:buChar char="Ø"/>
            </a:pPr>
            <a:r>
              <a:rPr lang="en-US" sz="2000" dirty="0">
                <a:latin typeface="+mj-lt"/>
              </a:rPr>
              <a:t>Lynda</a:t>
            </a:r>
            <a:endParaRPr lang="en-PK" sz="2000" dirty="0">
              <a:latin typeface="+mj-lt"/>
            </a:endParaRPr>
          </a:p>
        </p:txBody>
      </p:sp>
    </p:spTree>
    <p:extLst>
      <p:ext uri="{BB962C8B-B14F-4D97-AF65-F5344CB8AC3E}">
        <p14:creationId xmlns:p14="http://schemas.microsoft.com/office/powerpoint/2010/main" val="256232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chart showing the growth in online learning.">
            <a:extLst>
              <a:ext uri="{FF2B5EF4-FFF2-40B4-BE49-F238E27FC236}">
                <a16:creationId xmlns:a16="http://schemas.microsoft.com/office/drawing/2014/main" id="{91E23C12-7532-F7AF-0839-14CF38AA9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355" y="969885"/>
            <a:ext cx="10175289" cy="49182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190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he rise of online learning during the COVID-19 pandemic | World Economic  Forum">
            <a:extLst>
              <a:ext uri="{FF2B5EF4-FFF2-40B4-BE49-F238E27FC236}">
                <a16:creationId xmlns:a16="http://schemas.microsoft.com/office/drawing/2014/main" id="{5C77567E-A2A5-8D23-64E6-0AB5805020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147" b="8932"/>
          <a:stretch/>
        </p:blipFill>
        <p:spPr bwMode="auto">
          <a:xfrm>
            <a:off x="1781452" y="820023"/>
            <a:ext cx="8629095" cy="5217953"/>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56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FDC1D01-6DCF-EA2F-CD3F-3DCABD6F8EC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46960" y="749833"/>
            <a:ext cx="2190749" cy="16001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Content Placeholder 7">
            <a:extLst>
              <a:ext uri="{FF2B5EF4-FFF2-40B4-BE49-F238E27FC236}">
                <a16:creationId xmlns:a16="http://schemas.microsoft.com/office/drawing/2014/main" id="{BE9CD48A-D0F7-E0E9-B850-6F662A0E557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530956" y="681706"/>
            <a:ext cx="2857500" cy="160020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TextBox 9">
            <a:extLst>
              <a:ext uri="{FF2B5EF4-FFF2-40B4-BE49-F238E27FC236}">
                <a16:creationId xmlns:a16="http://schemas.microsoft.com/office/drawing/2014/main" id="{6D57981F-0296-9BA4-27FC-A816ACC94166}"/>
              </a:ext>
            </a:extLst>
          </p:cNvPr>
          <p:cNvSpPr txBox="1"/>
          <p:nvPr/>
        </p:nvSpPr>
        <p:spPr>
          <a:xfrm>
            <a:off x="517866" y="2630411"/>
            <a:ext cx="4648938" cy="2677656"/>
          </a:xfrm>
          <a:prstGeom prst="rect">
            <a:avLst/>
          </a:prstGeom>
          <a:noFill/>
        </p:spPr>
        <p:txBody>
          <a:bodyPr wrap="square" rtlCol="0">
            <a:spAutoFit/>
          </a:bodyPr>
          <a:lstStyle/>
          <a:p>
            <a:pPr marL="285750" indent="-285750">
              <a:buFont typeface="Courier New" panose="02070309020205020404" pitchFamily="49" charset="0"/>
              <a:buChar char="o"/>
            </a:pPr>
            <a:r>
              <a:rPr lang="en-US" sz="2400" dirty="0"/>
              <a:t>Platform to Bring teams together, reimagine workspaces, engage new audiences.</a:t>
            </a:r>
          </a:p>
          <a:p>
            <a:pPr marL="285750" indent="-285750">
              <a:buFont typeface="Courier New" panose="02070309020205020404" pitchFamily="49" charset="0"/>
              <a:buChar char="o"/>
            </a:pPr>
            <a:r>
              <a:rPr lang="en-US" sz="2400" dirty="0"/>
              <a:t>A platform for bringing students and teachers together. </a:t>
            </a:r>
          </a:p>
          <a:p>
            <a:pPr marL="285750" indent="-285750">
              <a:buFont typeface="Courier New" panose="02070309020205020404" pitchFamily="49" charset="0"/>
              <a:buChar char="o"/>
            </a:pPr>
            <a:r>
              <a:rPr lang="en-US" sz="2400" dirty="0"/>
              <a:t>Helps teachers and students to connect and collaborate together.</a:t>
            </a:r>
            <a:endParaRPr lang="en-US" dirty="0"/>
          </a:p>
        </p:txBody>
      </p:sp>
      <p:sp>
        <p:nvSpPr>
          <p:cNvPr id="11" name="TextBox 10">
            <a:extLst>
              <a:ext uri="{FF2B5EF4-FFF2-40B4-BE49-F238E27FC236}">
                <a16:creationId xmlns:a16="http://schemas.microsoft.com/office/drawing/2014/main" id="{60A39D08-1E71-E69A-546A-6E6B844CB2C1}"/>
              </a:ext>
            </a:extLst>
          </p:cNvPr>
          <p:cNvSpPr txBox="1"/>
          <p:nvPr/>
        </p:nvSpPr>
        <p:spPr>
          <a:xfrm>
            <a:off x="7025198" y="2630411"/>
            <a:ext cx="3869016" cy="2215991"/>
          </a:xfrm>
          <a:prstGeom prst="rect">
            <a:avLst/>
          </a:prstGeom>
          <a:noFill/>
        </p:spPr>
        <p:txBody>
          <a:bodyPr wrap="square" rtlCol="0">
            <a:spAutoFit/>
          </a:bodyPr>
          <a:lstStyle/>
          <a:p>
            <a:pPr marL="285750" indent="-285750">
              <a:buFont typeface="Courier New" panose="02070309020205020404" pitchFamily="49" charset="0"/>
              <a:buChar char="o"/>
            </a:pPr>
            <a:r>
              <a:rPr lang="en-US" sz="2400" dirty="0"/>
              <a:t>A platform made by Google, it helps connect school communities with classes, parent-teacher conferences and more.</a:t>
            </a:r>
          </a:p>
          <a:p>
            <a:pPr marL="285750" indent="-285750">
              <a:buFont typeface="Courier New" panose="02070309020205020404" pitchFamily="49" charset="0"/>
              <a:buChar char="o"/>
            </a:pPr>
            <a:endParaRPr lang="en-US" dirty="0"/>
          </a:p>
        </p:txBody>
      </p:sp>
    </p:spTree>
    <p:extLst>
      <p:ext uri="{BB962C8B-B14F-4D97-AF65-F5344CB8AC3E}">
        <p14:creationId xmlns:p14="http://schemas.microsoft.com/office/powerpoint/2010/main" val="978759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FA4671-869E-652F-E77D-5F9022190A0A}"/>
              </a:ext>
            </a:extLst>
          </p:cNvPr>
          <p:cNvPicPr>
            <a:picLocks noChangeAspect="1"/>
          </p:cNvPicPr>
          <p:nvPr/>
        </p:nvPicPr>
        <p:blipFill rotWithShape="1">
          <a:blip r:embed="rId2">
            <a:extLst>
              <a:ext uri="{28A0092B-C50C-407E-A947-70E740481C1C}">
                <a14:useLocalDpi xmlns:a14="http://schemas.microsoft.com/office/drawing/2010/main" val="0"/>
              </a:ext>
            </a:extLst>
          </a:blip>
          <a:srcRect r="7289" b="9233"/>
          <a:stretch/>
        </p:blipFill>
        <p:spPr>
          <a:xfrm>
            <a:off x="628153" y="870012"/>
            <a:ext cx="10935693" cy="52467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4721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0104-A744-EA1E-EC4F-97CB79318765}"/>
              </a:ext>
            </a:extLst>
          </p:cNvPr>
          <p:cNvSpPr>
            <a:spLocks noGrp="1"/>
          </p:cNvSpPr>
          <p:nvPr>
            <p:ph type="title"/>
          </p:nvPr>
        </p:nvSpPr>
        <p:spPr/>
        <p:txBody>
          <a:bodyPr>
            <a:normAutofit/>
          </a:bodyPr>
          <a:lstStyle/>
          <a:p>
            <a:pPr algn="ctr"/>
            <a:r>
              <a:rPr lang="en-US" dirty="0">
                <a:effectLst/>
                <a:ea typeface="Calibri" panose="020F0502020204030204" pitchFamily="34" charset="0"/>
                <a:cs typeface="Times New Roman" panose="02020603050405020304" pitchFamily="18" charset="0"/>
              </a:rPr>
              <a:t>Advantages</a:t>
            </a:r>
            <a:endParaRPr lang="en-PK" sz="7200" dirty="0"/>
          </a:p>
        </p:txBody>
      </p:sp>
      <p:sp>
        <p:nvSpPr>
          <p:cNvPr id="3" name="Content Placeholder 2">
            <a:extLst>
              <a:ext uri="{FF2B5EF4-FFF2-40B4-BE49-F238E27FC236}">
                <a16:creationId xmlns:a16="http://schemas.microsoft.com/office/drawing/2014/main" id="{D132C352-7C88-1FBE-7509-3F19C7B12637}"/>
              </a:ext>
            </a:extLst>
          </p:cNvPr>
          <p:cNvSpPr>
            <a:spLocks noGrp="1"/>
          </p:cNvSpPr>
          <p:nvPr>
            <p:ph idx="1"/>
          </p:nvPr>
        </p:nvSpPr>
        <p:spPr/>
        <p:txBody>
          <a:bodyPr>
            <a:normAutofit/>
          </a:bodyPr>
          <a:lstStyle/>
          <a:p>
            <a:pPr algn="just"/>
            <a:r>
              <a:rPr lang="en-US" sz="2400" dirty="0"/>
              <a:t>Helps the students to see their daily progress </a:t>
            </a:r>
          </a:p>
          <a:p>
            <a:pPr algn="just"/>
            <a:r>
              <a:rPr lang="en-US" sz="2400" dirty="0"/>
              <a:t>Helps the students understand the complex topic by breaking it down</a:t>
            </a:r>
          </a:p>
          <a:p>
            <a:pPr algn="just"/>
            <a:r>
              <a:rPr lang="en-US" sz="2400" dirty="0"/>
              <a:t>It is very interesting and students find it engaging </a:t>
            </a:r>
          </a:p>
          <a:p>
            <a:pPr algn="just"/>
            <a:r>
              <a:rPr lang="en-US" sz="2400" dirty="0"/>
              <a:t>It caters to the individual </a:t>
            </a:r>
          </a:p>
          <a:p>
            <a:pPr algn="just"/>
            <a:r>
              <a:rPr lang="en-US" sz="2400" dirty="0"/>
              <a:t>Promotes active interaction</a:t>
            </a:r>
          </a:p>
          <a:p>
            <a:pPr algn="just"/>
            <a:r>
              <a:rPr lang="en-US" sz="2400" dirty="0"/>
              <a:t>Flexible schedule</a:t>
            </a:r>
            <a:endParaRPr lang="en-PK" sz="2400" dirty="0"/>
          </a:p>
        </p:txBody>
      </p:sp>
    </p:spTree>
    <p:extLst>
      <p:ext uri="{BB962C8B-B14F-4D97-AF65-F5344CB8AC3E}">
        <p14:creationId xmlns:p14="http://schemas.microsoft.com/office/powerpoint/2010/main" val="221967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FDD6B-2521-B8FE-4CEA-AF5BF0EE5413}"/>
              </a:ext>
            </a:extLst>
          </p:cNvPr>
          <p:cNvSpPr>
            <a:spLocks noGrp="1"/>
          </p:cNvSpPr>
          <p:nvPr>
            <p:ph type="title"/>
          </p:nvPr>
        </p:nvSpPr>
        <p:spPr/>
        <p:txBody>
          <a:bodyPr/>
          <a:lstStyle/>
          <a:p>
            <a:pPr algn="ctr"/>
            <a:r>
              <a:rPr lang="en-US" dirty="0"/>
              <a:t>Disadvantage</a:t>
            </a:r>
            <a:endParaRPr lang="en-PK" dirty="0"/>
          </a:p>
        </p:txBody>
      </p:sp>
      <p:sp>
        <p:nvSpPr>
          <p:cNvPr id="3" name="Content Placeholder 2">
            <a:extLst>
              <a:ext uri="{FF2B5EF4-FFF2-40B4-BE49-F238E27FC236}">
                <a16:creationId xmlns:a16="http://schemas.microsoft.com/office/drawing/2014/main" id="{2215AFED-D1A9-546B-96EC-71C1E39D2E4F}"/>
              </a:ext>
            </a:extLst>
          </p:cNvPr>
          <p:cNvSpPr>
            <a:spLocks noGrp="1"/>
          </p:cNvSpPr>
          <p:nvPr>
            <p:ph idx="1"/>
          </p:nvPr>
        </p:nvSpPr>
        <p:spPr/>
        <p:txBody>
          <a:bodyPr>
            <a:normAutofit/>
          </a:bodyPr>
          <a:lstStyle/>
          <a:p>
            <a:r>
              <a:rPr lang="en-US" sz="2400" b="0" i="0" dirty="0">
                <a:solidFill>
                  <a:srgbClr val="202124"/>
                </a:solidFill>
                <a:effectLst/>
              </a:rPr>
              <a:t>Technology can be distracting</a:t>
            </a:r>
          </a:p>
          <a:p>
            <a:r>
              <a:rPr lang="en-US" sz="2400" b="0" i="0" dirty="0">
                <a:solidFill>
                  <a:srgbClr val="202124"/>
                </a:solidFill>
                <a:effectLst/>
              </a:rPr>
              <a:t>Less direct social interaction</a:t>
            </a:r>
          </a:p>
          <a:p>
            <a:r>
              <a:rPr lang="en-US" sz="2400" b="0" i="0" dirty="0">
                <a:solidFill>
                  <a:srgbClr val="202124"/>
                </a:solidFill>
                <a:effectLst/>
              </a:rPr>
              <a:t>It Can Be Expensive</a:t>
            </a:r>
          </a:p>
          <a:p>
            <a:r>
              <a:rPr lang="en-US" sz="2400" b="0" i="0" dirty="0">
                <a:solidFill>
                  <a:srgbClr val="202124"/>
                </a:solidFill>
                <a:effectLst/>
              </a:rPr>
              <a:t>Faster but less memorable learning</a:t>
            </a:r>
          </a:p>
        </p:txBody>
      </p:sp>
    </p:spTree>
    <p:extLst>
      <p:ext uri="{BB962C8B-B14F-4D97-AF65-F5344CB8AC3E}">
        <p14:creationId xmlns:p14="http://schemas.microsoft.com/office/powerpoint/2010/main" val="2829834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4CAA-CF00-4B1A-01A5-56316B9CFBAE}"/>
              </a:ext>
            </a:extLst>
          </p:cNvPr>
          <p:cNvSpPr>
            <a:spLocks noGrp="1"/>
          </p:cNvSpPr>
          <p:nvPr>
            <p:ph type="title"/>
          </p:nvPr>
        </p:nvSpPr>
        <p:spPr/>
        <p:txBody>
          <a:bodyPr>
            <a:noAutofit/>
          </a:bodyPr>
          <a:lstStyle/>
          <a:p>
            <a:r>
              <a:rPr lang="en-US" sz="4000" dirty="0"/>
              <a:t>Education is the passport to the future, for tomorrow belongs to those who prepare for it today.</a:t>
            </a:r>
          </a:p>
        </p:txBody>
      </p:sp>
      <p:sp>
        <p:nvSpPr>
          <p:cNvPr id="3" name="Text Placeholder 2">
            <a:extLst>
              <a:ext uri="{FF2B5EF4-FFF2-40B4-BE49-F238E27FC236}">
                <a16:creationId xmlns:a16="http://schemas.microsoft.com/office/drawing/2014/main" id="{0AE0B375-810E-2B61-1E75-29077DFFE9FE}"/>
              </a:ext>
            </a:extLst>
          </p:cNvPr>
          <p:cNvSpPr>
            <a:spLocks noGrp="1"/>
          </p:cNvSpPr>
          <p:nvPr>
            <p:ph type="body" sz="quarter" idx="15"/>
          </p:nvPr>
        </p:nvSpPr>
        <p:spPr/>
        <p:txBody>
          <a:bodyPr/>
          <a:lstStyle/>
          <a:p>
            <a:r>
              <a:rPr lang="en-US" dirty="0"/>
              <a:t>Malcolm X</a:t>
            </a:r>
          </a:p>
        </p:txBody>
      </p:sp>
      <p:pic>
        <p:nvPicPr>
          <p:cNvPr id="24" name="Picture Placeholder 23">
            <a:extLst>
              <a:ext uri="{FF2B5EF4-FFF2-40B4-BE49-F238E27FC236}">
                <a16:creationId xmlns:a16="http://schemas.microsoft.com/office/drawing/2014/main" id="{090C01DC-743D-ABEE-360A-41801151B55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306" r="30306"/>
          <a:stretch>
            <a:fillRect/>
          </a:stretch>
        </p:blipFill>
        <p:spPr/>
      </p:pic>
      <p:pic>
        <p:nvPicPr>
          <p:cNvPr id="28" name="Picture Placeholder 27">
            <a:extLst>
              <a:ext uri="{FF2B5EF4-FFF2-40B4-BE49-F238E27FC236}">
                <a16:creationId xmlns:a16="http://schemas.microsoft.com/office/drawing/2014/main" id="{50B56106-E9C2-7961-996B-80C68B58CDBA}"/>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30385" r="30385"/>
          <a:stretch>
            <a:fillRect/>
          </a:stretch>
        </p:blipFill>
        <p:spPr/>
      </p:pic>
      <p:pic>
        <p:nvPicPr>
          <p:cNvPr id="12" name="Picture Placeholder 11">
            <a:extLst>
              <a:ext uri="{FF2B5EF4-FFF2-40B4-BE49-F238E27FC236}">
                <a16:creationId xmlns:a16="http://schemas.microsoft.com/office/drawing/2014/main" id="{E3DE651E-3D60-1FB3-1625-A6A5AE2943D2}"/>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9006" b="19006"/>
          <a:stretch>
            <a:fillRect/>
          </a:stretch>
        </p:blipFill>
        <p:spPr/>
      </p:pic>
      <p:sp>
        <p:nvSpPr>
          <p:cNvPr id="4" name="Rectangle 3">
            <a:extLst>
              <a:ext uri="{FF2B5EF4-FFF2-40B4-BE49-F238E27FC236}">
                <a16:creationId xmlns:a16="http://schemas.microsoft.com/office/drawing/2014/main" id="{5301662B-0795-2A2E-9DA1-5D4CBB0E1F43}"/>
              </a:ext>
            </a:extLst>
          </p:cNvPr>
          <p:cNvSpPr/>
          <p:nvPr/>
        </p:nvSpPr>
        <p:spPr>
          <a:xfrm>
            <a:off x="1155577" y="5663471"/>
            <a:ext cx="1179250" cy="23525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2067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900F8-EF71-4B21-3437-79BC9900C880}"/>
              </a:ext>
            </a:extLst>
          </p:cNvPr>
          <p:cNvSpPr>
            <a:spLocks noGrp="1"/>
          </p:cNvSpPr>
          <p:nvPr>
            <p:ph type="title"/>
          </p:nvPr>
        </p:nvSpPr>
        <p:spPr/>
        <p:txBody>
          <a:bodyPr/>
          <a:lstStyle/>
          <a:p>
            <a:pPr algn="ctr"/>
            <a:r>
              <a:rPr lang="en-US" dirty="0"/>
              <a:t>Findings &amp; Analysis</a:t>
            </a:r>
          </a:p>
        </p:txBody>
      </p:sp>
      <p:sp>
        <p:nvSpPr>
          <p:cNvPr id="3" name="Content Placeholder 2">
            <a:extLst>
              <a:ext uri="{FF2B5EF4-FFF2-40B4-BE49-F238E27FC236}">
                <a16:creationId xmlns:a16="http://schemas.microsoft.com/office/drawing/2014/main" id="{4145B36B-2150-5061-99AE-505268356AC1}"/>
              </a:ext>
            </a:extLst>
          </p:cNvPr>
          <p:cNvSpPr>
            <a:spLocks noGrp="1"/>
          </p:cNvSpPr>
          <p:nvPr>
            <p:ph idx="1"/>
          </p:nvPr>
        </p:nvSpPr>
        <p:spPr/>
        <p:txBody>
          <a:bodyPr>
            <a:normAutofit/>
          </a:bodyPr>
          <a:lstStyle/>
          <a:p>
            <a:r>
              <a:rPr lang="en-US" sz="2400" dirty="0"/>
              <a:t>It has been analyzed that computer assisted education doesn’t mean eliminating teachers.</a:t>
            </a:r>
          </a:p>
          <a:p>
            <a:r>
              <a:rPr lang="en-US" sz="2400" dirty="0"/>
              <a:t>Computers aren’t restricted to one field of education but are open to all areas of education from science to medical.</a:t>
            </a:r>
          </a:p>
          <a:p>
            <a:r>
              <a:rPr lang="en-US" sz="2400" dirty="0"/>
              <a:t>Virtual class rooms can be created anywhere any time.</a:t>
            </a:r>
          </a:p>
          <a:p>
            <a:r>
              <a:rPr lang="en-US" sz="2400" dirty="0"/>
              <a:t>Teaching institutes have adopted new teaching ways such as intelligent boards.</a:t>
            </a:r>
          </a:p>
          <a:p>
            <a:r>
              <a:rPr lang="en-US" sz="2400" dirty="0"/>
              <a:t>About 86% of educators told that they use laptops in classrooms.</a:t>
            </a:r>
          </a:p>
        </p:txBody>
      </p:sp>
    </p:spTree>
    <p:extLst>
      <p:ext uri="{BB962C8B-B14F-4D97-AF65-F5344CB8AC3E}">
        <p14:creationId xmlns:p14="http://schemas.microsoft.com/office/powerpoint/2010/main" val="3299562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0360A33-A59A-E032-9E8B-ECE7BAF80685}"/>
              </a:ext>
            </a:extLst>
          </p:cNvPr>
          <p:cNvSpPr>
            <a:spLocks noGrp="1"/>
          </p:cNvSpPr>
          <p:nvPr>
            <p:ph type="title"/>
          </p:nvPr>
        </p:nvSpPr>
        <p:spPr/>
        <p:txBody>
          <a:bodyPr/>
          <a:lstStyle/>
          <a:p>
            <a:r>
              <a:rPr lang="en-US" dirty="0"/>
              <a:t>Conclusion</a:t>
            </a:r>
          </a:p>
        </p:txBody>
      </p:sp>
      <p:sp>
        <p:nvSpPr>
          <p:cNvPr id="13" name="Subtitle 12">
            <a:extLst>
              <a:ext uri="{FF2B5EF4-FFF2-40B4-BE49-F238E27FC236}">
                <a16:creationId xmlns:a16="http://schemas.microsoft.com/office/drawing/2014/main" id="{E8FE11A5-C606-A9A0-EE47-8B8F471EC3FF}"/>
              </a:ext>
            </a:extLst>
          </p:cNvPr>
          <p:cNvSpPr>
            <a:spLocks noGrp="1"/>
          </p:cNvSpPr>
          <p:nvPr>
            <p:ph type="subTitle" idx="1"/>
          </p:nvPr>
        </p:nvSpPr>
        <p:spPr/>
        <p:txBody>
          <a:bodyPr>
            <a:normAutofit/>
          </a:bodyPr>
          <a:lstStyle/>
          <a:p>
            <a:r>
              <a:rPr lang="en-US" sz="2400" dirty="0"/>
              <a:t>According to our research, computer assisted education is the most efficient method of teaching and is found to be significant as it increases the interest of students and enhances their motivation level.</a:t>
            </a:r>
          </a:p>
        </p:txBody>
      </p:sp>
      <p:pic>
        <p:nvPicPr>
          <p:cNvPr id="27" name="Picture Placeholder 26">
            <a:extLst>
              <a:ext uri="{FF2B5EF4-FFF2-40B4-BE49-F238E27FC236}">
                <a16:creationId xmlns:a16="http://schemas.microsoft.com/office/drawing/2014/main" id="{EA94F6DF-6372-BE50-BD86-72EB2288743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0598" r="10598"/>
          <a:stretch>
            <a:fillRect/>
          </a:stretch>
        </p:blipFill>
        <p:spPr>
          <a:xfrm>
            <a:off x="69965" y="106532"/>
            <a:ext cx="4509857" cy="39416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5" name="Picture Placeholder 24">
            <a:extLst>
              <a:ext uri="{FF2B5EF4-FFF2-40B4-BE49-F238E27FC236}">
                <a16:creationId xmlns:a16="http://schemas.microsoft.com/office/drawing/2014/main" id="{D46232BF-A760-0EC9-230C-8AFC3C520FB5}"/>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2350" b="2350"/>
          <a:stretch>
            <a:fillRect/>
          </a:stretch>
        </p:blipFill>
        <p:spPr>
          <a:xfrm>
            <a:off x="69965" y="4279037"/>
            <a:ext cx="4509858" cy="247243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8" name="Rectangle 27">
            <a:extLst>
              <a:ext uri="{FF2B5EF4-FFF2-40B4-BE49-F238E27FC236}">
                <a16:creationId xmlns:a16="http://schemas.microsoft.com/office/drawing/2014/main" id="{9AD1C2A2-6348-B15E-10D1-C30275F91547}"/>
              </a:ext>
            </a:extLst>
          </p:cNvPr>
          <p:cNvSpPr/>
          <p:nvPr/>
        </p:nvSpPr>
        <p:spPr>
          <a:xfrm>
            <a:off x="8185212" y="399495"/>
            <a:ext cx="426128" cy="221942"/>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D9842AA-849A-9956-94F9-315CC5B252BF}"/>
              </a:ext>
            </a:extLst>
          </p:cNvPr>
          <p:cNvSpPr/>
          <p:nvPr/>
        </p:nvSpPr>
        <p:spPr>
          <a:xfrm>
            <a:off x="5061752" y="6422994"/>
            <a:ext cx="1179250" cy="23525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C6F55CC-7787-B309-0F15-CD9F3E0EB32B}"/>
              </a:ext>
            </a:extLst>
          </p:cNvPr>
          <p:cNvSpPr/>
          <p:nvPr/>
        </p:nvSpPr>
        <p:spPr>
          <a:xfrm>
            <a:off x="5214152" y="6575394"/>
            <a:ext cx="1179250" cy="23525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33540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200</TotalTime>
  <Words>396</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vt:lpstr>
      <vt:lpstr>Calibri</vt:lpstr>
      <vt:lpstr>Cambria</vt:lpstr>
      <vt:lpstr>Courier New</vt:lpstr>
      <vt:lpstr>Garamond</vt:lpstr>
      <vt:lpstr>Söhne</vt:lpstr>
      <vt:lpstr>Wingdings</vt:lpstr>
      <vt:lpstr>SavonVTI</vt:lpstr>
      <vt:lpstr>THE FUTURE OF COMPUTER-ASSISTED EDUCATION</vt:lpstr>
      <vt:lpstr>ITINERARY</vt:lpstr>
      <vt:lpstr>What is Computer-Assisted Education</vt:lpstr>
      <vt:lpstr>How does It work</vt:lpstr>
      <vt:lpstr>PowerPoint Presentation</vt:lpstr>
      <vt:lpstr>THE RISE OF ONLINE EDUCATION</vt:lpstr>
      <vt:lpstr>PowerPoint Presentation</vt:lpstr>
      <vt:lpstr>PowerPoint Presentation</vt:lpstr>
      <vt:lpstr>PowerPoint Presentation</vt:lpstr>
      <vt:lpstr>PowerPoint Presentation</vt:lpstr>
      <vt:lpstr>Advantages</vt:lpstr>
      <vt:lpstr>Disadvantage</vt:lpstr>
      <vt:lpstr>Education is the passport to the future, for tomorrow belongs to those who prepare for it today.</vt:lpstr>
      <vt:lpstr>Findings &amp;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Computer-Assisted Education </dc:title>
  <dc:creator>MAK</dc:creator>
  <cp:lastModifiedBy>M. Arham Hussain Khan</cp:lastModifiedBy>
  <cp:revision>13</cp:revision>
  <dcterms:created xsi:type="dcterms:W3CDTF">2023-03-04T16:26:22Z</dcterms:created>
  <dcterms:modified xsi:type="dcterms:W3CDTF">2023-03-05T20:10:02Z</dcterms:modified>
</cp:coreProperties>
</file>