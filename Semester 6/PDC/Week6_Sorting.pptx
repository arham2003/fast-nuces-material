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Arial Black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kXRvzJG7ksFVf7AG0EiNGnhyl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FA0F0DA-54D8-47E1-8072-F583B9304E3A}">
  <a:tblStyle styleId="{5FA0F0DA-54D8-47E1-8072-F583B9304E3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CFCFC"/>
          </a:solidFill>
        </a:fill>
      </a:tcStyle>
    </a:wholeTbl>
    <a:band1H>
      <a:tcTxStyle/>
      <a:tcStyle>
        <a:fill>
          <a:solidFill>
            <a:srgbClr val="F8F8F8"/>
          </a:solidFill>
        </a:fill>
      </a:tcStyle>
    </a:band1H>
    <a:band2H>
      <a:tcTxStyle/>
    </a:band2H>
    <a:band1V>
      <a:tcTxStyle/>
      <a:tcStyle>
        <a:fill>
          <a:solidFill>
            <a:srgbClr val="F8F8F8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ArialBlack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3832441f27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3832441f2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3832441f27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3832441f2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3832441f27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3832441f2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3832441f27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3832441f2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3832441f27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3832441f2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3832441f27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3832441f2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3832441f27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3832441f27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3832441f27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3832441f2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12"/>
          <p:cNvSpPr txBox="1"/>
          <p:nvPr>
            <p:ph idx="10" type="dt"/>
          </p:nvPr>
        </p:nvSpPr>
        <p:spPr>
          <a:xfrm>
            <a:off x="175492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1" type="ftr"/>
          </p:nvPr>
        </p:nvSpPr>
        <p:spPr>
          <a:xfrm>
            <a:off x="2930239" y="6492875"/>
            <a:ext cx="83265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2" type="sldNum"/>
          </p:nvPr>
        </p:nvSpPr>
        <p:spPr>
          <a:xfrm>
            <a:off x="11268363" y="6492875"/>
            <a:ext cx="759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imated 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/>
          <p:nvPr>
            <p:ph type="title"/>
          </p:nvPr>
        </p:nvSpPr>
        <p:spPr>
          <a:xfrm>
            <a:off x="175492" y="180399"/>
            <a:ext cx="11852563" cy="521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" type="body"/>
          </p:nvPr>
        </p:nvSpPr>
        <p:spPr>
          <a:xfrm>
            <a:off x="163945" y="1080655"/>
            <a:ext cx="11852563" cy="5412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572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525252"/>
              </a:buClr>
              <a:buSzPts val="3600"/>
              <a:buFont typeface="Arial"/>
              <a:buChar char="•"/>
              <a:defRPr sz="3600">
                <a:solidFill>
                  <a:srgbClr val="525252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525252"/>
              </a:buClr>
              <a:buSzPts val="2800"/>
              <a:buChar char="•"/>
              <a:defRPr sz="2800">
                <a:solidFill>
                  <a:srgbClr val="525252"/>
                </a:solidFill>
              </a:defRPr>
            </a:lvl2pPr>
            <a:lvl3pPr indent="-4572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525252"/>
              </a:buClr>
              <a:buSzPts val="3600"/>
              <a:buChar char="•"/>
              <a:defRPr>
                <a:solidFill>
                  <a:srgbClr val="525252"/>
                </a:solidFill>
              </a:defRPr>
            </a:lvl3pPr>
            <a:lvl4pPr indent="-4318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525252"/>
              </a:buClr>
              <a:buSzPts val="3200"/>
              <a:buChar char="•"/>
              <a:defRPr>
                <a:solidFill>
                  <a:srgbClr val="525252"/>
                </a:solidFill>
              </a:defRPr>
            </a:lvl4pPr>
            <a:lvl5pPr indent="-4318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525252"/>
              </a:buClr>
              <a:buSzPts val="3200"/>
              <a:buChar char="•"/>
              <a:defRPr>
                <a:solidFill>
                  <a:srgbClr val="52525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0" type="dt"/>
          </p:nvPr>
        </p:nvSpPr>
        <p:spPr>
          <a:xfrm>
            <a:off x="175492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1" type="ftr"/>
          </p:nvPr>
        </p:nvSpPr>
        <p:spPr>
          <a:xfrm>
            <a:off x="2930239" y="6492875"/>
            <a:ext cx="83265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11268363" y="6492875"/>
            <a:ext cx="759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175492" y="180399"/>
            <a:ext cx="11852563" cy="521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" type="body"/>
          </p:nvPr>
        </p:nvSpPr>
        <p:spPr>
          <a:xfrm>
            <a:off x="163945" y="1080655"/>
            <a:ext cx="11852563" cy="5412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0" type="dt"/>
          </p:nvPr>
        </p:nvSpPr>
        <p:spPr>
          <a:xfrm>
            <a:off x="175492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1" type="ftr"/>
          </p:nvPr>
        </p:nvSpPr>
        <p:spPr>
          <a:xfrm>
            <a:off x="2930239" y="6492875"/>
            <a:ext cx="83265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2" type="sldNum"/>
          </p:nvPr>
        </p:nvSpPr>
        <p:spPr>
          <a:xfrm>
            <a:off x="11268363" y="6492875"/>
            <a:ext cx="759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">
  <p:cSld name="COD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/>
          <p:nvPr>
            <p:ph type="title"/>
          </p:nvPr>
        </p:nvSpPr>
        <p:spPr>
          <a:xfrm>
            <a:off x="175492" y="180399"/>
            <a:ext cx="11852563" cy="521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" type="body"/>
          </p:nvPr>
        </p:nvSpPr>
        <p:spPr>
          <a:xfrm>
            <a:off x="163945" y="770965"/>
            <a:ext cx="8527473" cy="5721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AutoNum type="arabicPeriod"/>
              <a:defRPr sz="3200">
                <a:latin typeface="Droid Sans Mono"/>
                <a:ea typeface="Droid Sans Mono"/>
                <a:cs typeface="Droid Sans Mono"/>
                <a:sym typeface="Droid Sans Mono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0" type="dt"/>
          </p:nvPr>
        </p:nvSpPr>
        <p:spPr>
          <a:xfrm>
            <a:off x="175492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1" type="ftr"/>
          </p:nvPr>
        </p:nvSpPr>
        <p:spPr>
          <a:xfrm>
            <a:off x="2930239" y="6492875"/>
            <a:ext cx="83265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2" type="sldNum"/>
          </p:nvPr>
        </p:nvSpPr>
        <p:spPr>
          <a:xfrm>
            <a:off x="11268363" y="6492875"/>
            <a:ext cx="759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15"/>
          <p:cNvSpPr txBox="1"/>
          <p:nvPr>
            <p:ph idx="2" type="body"/>
          </p:nvPr>
        </p:nvSpPr>
        <p:spPr>
          <a:xfrm>
            <a:off x="8802688" y="770965"/>
            <a:ext cx="3297237" cy="5721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oint">
  <p:cSld name="Single 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 txBox="1"/>
          <p:nvPr>
            <p:ph idx="1" type="body"/>
          </p:nvPr>
        </p:nvSpPr>
        <p:spPr>
          <a:xfrm>
            <a:off x="163945" y="200025"/>
            <a:ext cx="11852563" cy="6292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4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0" type="dt"/>
          </p:nvPr>
        </p:nvSpPr>
        <p:spPr>
          <a:xfrm>
            <a:off x="175492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1" type="ftr"/>
          </p:nvPr>
        </p:nvSpPr>
        <p:spPr>
          <a:xfrm>
            <a:off x="2930239" y="6492875"/>
            <a:ext cx="83265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2" type="sldNum"/>
          </p:nvPr>
        </p:nvSpPr>
        <p:spPr>
          <a:xfrm>
            <a:off x="11268363" y="6492875"/>
            <a:ext cx="759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ingle Point">
  <p:cSld name="1_Single 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7"/>
          <p:cNvSpPr txBox="1"/>
          <p:nvPr>
            <p:ph idx="1" type="body"/>
          </p:nvPr>
        </p:nvSpPr>
        <p:spPr>
          <a:xfrm>
            <a:off x="163945" y="200025"/>
            <a:ext cx="11852563" cy="6292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4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0" type="dt"/>
          </p:nvPr>
        </p:nvSpPr>
        <p:spPr>
          <a:xfrm>
            <a:off x="175492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1" type="ftr"/>
          </p:nvPr>
        </p:nvSpPr>
        <p:spPr>
          <a:xfrm>
            <a:off x="2930239" y="6492875"/>
            <a:ext cx="83265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2" type="sldNum"/>
          </p:nvPr>
        </p:nvSpPr>
        <p:spPr>
          <a:xfrm>
            <a:off x="11268363" y="6492875"/>
            <a:ext cx="759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175492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2930239" y="6492875"/>
            <a:ext cx="83265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11268363" y="6492875"/>
            <a:ext cx="759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175492" y="180399"/>
            <a:ext cx="11852563" cy="521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175492" y="951345"/>
            <a:ext cx="5844308" cy="52256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6172199" y="951345"/>
            <a:ext cx="5936673" cy="52256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175492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2930239" y="6492875"/>
            <a:ext cx="83265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11268363" y="6492875"/>
            <a:ext cx="759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5492" y="183717"/>
            <a:ext cx="11852562" cy="484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" type="body"/>
          </p:nvPr>
        </p:nvSpPr>
        <p:spPr>
          <a:xfrm>
            <a:off x="163945" y="914400"/>
            <a:ext cx="5760720" cy="52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b="0" sz="2400" cap="small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20"/>
          <p:cNvSpPr txBox="1"/>
          <p:nvPr>
            <p:ph idx="2" type="body"/>
          </p:nvPr>
        </p:nvSpPr>
        <p:spPr>
          <a:xfrm>
            <a:off x="163945" y="1738311"/>
            <a:ext cx="5760720" cy="4644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080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400"/>
              <a:buChar char="•"/>
              <a:defRPr sz="4400"/>
            </a:lvl1pPr>
            <a:lvl2pPr indent="-482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4000"/>
              <a:buChar char="•"/>
              <a:defRPr sz="4000"/>
            </a:lvl2pPr>
            <a:lvl3pPr indent="-4572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  <a:defRPr sz="3600"/>
            </a:lvl3pPr>
            <a:lvl4pPr indent="-4318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4pPr>
            <a:lvl5pPr indent="-4318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3" type="body"/>
          </p:nvPr>
        </p:nvSpPr>
        <p:spPr>
          <a:xfrm>
            <a:off x="6073628" y="914400"/>
            <a:ext cx="5760720" cy="52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b="0" sz="2400" cap="small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20"/>
          <p:cNvSpPr txBox="1"/>
          <p:nvPr>
            <p:ph idx="4" type="body"/>
          </p:nvPr>
        </p:nvSpPr>
        <p:spPr>
          <a:xfrm>
            <a:off x="6073628" y="1738311"/>
            <a:ext cx="5760720" cy="4644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080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400"/>
              <a:buChar char="•"/>
              <a:defRPr sz="4400"/>
            </a:lvl1pPr>
            <a:lvl2pPr indent="-482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4000"/>
              <a:buChar char="•"/>
              <a:defRPr sz="4000"/>
            </a:lvl2pPr>
            <a:lvl3pPr indent="-4572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  <a:defRPr sz="3600"/>
            </a:lvl3pPr>
            <a:lvl4pPr indent="-4318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4pPr>
            <a:lvl5pPr indent="-4318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0" type="dt"/>
          </p:nvPr>
        </p:nvSpPr>
        <p:spPr>
          <a:xfrm>
            <a:off x="175492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11" type="ftr"/>
          </p:nvPr>
        </p:nvSpPr>
        <p:spPr>
          <a:xfrm>
            <a:off x="2930239" y="6492875"/>
            <a:ext cx="83265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0"/>
          <p:cNvSpPr txBox="1"/>
          <p:nvPr>
            <p:ph idx="12" type="sldNum"/>
          </p:nvPr>
        </p:nvSpPr>
        <p:spPr>
          <a:xfrm>
            <a:off x="11268363" y="6492875"/>
            <a:ext cx="759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/>
          <p:nvPr>
            <p:ph type="title"/>
          </p:nvPr>
        </p:nvSpPr>
        <p:spPr>
          <a:xfrm>
            <a:off x="175492" y="180399"/>
            <a:ext cx="11852563" cy="521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0" type="dt"/>
          </p:nvPr>
        </p:nvSpPr>
        <p:spPr>
          <a:xfrm>
            <a:off x="175492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1" type="ftr"/>
          </p:nvPr>
        </p:nvSpPr>
        <p:spPr>
          <a:xfrm>
            <a:off x="2930239" y="6492875"/>
            <a:ext cx="83265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2" type="sldNum"/>
          </p:nvPr>
        </p:nvSpPr>
        <p:spPr>
          <a:xfrm>
            <a:off x="11268363" y="6492875"/>
            <a:ext cx="759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2"/>
          <p:cNvSpPr txBox="1"/>
          <p:nvPr>
            <p:ph idx="10" type="dt"/>
          </p:nvPr>
        </p:nvSpPr>
        <p:spPr>
          <a:xfrm>
            <a:off x="175492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1" type="ftr"/>
          </p:nvPr>
        </p:nvSpPr>
        <p:spPr>
          <a:xfrm>
            <a:off x="2930239" y="6492875"/>
            <a:ext cx="83265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2" type="sldNum"/>
          </p:nvPr>
        </p:nvSpPr>
        <p:spPr>
          <a:xfrm>
            <a:off x="11268363" y="6492875"/>
            <a:ext cx="759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ointer">
  <p:cSld name="3 Point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3"/>
          <p:cNvSpPr txBox="1"/>
          <p:nvPr>
            <p:ph idx="10" type="dt"/>
          </p:nvPr>
        </p:nvSpPr>
        <p:spPr>
          <a:xfrm>
            <a:off x="175492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1" type="ftr"/>
          </p:nvPr>
        </p:nvSpPr>
        <p:spPr>
          <a:xfrm>
            <a:off x="2930239" y="6492875"/>
            <a:ext cx="83265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2" type="sldNum"/>
          </p:nvPr>
        </p:nvSpPr>
        <p:spPr>
          <a:xfrm>
            <a:off x="11268363" y="6492875"/>
            <a:ext cx="759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23"/>
          <p:cNvSpPr txBox="1"/>
          <p:nvPr>
            <p:ph idx="1" type="body"/>
          </p:nvPr>
        </p:nvSpPr>
        <p:spPr>
          <a:xfrm>
            <a:off x="176213" y="268288"/>
            <a:ext cx="3794760" cy="54490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2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000"/>
              <a:buChar char="•"/>
              <a:defRPr sz="4000"/>
            </a:lvl1pPr>
            <a:lvl2pPr indent="-4572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  <a:defRPr sz="3600"/>
            </a:lvl2pPr>
            <a:lvl3pPr indent="-431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3pPr>
            <a:lvl4pPr indent="-4064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4pPr>
            <a:lvl5pPr indent="-4064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3"/>
          <p:cNvSpPr txBox="1"/>
          <p:nvPr>
            <p:ph idx="2" type="body"/>
          </p:nvPr>
        </p:nvSpPr>
        <p:spPr>
          <a:xfrm>
            <a:off x="4204754" y="268288"/>
            <a:ext cx="3794760" cy="54490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2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000"/>
              <a:buChar char="•"/>
              <a:defRPr sz="4000"/>
            </a:lvl1pPr>
            <a:lvl2pPr indent="-4572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  <a:defRPr sz="3600"/>
            </a:lvl2pPr>
            <a:lvl3pPr indent="-431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3pPr>
            <a:lvl4pPr indent="-4064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4pPr>
            <a:lvl5pPr indent="-4064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3" type="body"/>
          </p:nvPr>
        </p:nvSpPr>
        <p:spPr>
          <a:xfrm>
            <a:off x="8233294" y="268288"/>
            <a:ext cx="3794760" cy="54490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2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000"/>
              <a:buChar char="•"/>
              <a:defRPr sz="4000"/>
            </a:lvl1pPr>
            <a:lvl2pPr indent="-4572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  <a:defRPr sz="3600"/>
            </a:lvl2pPr>
            <a:lvl3pPr indent="-431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3pPr>
            <a:lvl4pPr indent="-4064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4pPr>
            <a:lvl5pPr indent="-4064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4" type="body"/>
          </p:nvPr>
        </p:nvSpPr>
        <p:spPr>
          <a:xfrm>
            <a:off x="176531" y="5791200"/>
            <a:ext cx="37941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5" type="body"/>
          </p:nvPr>
        </p:nvSpPr>
        <p:spPr>
          <a:xfrm>
            <a:off x="4198937" y="5791200"/>
            <a:ext cx="37941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6" type="body"/>
          </p:nvPr>
        </p:nvSpPr>
        <p:spPr>
          <a:xfrm>
            <a:off x="8221343" y="5791200"/>
            <a:ext cx="37941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pointer">
  <p:cSld name="5 point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4"/>
          <p:cNvSpPr txBox="1"/>
          <p:nvPr>
            <p:ph idx="10" type="dt"/>
          </p:nvPr>
        </p:nvSpPr>
        <p:spPr>
          <a:xfrm>
            <a:off x="175492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11" type="ftr"/>
          </p:nvPr>
        </p:nvSpPr>
        <p:spPr>
          <a:xfrm>
            <a:off x="2930239" y="6492875"/>
            <a:ext cx="83265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2" type="sldNum"/>
          </p:nvPr>
        </p:nvSpPr>
        <p:spPr>
          <a:xfrm>
            <a:off x="11268363" y="6492875"/>
            <a:ext cx="759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24"/>
          <p:cNvSpPr txBox="1"/>
          <p:nvPr>
            <p:ph idx="1" type="body"/>
          </p:nvPr>
        </p:nvSpPr>
        <p:spPr>
          <a:xfrm>
            <a:off x="4267199" y="3429000"/>
            <a:ext cx="3657600" cy="101758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2" type="body"/>
          </p:nvPr>
        </p:nvSpPr>
        <p:spPr>
          <a:xfrm>
            <a:off x="176213" y="3429000"/>
            <a:ext cx="3657601" cy="2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3" type="body"/>
          </p:nvPr>
        </p:nvSpPr>
        <p:spPr>
          <a:xfrm>
            <a:off x="176213" y="365125"/>
            <a:ext cx="3657601" cy="2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4" type="body"/>
          </p:nvPr>
        </p:nvSpPr>
        <p:spPr>
          <a:xfrm>
            <a:off x="8358185" y="365125"/>
            <a:ext cx="3657602" cy="2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5" type="body"/>
          </p:nvPr>
        </p:nvSpPr>
        <p:spPr>
          <a:xfrm>
            <a:off x="8358184" y="3429000"/>
            <a:ext cx="3657602" cy="2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6" type="body"/>
          </p:nvPr>
        </p:nvSpPr>
        <p:spPr>
          <a:xfrm>
            <a:off x="4267197" y="124437"/>
            <a:ext cx="3657602" cy="2785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Big">
  <p:cSld name="PictureBig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 txBox="1"/>
          <p:nvPr>
            <p:ph idx="10" type="dt"/>
          </p:nvPr>
        </p:nvSpPr>
        <p:spPr>
          <a:xfrm>
            <a:off x="175492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11" type="ftr"/>
          </p:nvPr>
        </p:nvSpPr>
        <p:spPr>
          <a:xfrm>
            <a:off x="2930239" y="6492875"/>
            <a:ext cx="83265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12" type="sldNum"/>
          </p:nvPr>
        </p:nvSpPr>
        <p:spPr>
          <a:xfrm>
            <a:off x="11268363" y="6492875"/>
            <a:ext cx="759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25"/>
          <p:cNvSpPr/>
          <p:nvPr>
            <p:ph idx="2" type="pic"/>
          </p:nvPr>
        </p:nvSpPr>
        <p:spPr>
          <a:xfrm>
            <a:off x="176213" y="258763"/>
            <a:ext cx="11852275" cy="6096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Picture With Caption">
  <p:cSld name="Big Picture With Ca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/>
          <p:nvPr>
            <p:ph idx="2" type="pic"/>
          </p:nvPr>
        </p:nvSpPr>
        <p:spPr>
          <a:xfrm>
            <a:off x="176213" y="258763"/>
            <a:ext cx="11852275" cy="5985019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0" y="6243782"/>
            <a:ext cx="12192000" cy="535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40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0" name="Google Shape;110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1" name="Google Shape;111;p27"/>
          <p:cNvSpPr txBox="1"/>
          <p:nvPr>
            <p:ph idx="10" type="dt"/>
          </p:nvPr>
        </p:nvSpPr>
        <p:spPr>
          <a:xfrm>
            <a:off x="175492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7"/>
          <p:cNvSpPr txBox="1"/>
          <p:nvPr>
            <p:ph idx="11" type="ftr"/>
          </p:nvPr>
        </p:nvSpPr>
        <p:spPr>
          <a:xfrm>
            <a:off x="2930239" y="6492875"/>
            <a:ext cx="83265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12" type="sldNum"/>
          </p:nvPr>
        </p:nvSpPr>
        <p:spPr>
          <a:xfrm>
            <a:off x="11268363" y="6492875"/>
            <a:ext cx="759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8" name="Google Shape;118;p28"/>
          <p:cNvSpPr txBox="1"/>
          <p:nvPr>
            <p:ph idx="10" type="dt"/>
          </p:nvPr>
        </p:nvSpPr>
        <p:spPr>
          <a:xfrm>
            <a:off x="175492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11" type="ftr"/>
          </p:nvPr>
        </p:nvSpPr>
        <p:spPr>
          <a:xfrm>
            <a:off x="2930239" y="6492875"/>
            <a:ext cx="83265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12" type="sldNum"/>
          </p:nvPr>
        </p:nvSpPr>
        <p:spPr>
          <a:xfrm>
            <a:off x="11268363" y="6492875"/>
            <a:ext cx="759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9"/>
          <p:cNvSpPr txBox="1"/>
          <p:nvPr>
            <p:ph type="title"/>
          </p:nvPr>
        </p:nvSpPr>
        <p:spPr>
          <a:xfrm>
            <a:off x="175492" y="180399"/>
            <a:ext cx="11852563" cy="521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9"/>
          <p:cNvSpPr txBox="1"/>
          <p:nvPr>
            <p:ph idx="1" type="body"/>
          </p:nvPr>
        </p:nvSpPr>
        <p:spPr>
          <a:xfrm rot="5400000">
            <a:off x="3384117" y="-2139517"/>
            <a:ext cx="5412220" cy="11852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29"/>
          <p:cNvSpPr txBox="1"/>
          <p:nvPr>
            <p:ph idx="10" type="dt"/>
          </p:nvPr>
        </p:nvSpPr>
        <p:spPr>
          <a:xfrm>
            <a:off x="175492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9"/>
          <p:cNvSpPr txBox="1"/>
          <p:nvPr>
            <p:ph idx="11" type="ftr"/>
          </p:nvPr>
        </p:nvSpPr>
        <p:spPr>
          <a:xfrm>
            <a:off x="2930239" y="6492875"/>
            <a:ext cx="83265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11268363" y="6492875"/>
            <a:ext cx="759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30"/>
          <p:cNvSpPr txBox="1"/>
          <p:nvPr>
            <p:ph idx="10" type="dt"/>
          </p:nvPr>
        </p:nvSpPr>
        <p:spPr>
          <a:xfrm>
            <a:off x="175492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0"/>
          <p:cNvSpPr txBox="1"/>
          <p:nvPr>
            <p:ph idx="11" type="ftr"/>
          </p:nvPr>
        </p:nvSpPr>
        <p:spPr>
          <a:xfrm>
            <a:off x="2930239" y="6492875"/>
            <a:ext cx="83265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0"/>
          <p:cNvSpPr txBox="1"/>
          <p:nvPr>
            <p:ph idx="12" type="sldNum"/>
          </p:nvPr>
        </p:nvSpPr>
        <p:spPr>
          <a:xfrm>
            <a:off x="11268363" y="6492875"/>
            <a:ext cx="759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Big">
  <p:cSld name="1_PictureBig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1"/>
          <p:cNvSpPr txBox="1"/>
          <p:nvPr>
            <p:ph idx="10" type="dt"/>
          </p:nvPr>
        </p:nvSpPr>
        <p:spPr>
          <a:xfrm>
            <a:off x="175492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1"/>
          <p:cNvSpPr txBox="1"/>
          <p:nvPr>
            <p:ph idx="11" type="ftr"/>
          </p:nvPr>
        </p:nvSpPr>
        <p:spPr>
          <a:xfrm>
            <a:off x="2930239" y="6492875"/>
            <a:ext cx="83265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1"/>
          <p:cNvSpPr txBox="1"/>
          <p:nvPr>
            <p:ph idx="12" type="sldNum"/>
          </p:nvPr>
        </p:nvSpPr>
        <p:spPr>
          <a:xfrm>
            <a:off x="11268363" y="6492875"/>
            <a:ext cx="759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31"/>
          <p:cNvSpPr/>
          <p:nvPr>
            <p:ph idx="2" type="pic"/>
          </p:nvPr>
        </p:nvSpPr>
        <p:spPr>
          <a:xfrm>
            <a:off x="176213" y="258763"/>
            <a:ext cx="11852275" cy="6096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ig Picture With Caption">
  <p:cSld name="1_Big Picture With Captio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2"/>
          <p:cNvSpPr/>
          <p:nvPr>
            <p:ph idx="2" type="pic"/>
          </p:nvPr>
        </p:nvSpPr>
        <p:spPr>
          <a:xfrm>
            <a:off x="176213" y="258763"/>
            <a:ext cx="11852275" cy="5985019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32"/>
          <p:cNvSpPr txBox="1"/>
          <p:nvPr>
            <p:ph idx="1" type="body"/>
          </p:nvPr>
        </p:nvSpPr>
        <p:spPr>
          <a:xfrm>
            <a:off x="0" y="6243782"/>
            <a:ext cx="12192000" cy="535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40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DE">
  <p:cSld name="1_CODE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3"/>
          <p:cNvSpPr txBox="1"/>
          <p:nvPr>
            <p:ph type="title"/>
          </p:nvPr>
        </p:nvSpPr>
        <p:spPr>
          <a:xfrm>
            <a:off x="175492" y="180399"/>
            <a:ext cx="11852563" cy="521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3"/>
          <p:cNvSpPr txBox="1"/>
          <p:nvPr>
            <p:ph idx="1" type="body"/>
          </p:nvPr>
        </p:nvSpPr>
        <p:spPr>
          <a:xfrm>
            <a:off x="163945" y="770965"/>
            <a:ext cx="8527473" cy="5721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AutoNum type="arabicPeriod"/>
              <a:defRPr sz="3200">
                <a:latin typeface="Droid Sans Mono"/>
                <a:ea typeface="Droid Sans Mono"/>
                <a:cs typeface="Droid Sans Mono"/>
                <a:sym typeface="Droid Sans Mono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33"/>
          <p:cNvSpPr txBox="1"/>
          <p:nvPr>
            <p:ph idx="10" type="dt"/>
          </p:nvPr>
        </p:nvSpPr>
        <p:spPr>
          <a:xfrm>
            <a:off x="175492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3"/>
          <p:cNvSpPr txBox="1"/>
          <p:nvPr>
            <p:ph idx="11" type="ftr"/>
          </p:nvPr>
        </p:nvSpPr>
        <p:spPr>
          <a:xfrm>
            <a:off x="2930239" y="6492875"/>
            <a:ext cx="83265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3"/>
          <p:cNvSpPr txBox="1"/>
          <p:nvPr>
            <p:ph idx="12" type="sldNum"/>
          </p:nvPr>
        </p:nvSpPr>
        <p:spPr>
          <a:xfrm>
            <a:off x="11268363" y="6492875"/>
            <a:ext cx="759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33"/>
          <p:cNvSpPr txBox="1"/>
          <p:nvPr>
            <p:ph idx="2" type="body"/>
          </p:nvPr>
        </p:nvSpPr>
        <p:spPr>
          <a:xfrm>
            <a:off x="8802688" y="770965"/>
            <a:ext cx="3297237" cy="5721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oint Quote">
  <p:cSld name="Single Point Quote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4"/>
          <p:cNvSpPr txBox="1"/>
          <p:nvPr>
            <p:ph idx="10" type="dt"/>
          </p:nvPr>
        </p:nvSpPr>
        <p:spPr>
          <a:xfrm>
            <a:off x="175492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4"/>
          <p:cNvSpPr txBox="1"/>
          <p:nvPr>
            <p:ph idx="11" type="ftr"/>
          </p:nvPr>
        </p:nvSpPr>
        <p:spPr>
          <a:xfrm>
            <a:off x="2930239" y="6492875"/>
            <a:ext cx="83265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4"/>
          <p:cNvSpPr txBox="1"/>
          <p:nvPr>
            <p:ph idx="12" type="sldNum"/>
          </p:nvPr>
        </p:nvSpPr>
        <p:spPr>
          <a:xfrm>
            <a:off x="11268363" y="6492875"/>
            <a:ext cx="759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34"/>
          <p:cNvSpPr txBox="1"/>
          <p:nvPr>
            <p:ph type="title"/>
          </p:nvPr>
        </p:nvSpPr>
        <p:spPr>
          <a:xfrm>
            <a:off x="175492" y="180399"/>
            <a:ext cx="11852563" cy="521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4"/>
          <p:cNvSpPr txBox="1"/>
          <p:nvPr>
            <p:ph idx="1" type="body"/>
          </p:nvPr>
        </p:nvSpPr>
        <p:spPr>
          <a:xfrm>
            <a:off x="503339" y="881063"/>
            <a:ext cx="11291583" cy="5218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iagram or Organization Chart" type="dgm">
  <p:cSld name="DIAGRAM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5"/>
          <p:cNvSpPr txBox="1"/>
          <p:nvPr>
            <p:ph type="title"/>
          </p:nvPr>
        </p:nvSpPr>
        <p:spPr>
          <a:xfrm>
            <a:off x="814918" y="115889"/>
            <a:ext cx="11042649" cy="70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5"/>
          <p:cNvSpPr/>
          <p:nvPr>
            <p:ph idx="2" type="dgm"/>
          </p:nvPr>
        </p:nvSpPr>
        <p:spPr>
          <a:xfrm>
            <a:off x="912285" y="1125538"/>
            <a:ext cx="11027833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Char char="•"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  <a:defRPr b="0" i="0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7" name="Google Shape;157;p35"/>
          <p:cNvSpPr txBox="1"/>
          <p:nvPr>
            <p:ph idx="11" type="ftr"/>
          </p:nvPr>
        </p:nvSpPr>
        <p:spPr>
          <a:xfrm>
            <a:off x="2930239" y="6492875"/>
            <a:ext cx="83265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4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E6D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175492" y="180399"/>
            <a:ext cx="11852563" cy="521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163945" y="1080655"/>
            <a:ext cx="11852563" cy="5412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080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Char char="•"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826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  <a:defRPr b="0" i="0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572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175492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2930239" y="6492875"/>
            <a:ext cx="83265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11268363" y="6492875"/>
            <a:ext cx="759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473871" y="164090"/>
            <a:ext cx="554183" cy="554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473871" y="164090"/>
            <a:ext cx="554183" cy="55418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</a:pPr>
            <a:r>
              <a:rPr lang="en-US"/>
              <a:t>Sorting in Parallel</a:t>
            </a:r>
            <a:endParaRPr/>
          </a:p>
        </p:txBody>
      </p:sp>
      <p:sp>
        <p:nvSpPr>
          <p:cNvPr id="163" name="Google Shape;163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/>
              <a:t>Week 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"/>
          <p:cNvSpPr txBox="1"/>
          <p:nvPr>
            <p:ph type="title"/>
          </p:nvPr>
        </p:nvSpPr>
        <p:spPr>
          <a:xfrm>
            <a:off x="175492" y="180399"/>
            <a:ext cx="11852563" cy="521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None/>
            </a:pPr>
            <a:r>
              <a:rPr lang="en-US"/>
              <a:t>Scalability</a:t>
            </a:r>
            <a:endParaRPr/>
          </a:p>
        </p:txBody>
      </p:sp>
      <p:sp>
        <p:nvSpPr>
          <p:cNvPr id="169" name="Google Shape;169;p2"/>
          <p:cNvSpPr txBox="1"/>
          <p:nvPr>
            <p:ph idx="1" type="body"/>
          </p:nvPr>
        </p:nvSpPr>
        <p:spPr>
          <a:xfrm>
            <a:off x="163945" y="1080655"/>
            <a:ext cx="11852563" cy="5412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619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600"/>
              <a:buChar char="•"/>
            </a:pPr>
            <a:r>
              <a:rPr lang="en-US"/>
              <a:t>Programs that can maintain a constant efficiency without increasing the problem size with increase in number of processes are sometimes said to be </a:t>
            </a:r>
            <a:r>
              <a:rPr b="1" lang="en-US"/>
              <a:t>strongly scalable</a:t>
            </a:r>
            <a:r>
              <a:rPr lang="en-US"/>
              <a:t>. </a:t>
            </a:r>
            <a:endParaRPr/>
          </a:p>
          <a:p>
            <a:pPr indent="0" lvl="0" marL="461963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525252"/>
              </a:buClr>
              <a:buSzPts val="3600"/>
              <a:buNone/>
            </a:pPr>
            <a:r>
              <a:t/>
            </a:r>
            <a:endParaRPr/>
          </a:p>
          <a:p>
            <a:pPr indent="-228600" lvl="0" marL="461963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525252"/>
              </a:buClr>
              <a:buSzPts val="3600"/>
              <a:buChar char="•"/>
            </a:pPr>
            <a:r>
              <a:rPr lang="en-US"/>
              <a:t>Programs that can maintain a constant efficiency if the problem size increases at the same rate as the number of processes are sometimes said to be </a:t>
            </a:r>
            <a:r>
              <a:rPr b="1" lang="en-US"/>
              <a:t>weakly scalable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"/>
          <p:cNvSpPr txBox="1"/>
          <p:nvPr>
            <p:ph type="title"/>
          </p:nvPr>
        </p:nvSpPr>
        <p:spPr>
          <a:xfrm>
            <a:off x="175492" y="180399"/>
            <a:ext cx="11852563" cy="521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None/>
            </a:pPr>
            <a:r>
              <a:rPr lang="en-US"/>
              <a:t>Parallel Sort, what does it means?</a:t>
            </a:r>
            <a:endParaRPr/>
          </a:p>
        </p:txBody>
      </p:sp>
      <p:graphicFrame>
        <p:nvGraphicFramePr>
          <p:cNvPr id="175" name="Google Shape;175;p3"/>
          <p:cNvGraphicFramePr/>
          <p:nvPr/>
        </p:nvGraphicFramePr>
        <p:xfrm>
          <a:off x="163513" y="1081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{5FA0F0DA-54D8-47E1-8072-F583B9304E3A}</a:tableStyleId>
              </a:tblPr>
              <a:tblGrid>
                <a:gridCol w="1481525"/>
                <a:gridCol w="1481525"/>
                <a:gridCol w="1481525"/>
                <a:gridCol w="1481525"/>
                <a:gridCol w="1481525"/>
                <a:gridCol w="1481525"/>
                <a:gridCol w="1481525"/>
                <a:gridCol w="1481525"/>
              </a:tblGrid>
              <a:tr h="1108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</a:tr>
              <a:tr h="11089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D6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D6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D6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D6"/>
                    </a:solidFill>
                  </a:tcPr>
                </a:tc>
                <a:tc hMerge="1"/>
              </a:tr>
              <a:tr h="409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D6"/>
                    </a:solidFill>
                  </a:tcPr>
                </a:tc>
              </a:tr>
              <a:tr h="1108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</a:tr>
            </a:tbl>
          </a:graphicData>
        </a:graphic>
      </p:graphicFrame>
      <p:sp>
        <p:nvSpPr>
          <p:cNvPr id="176" name="Google Shape;176;p3"/>
          <p:cNvSpPr txBox="1"/>
          <p:nvPr/>
        </p:nvSpPr>
        <p:spPr>
          <a:xfrm>
            <a:off x="284480" y="5354320"/>
            <a:ext cx="112572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on different processors gets sorted and remains on different processors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"/>
          <p:cNvSpPr txBox="1"/>
          <p:nvPr>
            <p:ph type="title"/>
          </p:nvPr>
        </p:nvSpPr>
        <p:spPr>
          <a:xfrm>
            <a:off x="175492" y="180399"/>
            <a:ext cx="11852563" cy="521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None/>
            </a:pPr>
            <a:r>
              <a:rPr lang="en-US"/>
              <a:t>Parallel Sort, what does it means?</a:t>
            </a:r>
            <a:endParaRPr/>
          </a:p>
        </p:txBody>
      </p:sp>
      <p:graphicFrame>
        <p:nvGraphicFramePr>
          <p:cNvPr id="182" name="Google Shape;182;p4"/>
          <p:cNvGraphicFramePr/>
          <p:nvPr/>
        </p:nvGraphicFramePr>
        <p:xfrm>
          <a:off x="163513" y="1081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{5FA0F0DA-54D8-47E1-8072-F583B9304E3A}</a:tableStyleId>
              </a:tblPr>
              <a:tblGrid>
                <a:gridCol w="1481525"/>
                <a:gridCol w="1481525"/>
                <a:gridCol w="1481525"/>
                <a:gridCol w="1481525"/>
                <a:gridCol w="1481525"/>
                <a:gridCol w="1481525"/>
                <a:gridCol w="1481525"/>
                <a:gridCol w="1481525"/>
              </a:tblGrid>
              <a:tr h="80270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9 2 4 7 1 3 6 5</a:t>
                      </a:r>
                      <a:endParaRPr/>
                    </a:p>
                  </a:txBody>
                  <a:tcPr marT="45725" marB="45725" marR="91450" marL="9145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</a:tr>
              <a:tr h="80270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D6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D6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D6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D6"/>
                    </a:solidFill>
                  </a:tcPr>
                </a:tc>
                <a:tc hMerge="1"/>
              </a:tr>
              <a:tr h="802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#</a:t>
                      </a:r>
                      <a:endParaRPr/>
                    </a:p>
                  </a:txBody>
                  <a:tcPr marT="45725" marB="45725" marR="91450" marL="9145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#</a:t>
                      </a:r>
                      <a:endParaRPr/>
                    </a:p>
                  </a:txBody>
                  <a:tcPr marT="45725" marB="45725" marR="91450" marL="91450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#</a:t>
                      </a:r>
                      <a:endParaRPr/>
                    </a:p>
                  </a:txBody>
                  <a:tcPr marT="45725" marB="45725" marR="91450" marL="9145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#</a:t>
                      </a:r>
                      <a:endParaRPr/>
                    </a:p>
                  </a:txBody>
                  <a:tcPr marT="45725" marB="45725" marR="91450" marL="91450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#</a:t>
                      </a:r>
                      <a:endParaRPr/>
                    </a:p>
                  </a:txBody>
                  <a:tcPr marT="45725" marB="45725" marR="91450" marL="9145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#</a:t>
                      </a:r>
                      <a:endParaRPr/>
                    </a:p>
                  </a:txBody>
                  <a:tcPr marT="45725" marB="45725" marR="91450" marL="91450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#</a:t>
                      </a:r>
                      <a:endParaRPr/>
                    </a:p>
                  </a:txBody>
                  <a:tcPr marT="45725" marB="45725" marR="91450" marL="9145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#</a:t>
                      </a:r>
                      <a:endParaRPr/>
                    </a:p>
                  </a:txBody>
                  <a:tcPr marT="45725" marB="45725" marR="91450" marL="91450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</a:tr>
              <a:tr h="80270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D6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D6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D6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D6"/>
                    </a:solidFill>
                  </a:tcPr>
                </a:tc>
                <a:tc hMerge="1"/>
              </a:tr>
              <a:tr h="80270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1 2 3 4 5 6 7 9</a:t>
                      </a:r>
                      <a:endParaRPr/>
                    </a:p>
                  </a:txBody>
                  <a:tcPr marT="45725" marB="45725" marR="91450" marL="9145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FF1"/>
                    </a:solidFill>
                  </a:tcPr>
                </a:tc>
              </a:tr>
            </a:tbl>
          </a:graphicData>
        </a:graphic>
      </p:graphicFrame>
      <p:sp>
        <p:nvSpPr>
          <p:cNvPr id="183" name="Google Shape;183;p4"/>
          <p:cNvSpPr txBox="1"/>
          <p:nvPr/>
        </p:nvSpPr>
        <p:spPr>
          <a:xfrm>
            <a:off x="175492" y="5776912"/>
            <a:ext cx="112572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is on a single CPU get distributed and sorted and received back in initial CPU.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"/>
          <p:cNvSpPr txBox="1"/>
          <p:nvPr>
            <p:ph type="title"/>
          </p:nvPr>
        </p:nvSpPr>
        <p:spPr>
          <a:xfrm>
            <a:off x="175492" y="180399"/>
            <a:ext cx="11852563" cy="521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None/>
            </a:pPr>
            <a:r>
              <a:rPr lang="en-US"/>
              <a:t>Recap into serial sorting algo</a:t>
            </a:r>
            <a:endParaRPr/>
          </a:p>
        </p:txBody>
      </p:sp>
      <p:sp>
        <p:nvSpPr>
          <p:cNvPr id="189" name="Google Shape;189;p5"/>
          <p:cNvSpPr txBox="1"/>
          <p:nvPr>
            <p:ph idx="1" type="body"/>
          </p:nvPr>
        </p:nvSpPr>
        <p:spPr>
          <a:xfrm>
            <a:off x="163945" y="770965"/>
            <a:ext cx="8527473" cy="5721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03275" lvl="0" marL="803275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000"/>
              <a:buAutoNum type="arabicPeriod"/>
            </a:pPr>
            <a:r>
              <a:rPr b="1" i="0" lang="en-US" sz="2000" u="none" strike="noStrike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void</a:t>
            </a:r>
            <a:r>
              <a:rPr b="1" i="0" lang="en-US" sz="2000" u="none" strike="noStrike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2000" u="none" strike="noStrike">
                <a:latin typeface="Verdana"/>
                <a:ea typeface="Verdana"/>
                <a:cs typeface="Verdana"/>
                <a:sym typeface="Verdana"/>
              </a:rPr>
              <a:t>Bubble_sort ( </a:t>
            </a:r>
            <a:r>
              <a:rPr b="1" i="0" lang="en-US" sz="2000" u="none" strike="noStrike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1" i="0" lang="en-US" sz="2000" u="none" strike="noStrike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2000" u="none" strike="noStrike">
                <a:latin typeface="Verdana"/>
                <a:ea typeface="Verdana"/>
                <a:cs typeface="Verdana"/>
                <a:sym typeface="Verdana"/>
              </a:rPr>
              <a:t>a[], </a:t>
            </a:r>
            <a:r>
              <a:rPr b="1" i="0" lang="en-US" sz="2000" u="none" strike="noStrike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1" i="0" lang="en-US" sz="2000" u="none" strike="noStrike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2000" u="none" strike="noStrike">
                <a:latin typeface="Verdana"/>
                <a:ea typeface="Verdana"/>
                <a:cs typeface="Verdana"/>
                <a:sym typeface="Verdana"/>
              </a:rPr>
              <a:t>n) {</a:t>
            </a:r>
            <a:endParaRPr/>
          </a:p>
          <a:p>
            <a:pPr indent="-803275" lvl="0" marL="803275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AutoNum type="arabicPeriod"/>
            </a:pPr>
            <a:r>
              <a:rPr b="1" i="0" lang="en-US" sz="2000" u="none" strike="noStrike"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b="1" i="0" lang="en-US" sz="2000" u="none" strike="noStrike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1" i="0" lang="en-US" sz="2000" u="none" strike="noStrike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2000" u="none" strike="noStrike">
                <a:latin typeface="Verdana"/>
                <a:ea typeface="Verdana"/>
                <a:cs typeface="Verdana"/>
                <a:sym typeface="Verdana"/>
              </a:rPr>
              <a:t>length, i, temp;</a:t>
            </a:r>
            <a:endParaRPr/>
          </a:p>
          <a:p>
            <a:pPr indent="-803275" lvl="0" marL="803275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AutoNum type="arabicPeriod"/>
            </a:pPr>
            <a:r>
              <a:rPr b="1" i="0" lang="en-US" sz="2000" u="none" strike="noStrike"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b="1" i="0" lang="en-US" sz="2000" u="none" strike="noStrik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b="1" i="0" lang="en-US" sz="2000" u="none" strike="noStrike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2000" u="none" strike="noStrike">
                <a:latin typeface="Verdana"/>
                <a:ea typeface="Verdana"/>
                <a:cs typeface="Verdana"/>
                <a:sym typeface="Verdana"/>
              </a:rPr>
              <a:t>(length = n ; length &gt;= 2 ; length−−)</a:t>
            </a:r>
            <a:endParaRPr/>
          </a:p>
          <a:p>
            <a:pPr indent="-803275" lvl="0" marL="803275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AutoNum type="arabicPeriod"/>
            </a:pPr>
            <a:r>
              <a:rPr b="1" i="0" lang="en-US" sz="2000" u="none" strike="noStrike">
                <a:latin typeface="Verdana"/>
                <a:ea typeface="Verdana"/>
                <a:cs typeface="Verdana"/>
                <a:sym typeface="Verdana"/>
              </a:rPr>
              <a:t>    </a:t>
            </a:r>
            <a:r>
              <a:rPr b="1" i="0" lang="en-US" sz="2000" u="none" strike="noStrik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b="1" i="0" lang="en-US" sz="2000" u="none" strike="noStrike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2000" u="none" strike="noStrike">
                <a:latin typeface="Verdana"/>
                <a:ea typeface="Verdana"/>
                <a:cs typeface="Verdana"/>
                <a:sym typeface="Verdana"/>
              </a:rPr>
              <a:t>(i=0; i&lt;length−1; i++)</a:t>
            </a:r>
            <a:endParaRPr/>
          </a:p>
          <a:p>
            <a:pPr indent="-803275" lvl="0" marL="803275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AutoNum type="arabicPeriod"/>
            </a:pPr>
            <a:r>
              <a:rPr b="1" i="0" lang="en-US" sz="2000" u="none" strike="noStrike">
                <a:latin typeface="Verdana"/>
                <a:ea typeface="Verdana"/>
                <a:cs typeface="Verdana"/>
                <a:sym typeface="Verdana"/>
              </a:rPr>
              <a:t>      </a:t>
            </a:r>
            <a:r>
              <a:rPr b="1" i="0" lang="en-US" sz="2000" u="none" strike="noStrik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b="1" i="0" lang="en-US" sz="2000" u="none" strike="noStrike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2000" u="none" strike="noStrike">
                <a:latin typeface="Verdana"/>
                <a:ea typeface="Verdana"/>
                <a:cs typeface="Verdana"/>
                <a:sym typeface="Verdana"/>
              </a:rPr>
              <a:t>(a[i]&gt;a[i+1]){</a:t>
            </a:r>
            <a:endParaRPr/>
          </a:p>
          <a:p>
            <a:pPr indent="-803275" lvl="0" marL="803275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AutoNum type="arabicPeriod"/>
            </a:pPr>
            <a:r>
              <a:rPr b="0" i="0" lang="en-US" sz="2000" u="none" strike="noStrike">
                <a:latin typeface="Verdana"/>
                <a:ea typeface="Verdana"/>
                <a:cs typeface="Verdana"/>
                <a:sym typeface="Verdana"/>
              </a:rPr>
              <a:t>        temp = a[i];</a:t>
            </a:r>
            <a:endParaRPr/>
          </a:p>
          <a:p>
            <a:pPr indent="-803275" lvl="0" marL="803275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AutoNum type="arabicPeriod"/>
            </a:pPr>
            <a:r>
              <a:rPr b="0" i="0" lang="en-US" sz="2000" u="none" strike="noStrike">
                <a:latin typeface="Verdana"/>
                <a:ea typeface="Verdana"/>
                <a:cs typeface="Verdana"/>
                <a:sym typeface="Verdana"/>
              </a:rPr>
              <a:t>        a[i] = a[i+1];</a:t>
            </a:r>
            <a:endParaRPr/>
          </a:p>
          <a:p>
            <a:pPr indent="-803275" lvl="0" marL="803275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AutoNum type="arabicPeriod"/>
            </a:pPr>
            <a:r>
              <a:rPr b="0" i="0" lang="en-US" sz="2000" u="none" strike="noStrike">
                <a:latin typeface="Verdana"/>
                <a:ea typeface="Verdana"/>
                <a:cs typeface="Verdana"/>
                <a:sym typeface="Verdana"/>
              </a:rPr>
              <a:t>        a[i+1] = temp;</a:t>
            </a:r>
            <a:endParaRPr/>
          </a:p>
          <a:p>
            <a:pPr indent="-803275" lvl="0" marL="803275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AutoNum type="arabicPeriod"/>
            </a:pPr>
            <a:r>
              <a:rPr b="0" i="0" lang="en-US" sz="2000" u="none" strike="noStrike">
                <a:latin typeface="Verdana"/>
                <a:ea typeface="Verdana"/>
                <a:cs typeface="Verdana"/>
                <a:sym typeface="Verdana"/>
              </a:rPr>
              <a:t>      }</a:t>
            </a:r>
            <a:endParaRPr/>
          </a:p>
          <a:p>
            <a:pPr indent="-803275" lvl="0" marL="803275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AutoNum type="arabicPeriod"/>
            </a:pPr>
            <a:r>
              <a:rPr b="0" i="0" lang="en-US" sz="2000" u="none" strike="noStrike">
                <a:latin typeface="Verdana"/>
                <a:ea typeface="Verdana"/>
                <a:cs typeface="Verdana"/>
                <a:sym typeface="Verdana"/>
              </a:rPr>
              <a:t>} </a:t>
            </a:r>
            <a:r>
              <a:rPr b="0" i="1" lang="en-US" sz="2000" u="none" strike="noStrike">
                <a:solidFill>
                  <a:srgbClr val="005827"/>
                </a:solidFill>
                <a:latin typeface="Verdana"/>
                <a:ea typeface="Verdana"/>
                <a:cs typeface="Verdana"/>
                <a:sym typeface="Verdana"/>
              </a:rPr>
              <a:t>/</a:t>
            </a:r>
            <a:r>
              <a:rPr b="0" i="0" lang="en-US" sz="2000" u="none" strike="noStrike">
                <a:solidFill>
                  <a:srgbClr val="005827"/>
                </a:solidFill>
                <a:latin typeface="Verdana"/>
                <a:ea typeface="Verdana"/>
                <a:cs typeface="Verdana"/>
                <a:sym typeface="Verdana"/>
              </a:rPr>
              <a:t>∗ </a:t>
            </a:r>
            <a:r>
              <a:rPr b="0" i="1" lang="en-US" sz="2000" u="none" strike="noStrike">
                <a:solidFill>
                  <a:srgbClr val="005827"/>
                </a:solidFill>
                <a:latin typeface="Verdana"/>
                <a:ea typeface="Verdana"/>
                <a:cs typeface="Verdana"/>
                <a:sym typeface="Verdana"/>
              </a:rPr>
              <a:t>Bubble_sort </a:t>
            </a:r>
            <a:r>
              <a:rPr b="0" i="0" lang="en-US" sz="2000" u="none" strike="noStrike">
                <a:solidFill>
                  <a:srgbClr val="005827"/>
                </a:solidFill>
                <a:latin typeface="Verdana"/>
                <a:ea typeface="Verdana"/>
                <a:cs typeface="Verdana"/>
                <a:sym typeface="Verdana"/>
              </a:rPr>
              <a:t>∗</a:t>
            </a:r>
            <a:r>
              <a:rPr b="0" i="1" lang="en-US" sz="2000" u="none" strike="noStrike">
                <a:solidFill>
                  <a:srgbClr val="005827"/>
                </a:solidFill>
                <a:latin typeface="Verdana"/>
                <a:ea typeface="Verdana"/>
                <a:cs typeface="Verdana"/>
                <a:sym typeface="Verdana"/>
              </a:rPr>
              <a:t>/</a:t>
            </a:r>
            <a:endParaRPr sz="3600">
              <a:solidFill>
                <a:srgbClr val="00582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0" name="Google Shape;190;p5"/>
          <p:cNvSpPr txBox="1"/>
          <p:nvPr>
            <p:ph idx="2" type="body"/>
          </p:nvPr>
        </p:nvSpPr>
        <p:spPr>
          <a:xfrm>
            <a:off x="8802688" y="770965"/>
            <a:ext cx="3297237" cy="5721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"/>
          <p:cNvSpPr txBox="1"/>
          <p:nvPr>
            <p:ph type="title"/>
          </p:nvPr>
        </p:nvSpPr>
        <p:spPr>
          <a:xfrm>
            <a:off x="175492" y="180399"/>
            <a:ext cx="11852563" cy="521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None/>
            </a:pPr>
            <a:r>
              <a:rPr lang="en-US"/>
              <a:t>Bubble sort</a:t>
            </a:r>
            <a:endParaRPr/>
          </a:p>
        </p:txBody>
      </p:sp>
      <p:pic>
        <p:nvPicPr>
          <p:cNvPr descr="Bubble sort in C | Programming Simplified" id="196" name="Google Shape;196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5408" l="0" r="0" t="28438"/>
          <a:stretch/>
        </p:blipFill>
        <p:spPr>
          <a:xfrm>
            <a:off x="190501" y="2814320"/>
            <a:ext cx="11623040" cy="2011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"/>
          <p:cNvSpPr txBox="1"/>
          <p:nvPr>
            <p:ph type="title"/>
          </p:nvPr>
        </p:nvSpPr>
        <p:spPr>
          <a:xfrm>
            <a:off x="175492" y="180399"/>
            <a:ext cx="11852563" cy="521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None/>
            </a:pPr>
            <a:r>
              <a:rPr lang="en-US"/>
              <a:t>Odd Even Sort</a:t>
            </a:r>
            <a:endParaRPr/>
          </a:p>
        </p:txBody>
      </p:sp>
      <p:pic>
        <p:nvPicPr>
          <p:cNvPr id="202" name="Google Shape;202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4050" y="1239044"/>
            <a:ext cx="5791200" cy="509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"/>
          <p:cNvSpPr txBox="1"/>
          <p:nvPr>
            <p:ph type="title"/>
          </p:nvPr>
        </p:nvSpPr>
        <p:spPr>
          <a:xfrm>
            <a:off x="175492" y="180399"/>
            <a:ext cx="11852563" cy="521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None/>
            </a:pPr>
            <a:r>
              <a:rPr lang="en-US"/>
              <a:t>Odd Even Sort</a:t>
            </a:r>
            <a:endParaRPr/>
          </a:p>
        </p:txBody>
      </p:sp>
      <p:sp>
        <p:nvSpPr>
          <p:cNvPr id="208" name="Google Shape;208;p8"/>
          <p:cNvSpPr txBox="1"/>
          <p:nvPr>
            <p:ph idx="1" type="body"/>
          </p:nvPr>
        </p:nvSpPr>
        <p:spPr>
          <a:xfrm>
            <a:off x="163945" y="770965"/>
            <a:ext cx="8527473" cy="5721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840581" lvl="0" marL="803275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AutoNum type="arabicPeriod"/>
            </a:pPr>
            <a:r>
              <a:rPr b="1" i="0" lang="en-US" sz="1800" u="none" strike="noStrike">
                <a:latin typeface="Verdana"/>
                <a:ea typeface="Verdana"/>
                <a:cs typeface="Verdana"/>
                <a:sym typeface="Verdana"/>
              </a:rPr>
              <a:t>void </a:t>
            </a:r>
            <a:r>
              <a:rPr b="0" i="0" lang="en-US" sz="1800" u="none" strike="noStrike">
                <a:latin typeface="Verdana"/>
                <a:ea typeface="Verdana"/>
                <a:cs typeface="Verdana"/>
                <a:sym typeface="Verdana"/>
              </a:rPr>
              <a:t>Odd_even_sort ( </a:t>
            </a:r>
            <a:r>
              <a:rPr b="1" i="0" lang="en-US" sz="1800" u="none" strike="noStrike"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b="0" i="0" lang="en-US" sz="1800" u="none" strike="noStrike">
                <a:latin typeface="Verdana"/>
                <a:ea typeface="Verdana"/>
                <a:cs typeface="Verdana"/>
                <a:sym typeface="Verdana"/>
              </a:rPr>
              <a:t>a[], </a:t>
            </a:r>
            <a:r>
              <a:rPr b="1" i="0" lang="en-US" sz="1800" u="none" strike="noStrike"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b="0" i="0" lang="en-US" sz="1800" u="none" strike="noStrike">
                <a:latin typeface="Verdana"/>
                <a:ea typeface="Verdana"/>
                <a:cs typeface="Verdana"/>
                <a:sym typeface="Verdana"/>
              </a:rPr>
              <a:t>n) {</a:t>
            </a:r>
            <a:endParaRPr/>
          </a:p>
          <a:p>
            <a:pPr indent="-840581" lvl="0" marL="803275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AutoNum type="arabicPeriod"/>
            </a:pPr>
            <a:r>
              <a:rPr b="1" i="0" lang="en-US" sz="1800" u="none" strike="noStrike"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b="0" i="0" lang="en-US" sz="1800" u="none" strike="noStrike">
                <a:latin typeface="Verdana"/>
                <a:ea typeface="Verdana"/>
                <a:cs typeface="Verdana"/>
                <a:sym typeface="Verdana"/>
              </a:rPr>
              <a:t>phase, i;</a:t>
            </a:r>
            <a:endParaRPr/>
          </a:p>
          <a:p>
            <a:pPr indent="-840581" lvl="0" marL="803275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AutoNum type="arabicPeriod"/>
            </a:pPr>
            <a:r>
              <a:rPr b="1" i="0" lang="en-US" sz="1800" u="none" strike="noStrike"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b="0" i="0" lang="en-US" sz="1800" u="none" strike="noStrike">
                <a:latin typeface="Verdana"/>
                <a:ea typeface="Verdana"/>
                <a:cs typeface="Verdana"/>
                <a:sym typeface="Verdana"/>
              </a:rPr>
              <a:t>(phase = 0; phase &lt; n ; phase++)</a:t>
            </a:r>
            <a:endParaRPr/>
          </a:p>
          <a:p>
            <a:pPr indent="-840581" lvl="0" marL="803275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AutoNum type="arabicPeriod"/>
            </a:pPr>
            <a:r>
              <a:rPr b="1" i="0" lang="en-US" sz="1800" u="none" strike="noStrike">
                <a:latin typeface="Verdana"/>
                <a:ea typeface="Verdana"/>
                <a:cs typeface="Verdana"/>
                <a:sym typeface="Verdana"/>
              </a:rPr>
              <a:t>  if </a:t>
            </a:r>
            <a:r>
              <a:rPr b="0" i="0" lang="en-US" sz="1800" u="none" strike="noStrike">
                <a:latin typeface="Verdana"/>
                <a:ea typeface="Verdana"/>
                <a:cs typeface="Verdana"/>
                <a:sym typeface="Verdana"/>
              </a:rPr>
              <a:t>(phase%2 == 0){ </a:t>
            </a:r>
            <a:r>
              <a:rPr b="0" i="1" lang="en-US" sz="1800" u="none" strike="noStrike">
                <a:latin typeface="Verdana"/>
                <a:ea typeface="Verdana"/>
                <a:cs typeface="Verdana"/>
                <a:sym typeface="Verdana"/>
              </a:rPr>
              <a:t>/</a:t>
            </a:r>
            <a:r>
              <a:rPr b="0" i="0" lang="en-US" sz="1800" u="none" strike="noStrike">
                <a:latin typeface="Verdana"/>
                <a:ea typeface="Verdana"/>
                <a:cs typeface="Verdana"/>
                <a:sym typeface="Verdana"/>
              </a:rPr>
              <a:t>∗ </a:t>
            </a:r>
            <a:r>
              <a:rPr b="0" i="1" lang="en-US" sz="1800" u="none" strike="noStrike">
                <a:latin typeface="Verdana"/>
                <a:ea typeface="Verdana"/>
                <a:cs typeface="Verdana"/>
                <a:sym typeface="Verdana"/>
              </a:rPr>
              <a:t>Even phase </a:t>
            </a:r>
            <a:r>
              <a:rPr b="0" i="0" lang="en-US" sz="1800" u="none" strike="noStrike">
                <a:latin typeface="Verdana"/>
                <a:ea typeface="Verdana"/>
                <a:cs typeface="Verdana"/>
                <a:sym typeface="Verdana"/>
              </a:rPr>
              <a:t>∗</a:t>
            </a:r>
            <a:r>
              <a:rPr b="0" i="1" lang="en-US" sz="1800" u="none" strike="noStrike">
                <a:latin typeface="Verdana"/>
                <a:ea typeface="Verdana"/>
                <a:cs typeface="Verdana"/>
                <a:sym typeface="Verdana"/>
              </a:rPr>
              <a:t>/</a:t>
            </a:r>
            <a:endParaRPr/>
          </a:p>
          <a:p>
            <a:pPr indent="-840581" lvl="0" marL="803275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AutoNum type="arabicPeriod"/>
            </a:pPr>
            <a:r>
              <a:rPr b="1" i="0" lang="en-US" sz="1800" u="none" strike="noStrike">
                <a:latin typeface="Verdana"/>
                <a:ea typeface="Verdana"/>
                <a:cs typeface="Verdana"/>
                <a:sym typeface="Verdana"/>
              </a:rPr>
              <a:t>    for </a:t>
            </a:r>
            <a:r>
              <a:rPr b="0" i="0" lang="en-US" sz="1800" u="none" strike="noStrike">
                <a:latin typeface="Verdana"/>
                <a:ea typeface="Verdana"/>
                <a:cs typeface="Verdana"/>
                <a:sym typeface="Verdana"/>
              </a:rPr>
              <a:t>(i=1; i&lt;n ; i+=2)</a:t>
            </a:r>
            <a:endParaRPr/>
          </a:p>
          <a:p>
            <a:pPr indent="-840581" lvl="0" marL="803275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AutoNum type="arabicPeriod"/>
            </a:pPr>
            <a:r>
              <a:rPr b="1" i="0" lang="en-US" sz="1800" u="none" strike="noStrike">
                <a:latin typeface="Verdana"/>
                <a:ea typeface="Verdana"/>
                <a:cs typeface="Verdana"/>
                <a:sym typeface="Verdana"/>
              </a:rPr>
              <a:t>      if </a:t>
            </a:r>
            <a:r>
              <a:rPr b="0" i="0" lang="en-US" sz="1800" u="none" strike="noStrike">
                <a:latin typeface="Verdana"/>
                <a:ea typeface="Verdana"/>
                <a:cs typeface="Verdana"/>
                <a:sym typeface="Verdana"/>
              </a:rPr>
              <a:t>(a[i−1]&gt;a[i]) {</a:t>
            </a:r>
            <a:endParaRPr b="0" i="0" sz="1800" u="none" strike="noStrike">
              <a:latin typeface="Verdana"/>
              <a:ea typeface="Verdana"/>
              <a:cs typeface="Verdana"/>
              <a:sym typeface="Verdana"/>
            </a:endParaRPr>
          </a:p>
          <a:p>
            <a:pPr indent="-840581" lvl="0" marL="803275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150"/>
              <a:buFont typeface="Verdana"/>
              <a:buAutoNum type="arabicPeriod"/>
            </a:pPr>
            <a:r>
              <a:rPr lang="en-US" sz="1800">
                <a:latin typeface="Verdana"/>
                <a:ea typeface="Verdana"/>
                <a:cs typeface="Verdana"/>
                <a:sym typeface="Verdana"/>
              </a:rPr>
              <a:t>        Swap(a,i,i-1);</a:t>
            </a:r>
            <a:r>
              <a:rPr lang="en-US"/>
              <a:t> </a:t>
            </a:r>
            <a:endParaRPr/>
          </a:p>
          <a:p>
            <a:pPr indent="-840581" lvl="0" marL="803275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50"/>
              <a:buAutoNum type="arabicPeriod"/>
            </a:pPr>
            <a:r>
              <a:rPr b="0" i="0" lang="en-US" sz="1800" u="none" strike="noStrike">
                <a:latin typeface="Verdana"/>
                <a:ea typeface="Verdana"/>
                <a:cs typeface="Verdana"/>
                <a:sym typeface="Verdana"/>
              </a:rPr>
              <a:t>      }</a:t>
            </a:r>
            <a:endParaRPr/>
          </a:p>
          <a:p>
            <a:pPr indent="-840581" lvl="0" marL="803275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AutoNum type="arabicPeriod"/>
            </a:pPr>
            <a:r>
              <a:rPr b="0" i="0" lang="en-US" sz="1800" u="none" strike="noStrike">
                <a:latin typeface="Verdana"/>
                <a:ea typeface="Verdana"/>
                <a:cs typeface="Verdana"/>
                <a:sym typeface="Verdana"/>
              </a:rPr>
              <a:t>  }</a:t>
            </a:r>
            <a:r>
              <a:rPr b="1" i="0" lang="en-US" sz="1800" u="none" strike="noStrike">
                <a:latin typeface="Verdana"/>
                <a:ea typeface="Verdana"/>
                <a:cs typeface="Verdana"/>
                <a:sym typeface="Verdana"/>
              </a:rPr>
              <a:t>else </a:t>
            </a:r>
            <a:r>
              <a:rPr b="0" i="0" lang="en-US" sz="1800" u="none" strike="noStrike">
                <a:latin typeface="Verdana"/>
                <a:ea typeface="Verdana"/>
                <a:cs typeface="Verdana"/>
                <a:sym typeface="Verdana"/>
              </a:rPr>
              <a:t>{ </a:t>
            </a:r>
            <a:r>
              <a:rPr b="0" i="1" lang="en-US" sz="1800" u="none" strike="noStrike">
                <a:latin typeface="Verdana"/>
                <a:ea typeface="Verdana"/>
                <a:cs typeface="Verdana"/>
                <a:sym typeface="Verdana"/>
              </a:rPr>
              <a:t>/</a:t>
            </a:r>
            <a:r>
              <a:rPr b="0" i="0" lang="en-US" sz="1800" u="none" strike="noStrike">
                <a:latin typeface="Verdana"/>
                <a:ea typeface="Verdana"/>
                <a:cs typeface="Verdana"/>
                <a:sym typeface="Verdana"/>
              </a:rPr>
              <a:t>∗ </a:t>
            </a:r>
            <a:r>
              <a:rPr b="0" i="1" lang="en-US" sz="1800" u="none" strike="noStrike">
                <a:latin typeface="Verdana"/>
                <a:ea typeface="Verdana"/>
                <a:cs typeface="Verdana"/>
                <a:sym typeface="Verdana"/>
              </a:rPr>
              <a:t>Odd phase </a:t>
            </a:r>
            <a:r>
              <a:rPr b="0" i="0" lang="en-US" sz="1800" u="none" strike="noStrike">
                <a:latin typeface="Verdana"/>
                <a:ea typeface="Verdana"/>
                <a:cs typeface="Verdana"/>
                <a:sym typeface="Verdana"/>
              </a:rPr>
              <a:t>∗</a:t>
            </a:r>
            <a:r>
              <a:rPr b="0" i="1" lang="en-US" sz="1800" u="none" strike="noStrike">
                <a:latin typeface="Verdana"/>
                <a:ea typeface="Verdana"/>
                <a:cs typeface="Verdana"/>
                <a:sym typeface="Verdana"/>
              </a:rPr>
              <a:t>/</a:t>
            </a:r>
            <a:endParaRPr/>
          </a:p>
          <a:p>
            <a:pPr indent="-840581" lvl="0" marL="803275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AutoNum type="arabicPeriod"/>
            </a:pPr>
            <a:r>
              <a:rPr b="1" i="0" lang="en-US" sz="1800" u="none" strike="noStrike">
                <a:latin typeface="Verdana"/>
                <a:ea typeface="Verdana"/>
                <a:cs typeface="Verdana"/>
                <a:sym typeface="Verdana"/>
              </a:rPr>
              <a:t>    for </a:t>
            </a:r>
            <a:r>
              <a:rPr b="0" i="0" lang="en-US" sz="1800" u="none" strike="noStrike">
                <a:latin typeface="Verdana"/>
                <a:ea typeface="Verdana"/>
                <a:cs typeface="Verdana"/>
                <a:sym typeface="Verdana"/>
              </a:rPr>
              <a:t>( i = 1; i &lt; n−1; i += 2)</a:t>
            </a:r>
            <a:endParaRPr/>
          </a:p>
          <a:p>
            <a:pPr indent="-840581" lvl="0" marL="803275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AutoNum type="arabicPeriod"/>
            </a:pPr>
            <a:r>
              <a:rPr b="1" i="0" lang="en-US" sz="1800" u="none" strike="noStrike">
                <a:latin typeface="Verdana"/>
                <a:ea typeface="Verdana"/>
                <a:cs typeface="Verdana"/>
                <a:sym typeface="Verdana"/>
              </a:rPr>
              <a:t>      if </a:t>
            </a:r>
            <a:r>
              <a:rPr b="0" i="0" lang="en-US" sz="1800" u="none" strike="noStrike">
                <a:latin typeface="Verdana"/>
                <a:ea typeface="Verdana"/>
                <a:cs typeface="Verdana"/>
                <a:sym typeface="Verdana"/>
              </a:rPr>
              <a:t>(a[i]&gt;a[i+1]) {</a:t>
            </a:r>
            <a:endParaRPr/>
          </a:p>
          <a:p>
            <a:pPr indent="-840581" lvl="0" marL="803275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AutoNum type="arabicPeriod"/>
            </a:pPr>
            <a:r>
              <a:rPr b="0" i="0" lang="en-US" sz="1800" u="none" strike="noStrike">
                <a:latin typeface="Verdana"/>
                <a:ea typeface="Verdana"/>
                <a:cs typeface="Verdana"/>
                <a:sym typeface="Verdana"/>
              </a:rPr>
              <a:t>        </a:t>
            </a:r>
            <a:r>
              <a:rPr lang="en-US" sz="1800">
                <a:latin typeface="Verdana"/>
                <a:ea typeface="Verdana"/>
                <a:cs typeface="Verdana"/>
                <a:sym typeface="Verdana"/>
              </a:rPr>
              <a:t>Swap(a,i,i+1)</a:t>
            </a:r>
            <a:r>
              <a:rPr b="0" i="0" lang="en-US" sz="1800" u="none" strike="noStrike">
                <a:latin typeface="Verdana"/>
                <a:ea typeface="Verdana"/>
                <a:cs typeface="Verdana"/>
                <a:sym typeface="Verdana"/>
              </a:rPr>
              <a:t>;</a:t>
            </a:r>
            <a:endParaRPr/>
          </a:p>
          <a:p>
            <a:pPr indent="-840581" lvl="0" marL="803275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AutoNum type="arabicPeriod"/>
            </a:pPr>
            <a:r>
              <a:rPr b="0" i="0" lang="en-US" sz="1800" u="none" strike="noStrike">
                <a:latin typeface="Verdana"/>
                <a:ea typeface="Verdana"/>
                <a:cs typeface="Verdana"/>
                <a:sym typeface="Verdana"/>
              </a:rPr>
              <a:t>      }</a:t>
            </a:r>
            <a:endParaRPr/>
          </a:p>
          <a:p>
            <a:pPr indent="-840581" lvl="0" marL="803275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AutoNum type="arabicPeriod"/>
            </a:pPr>
            <a:r>
              <a:rPr b="0" i="0" lang="en-US" sz="1800" u="none" strike="noStrike">
                <a:latin typeface="Verdana"/>
                <a:ea typeface="Verdana"/>
                <a:cs typeface="Verdana"/>
                <a:sym typeface="Verdana"/>
              </a:rPr>
              <a:t>  }</a:t>
            </a:r>
            <a:endParaRPr/>
          </a:p>
          <a:p>
            <a:pPr indent="-840581" lvl="0" marL="803275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AutoNum type="arabicPeriod"/>
            </a:pPr>
            <a:r>
              <a:rPr b="0" i="0" lang="en-US" sz="1800" u="none" strike="noStrike">
                <a:latin typeface="Verdana"/>
                <a:ea typeface="Verdana"/>
                <a:cs typeface="Verdana"/>
                <a:sym typeface="Verdana"/>
              </a:rPr>
              <a:t>}</a:t>
            </a:r>
            <a:r>
              <a:rPr b="0" i="1" lang="en-US" sz="1800" u="none" strike="noStrike">
                <a:latin typeface="Verdana"/>
                <a:ea typeface="Verdana"/>
                <a:cs typeface="Verdana"/>
                <a:sym typeface="Verdana"/>
              </a:rPr>
              <a:t>/</a:t>
            </a:r>
            <a:r>
              <a:rPr b="0" i="0" lang="en-US" sz="1800" u="none" strike="noStrike">
                <a:latin typeface="Verdana"/>
                <a:ea typeface="Verdana"/>
                <a:cs typeface="Verdana"/>
                <a:sym typeface="Verdana"/>
              </a:rPr>
              <a:t>∗ </a:t>
            </a:r>
            <a:r>
              <a:rPr b="0" i="1" lang="en-US" sz="1800" u="none" strike="noStrike">
                <a:latin typeface="Verdana"/>
                <a:ea typeface="Verdana"/>
                <a:cs typeface="Verdana"/>
                <a:sym typeface="Verdana"/>
              </a:rPr>
              <a:t>Odd_even_sort </a:t>
            </a:r>
            <a:r>
              <a:rPr b="0" i="0" lang="en-US" sz="1800" u="none" strike="noStrike">
                <a:latin typeface="Verdana"/>
                <a:ea typeface="Verdana"/>
                <a:cs typeface="Verdana"/>
                <a:sym typeface="Verdana"/>
              </a:rPr>
              <a:t>∗</a:t>
            </a:r>
            <a:r>
              <a:rPr b="0" i="1" lang="en-US" sz="1800" u="none" strike="noStrike">
                <a:latin typeface="Verdana"/>
                <a:ea typeface="Verdana"/>
                <a:cs typeface="Verdana"/>
                <a:sym typeface="Verdana"/>
              </a:rPr>
              <a:t>/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9" name="Google Shape;209;p8"/>
          <p:cNvSpPr txBox="1"/>
          <p:nvPr>
            <p:ph idx="2" type="body"/>
          </p:nvPr>
        </p:nvSpPr>
        <p:spPr>
          <a:xfrm>
            <a:off x="8004125" y="770975"/>
            <a:ext cx="4095900" cy="57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roid Sans Mono"/>
              <a:buAutoNum type="arabicPeriod"/>
            </a:pPr>
            <a:r>
              <a:rPr lang="en-US" sz="1600">
                <a:latin typeface="Droid Sans Mono"/>
                <a:ea typeface="Droid Sans Mono"/>
                <a:cs typeface="Droid Sans Mono"/>
                <a:sym typeface="Droid Sans Mono"/>
              </a:rPr>
              <a:t>Swap(int arr[],int i,int j)</a:t>
            </a:r>
            <a:endParaRPr sz="160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roid Sans Mono"/>
              <a:buAutoNum type="arabicPeriod"/>
            </a:pPr>
            <a:r>
              <a:rPr lang="en-US" sz="1600">
                <a:latin typeface="Droid Sans Mono"/>
                <a:ea typeface="Droid Sans Mono"/>
                <a:cs typeface="Droid Sans Mono"/>
                <a:sym typeface="Droid Sans Mono"/>
              </a:rPr>
              <a:t>{</a:t>
            </a:r>
            <a:endParaRPr sz="160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roid Sans Mono"/>
              <a:buAutoNum type="arabicPeriod"/>
            </a:pPr>
            <a:r>
              <a:rPr lang="en-US" sz="16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int </a:t>
            </a:r>
            <a:r>
              <a:rPr lang="en-US" sz="16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temp = a[i];</a:t>
            </a:r>
            <a:endParaRPr sz="16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roid Sans Mono"/>
              <a:buAutoNum type="arabicPeriod"/>
            </a:pPr>
            <a:r>
              <a:rPr lang="en-US" sz="16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a[i] = a[j];</a:t>
            </a:r>
            <a:endParaRPr sz="16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roid Sans Mono"/>
              <a:buAutoNum type="arabicPeriod"/>
            </a:pPr>
            <a:r>
              <a:rPr lang="en-US" sz="16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a[j] = temp ;</a:t>
            </a:r>
            <a:endParaRPr sz="16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roid Sans Mono"/>
              <a:buAutoNum type="arabicPeriod"/>
            </a:pPr>
            <a:r>
              <a:rPr lang="en-US" sz="16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}</a:t>
            </a:r>
            <a:endParaRPr sz="16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table with numbers and letters&#10;&#10;Description automatically generated" id="214" name="Google Shape;214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945" y="1524118"/>
            <a:ext cx="11852563" cy="36446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5" name="Google Shape;215;p10"/>
          <p:cNvCxnSpPr/>
          <p:nvPr/>
        </p:nvCxnSpPr>
        <p:spPr>
          <a:xfrm>
            <a:off x="4481225" y="3529200"/>
            <a:ext cx="673200" cy="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6" name="Google Shape;216;p10"/>
          <p:cNvCxnSpPr/>
          <p:nvPr/>
        </p:nvCxnSpPr>
        <p:spPr>
          <a:xfrm>
            <a:off x="9236950" y="3529200"/>
            <a:ext cx="673200" cy="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7" name="Google Shape;217;p10"/>
          <p:cNvCxnSpPr/>
          <p:nvPr/>
        </p:nvCxnSpPr>
        <p:spPr>
          <a:xfrm>
            <a:off x="6868500" y="3963425"/>
            <a:ext cx="673200" cy="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8" name="Google Shape;218;p10"/>
          <p:cNvCxnSpPr/>
          <p:nvPr/>
        </p:nvCxnSpPr>
        <p:spPr>
          <a:xfrm>
            <a:off x="4481225" y="4335025"/>
            <a:ext cx="673200" cy="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9" name="Google Shape;219;p10"/>
          <p:cNvCxnSpPr/>
          <p:nvPr/>
        </p:nvCxnSpPr>
        <p:spPr>
          <a:xfrm>
            <a:off x="9236950" y="4335025"/>
            <a:ext cx="673200" cy="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0" name="Google Shape;220;p10"/>
          <p:cNvCxnSpPr/>
          <p:nvPr/>
        </p:nvCxnSpPr>
        <p:spPr>
          <a:xfrm>
            <a:off x="6868500" y="4742125"/>
            <a:ext cx="673200" cy="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9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diagram of a algorithm&#10;&#10;Description automatically generated" id="225" name="Google Shape;225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059" y="200025"/>
            <a:ext cx="11762334" cy="629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3832441f27_0_6"/>
          <p:cNvSpPr txBox="1"/>
          <p:nvPr>
            <p:ph idx="1" type="body"/>
          </p:nvPr>
        </p:nvSpPr>
        <p:spPr>
          <a:xfrm>
            <a:off x="163945" y="200025"/>
            <a:ext cx="11852700" cy="6292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g33832441f27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50" y="713255"/>
            <a:ext cx="10088900" cy="5431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3832441f27_0_11"/>
          <p:cNvSpPr txBox="1"/>
          <p:nvPr>
            <p:ph idx="1" type="body"/>
          </p:nvPr>
        </p:nvSpPr>
        <p:spPr>
          <a:xfrm>
            <a:off x="163945" y="200025"/>
            <a:ext cx="11852700" cy="6292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7" name="Google Shape;237;g33832441f27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606" y="331750"/>
            <a:ext cx="11084788" cy="619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3832441f27_0_16"/>
          <p:cNvSpPr txBox="1"/>
          <p:nvPr>
            <p:ph idx="1" type="body"/>
          </p:nvPr>
        </p:nvSpPr>
        <p:spPr>
          <a:xfrm>
            <a:off x="163945" y="1080655"/>
            <a:ext cx="11852700" cy="5412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The MPI standard allows MPI_Send to behave in two different ways: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AutoNum type="arabicPeriod"/>
            </a:pPr>
            <a:r>
              <a:rPr lang="en-US">
                <a:solidFill>
                  <a:schemeClr val="dk1"/>
                </a:solidFill>
              </a:rPr>
              <a:t>it can simply copy the message into an MPI managed buffer and return,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AutoNum type="arabicPeriod"/>
            </a:pPr>
            <a:r>
              <a:rPr lang="en-US">
                <a:solidFill>
                  <a:schemeClr val="dk1"/>
                </a:solidFill>
              </a:rPr>
              <a:t>or it can block until the matching call to MPI_Recv starts.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3832441f27_0_16"/>
          <p:cNvSpPr txBox="1"/>
          <p:nvPr>
            <p:ph type="title"/>
          </p:nvPr>
        </p:nvSpPr>
        <p:spPr>
          <a:xfrm>
            <a:off x="175492" y="180399"/>
            <a:ext cx="11852700" cy="521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Can you spot the problem with MPI_Send ????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3832441f27_0_21"/>
          <p:cNvSpPr txBox="1"/>
          <p:nvPr>
            <p:ph type="title"/>
          </p:nvPr>
        </p:nvSpPr>
        <p:spPr>
          <a:xfrm>
            <a:off x="175492" y="180399"/>
            <a:ext cx="11852700" cy="521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Deadlock - Dining Philosophers Problem</a:t>
            </a:r>
            <a:endParaRPr/>
          </a:p>
        </p:txBody>
      </p:sp>
      <p:sp>
        <p:nvSpPr>
          <p:cNvPr id="249" name="Google Shape;249;g33832441f27_0_21"/>
          <p:cNvSpPr txBox="1"/>
          <p:nvPr>
            <p:ph idx="1" type="body"/>
          </p:nvPr>
        </p:nvSpPr>
        <p:spPr>
          <a:xfrm>
            <a:off x="163945" y="1080655"/>
            <a:ext cx="11852700" cy="5412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If the MPI_Send executed by each process blocks, no process will be able to start executing a call to MPI_Recv, and the program will hang or deadlock.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Each process is blocked waiting for an event that will never happen.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3832441f27_0_26"/>
          <p:cNvSpPr txBox="1"/>
          <p:nvPr>
            <p:ph type="title"/>
          </p:nvPr>
        </p:nvSpPr>
        <p:spPr>
          <a:xfrm>
            <a:off x="175492" y="180399"/>
            <a:ext cx="11852700" cy="521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Unsafe MPI Programs</a:t>
            </a:r>
            <a:endParaRPr/>
          </a:p>
        </p:txBody>
      </p:sp>
      <p:sp>
        <p:nvSpPr>
          <p:cNvPr id="255" name="Google Shape;255;g33832441f27_0_26"/>
          <p:cNvSpPr txBox="1"/>
          <p:nvPr>
            <p:ph idx="1" type="body"/>
          </p:nvPr>
        </p:nvSpPr>
        <p:spPr>
          <a:xfrm>
            <a:off x="163945" y="1080655"/>
            <a:ext cx="11852700" cy="5412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A program that relies on MPI provided buffering is said to be unsafe.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Such a program may run without problems for various sets of input, but it may hang or crash with other sets.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3832441f27_0_31"/>
          <p:cNvSpPr txBox="1"/>
          <p:nvPr>
            <p:ph type="title"/>
          </p:nvPr>
        </p:nvSpPr>
        <p:spPr>
          <a:xfrm>
            <a:off x="175492" y="180399"/>
            <a:ext cx="11852700" cy="521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Alternative: Reorder the send recv</a:t>
            </a:r>
            <a:endParaRPr/>
          </a:p>
        </p:txBody>
      </p:sp>
      <p:sp>
        <p:nvSpPr>
          <p:cNvPr id="261" name="Google Shape;261;g33832441f27_0_31"/>
          <p:cNvSpPr txBox="1"/>
          <p:nvPr>
            <p:ph idx="1" type="body"/>
          </p:nvPr>
        </p:nvSpPr>
        <p:spPr>
          <a:xfrm>
            <a:off x="163945" y="1080655"/>
            <a:ext cx="11852700" cy="5412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2" name="Google Shape;262;g33832441f27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4852" y="1080650"/>
            <a:ext cx="8993298" cy="1004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g33832441f27_0_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9350" y="3551789"/>
            <a:ext cx="9680900" cy="294116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33832441f27_0_31"/>
          <p:cNvSpPr/>
          <p:nvPr/>
        </p:nvSpPr>
        <p:spPr>
          <a:xfrm>
            <a:off x="4503170" y="2214348"/>
            <a:ext cx="692396" cy="1290321"/>
          </a:xfrm>
          <a:custGeom>
            <a:rect b="b" l="l" r="r" t="t"/>
            <a:pathLst>
              <a:path extrusionOk="0" h="1016001" w="585536">
                <a:moveTo>
                  <a:pt x="58821" y="37432"/>
                </a:moveTo>
                <a:cubicBezTo>
                  <a:pt x="274052" y="18716"/>
                  <a:pt x="489284" y="0"/>
                  <a:pt x="491958" y="37432"/>
                </a:cubicBezTo>
                <a:cubicBezTo>
                  <a:pt x="494632" y="74864"/>
                  <a:pt x="74863" y="216569"/>
                  <a:pt x="74863" y="262022"/>
                </a:cubicBezTo>
                <a:cubicBezTo>
                  <a:pt x="74863" y="307475"/>
                  <a:pt x="502653" y="264695"/>
                  <a:pt x="491958" y="310148"/>
                </a:cubicBezTo>
                <a:cubicBezTo>
                  <a:pt x="481263" y="355601"/>
                  <a:pt x="0" y="491959"/>
                  <a:pt x="10695" y="534738"/>
                </a:cubicBezTo>
                <a:cubicBezTo>
                  <a:pt x="21390" y="577517"/>
                  <a:pt x="526716" y="537412"/>
                  <a:pt x="556126" y="566822"/>
                </a:cubicBezTo>
                <a:cubicBezTo>
                  <a:pt x="585536" y="596232"/>
                  <a:pt x="256674" y="636338"/>
                  <a:pt x="187158" y="711201"/>
                </a:cubicBezTo>
                <a:cubicBezTo>
                  <a:pt x="117642" y="786064"/>
                  <a:pt x="128337" y="901032"/>
                  <a:pt x="139032" y="1016001"/>
                </a:cubicBez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3832441f27_0_39"/>
          <p:cNvSpPr txBox="1"/>
          <p:nvPr>
            <p:ph type="title"/>
          </p:nvPr>
        </p:nvSpPr>
        <p:spPr>
          <a:xfrm>
            <a:off x="175492" y="180399"/>
            <a:ext cx="11852700" cy="521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leave it to the programmer: MPI_Sendrecv</a:t>
            </a:r>
            <a:endParaRPr/>
          </a:p>
        </p:txBody>
      </p:sp>
      <p:sp>
        <p:nvSpPr>
          <p:cNvPr id="270" name="Google Shape;270;g33832441f27_0_39"/>
          <p:cNvSpPr txBox="1"/>
          <p:nvPr>
            <p:ph idx="1" type="body"/>
          </p:nvPr>
        </p:nvSpPr>
        <p:spPr>
          <a:xfrm>
            <a:off x="163945" y="1080655"/>
            <a:ext cx="11852700" cy="5412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AutoNum type="arabicPeriod"/>
            </a:pPr>
            <a:r>
              <a:rPr lang="en-US">
                <a:solidFill>
                  <a:schemeClr val="dk1"/>
                </a:solidFill>
              </a:rPr>
              <a:t>An alternative to scheduling the communications ourselves.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AutoNum type="arabicPeriod"/>
            </a:pPr>
            <a:r>
              <a:rPr lang="en-US">
                <a:solidFill>
                  <a:schemeClr val="dk1"/>
                </a:solidFill>
              </a:rPr>
              <a:t>Carries out a blocking send and a receive in a single call.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AutoNum type="arabicPeriod"/>
            </a:pPr>
            <a:r>
              <a:rPr lang="en-US">
                <a:solidFill>
                  <a:schemeClr val="dk1"/>
                </a:solidFill>
              </a:rPr>
              <a:t>The dest and the source can be the same or different.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AutoNum type="arabicPeriod"/>
            </a:pPr>
            <a:r>
              <a:rPr lang="en-US">
                <a:solidFill>
                  <a:schemeClr val="dk1"/>
                </a:solidFill>
              </a:rPr>
              <a:t>Especially useful because MPI schedules the communications so that the program won’t hang or crash.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3832441f27_0_44"/>
          <p:cNvSpPr txBox="1"/>
          <p:nvPr>
            <p:ph type="title"/>
          </p:nvPr>
        </p:nvSpPr>
        <p:spPr>
          <a:xfrm>
            <a:off x="175492" y="180399"/>
            <a:ext cx="11852700" cy="521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MPI_Sendrecv</a:t>
            </a:r>
            <a:endParaRPr/>
          </a:p>
        </p:txBody>
      </p:sp>
      <p:sp>
        <p:nvSpPr>
          <p:cNvPr id="276" name="Google Shape;276;g33832441f27_0_44"/>
          <p:cNvSpPr txBox="1"/>
          <p:nvPr>
            <p:ph idx="1" type="body"/>
          </p:nvPr>
        </p:nvSpPr>
        <p:spPr>
          <a:xfrm>
            <a:off x="175500" y="951350"/>
            <a:ext cx="7421400" cy="572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40000"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7300"/>
              <a:t>Input Parameters</a:t>
            </a:r>
            <a:endParaRPr b="1" sz="7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800"/>
              <a:t>sendbuf:</a:t>
            </a:r>
            <a:r>
              <a:rPr b="1" lang="en-US" sz="4800"/>
              <a:t> </a:t>
            </a:r>
            <a:r>
              <a:rPr lang="en-US" sz="4800"/>
              <a:t>		address of send buffer (choice)</a:t>
            </a:r>
            <a:endParaRPr sz="4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800"/>
              <a:t>sendcount: 		number of elements (non-negative integer)</a:t>
            </a:r>
            <a:endParaRPr sz="4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800"/>
              <a:t>sendtype: 		type of elements </a:t>
            </a:r>
            <a:endParaRPr sz="4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800"/>
              <a:t>dest: 			rank of destination (integer)</a:t>
            </a:r>
            <a:endParaRPr sz="4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800"/>
              <a:t>sendtag: 			send tag (integer)</a:t>
            </a:r>
            <a:endParaRPr sz="4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800"/>
              <a:t>recvcount:  		number of elements (non-negative integer)</a:t>
            </a:r>
            <a:endParaRPr sz="4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800"/>
              <a:t>recvtype: 		type of elements </a:t>
            </a:r>
            <a:endParaRPr sz="4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800"/>
              <a:t>source: 			rank of source</a:t>
            </a:r>
            <a:endParaRPr sz="4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800"/>
              <a:t>recvtag: 			receive tag or MPI_ANY_TAG (integer)</a:t>
            </a:r>
            <a:endParaRPr sz="4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800"/>
              <a:t>comm: 			communicator (handle)</a:t>
            </a:r>
            <a:endParaRPr sz="4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3832441f27_0_44"/>
          <p:cNvSpPr txBox="1"/>
          <p:nvPr>
            <p:ph idx="2" type="body"/>
          </p:nvPr>
        </p:nvSpPr>
        <p:spPr>
          <a:xfrm>
            <a:off x="7894525" y="951350"/>
            <a:ext cx="4214400" cy="522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Output Parameters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recvbuf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initial address of receive buffer (choice)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status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status object (Status)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U_LightFormal">
  <a:themeElements>
    <a:clrScheme name="BlackTextFunky">
      <a:dk1>
        <a:srgbClr val="000000"/>
      </a:dk1>
      <a:lt1>
        <a:srgbClr val="000000"/>
      </a:lt1>
      <a:dk2>
        <a:srgbClr val="A5A5A5"/>
      </a:dk2>
      <a:lt2>
        <a:srgbClr val="C6C6C6"/>
      </a:lt2>
      <a:accent1>
        <a:srgbClr val="EDEDED"/>
      </a:accent1>
      <a:accent2>
        <a:srgbClr val="0070C0"/>
      </a:accent2>
      <a:accent3>
        <a:srgbClr val="002060"/>
      </a:accent3>
      <a:accent4>
        <a:srgbClr val="7030A0"/>
      </a:accent4>
      <a:accent5>
        <a:srgbClr val="00B050"/>
      </a:accent5>
      <a:accent6>
        <a:srgbClr val="FF6600"/>
      </a:accent6>
      <a:hlink>
        <a:srgbClr val="0099FF"/>
      </a:hlink>
      <a:folHlink>
        <a:srgbClr val="00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2024-03-15T04:18:44Z</dcterms:created>
  <dc:creator>Farooq Zaidi</dc:creator>
</cp:coreProperties>
</file>