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6" r:id="rId1"/>
  </p:sldMasterIdLst>
  <p:sldIdLst>
    <p:sldId id="256" r:id="rId2"/>
    <p:sldId id="257" r:id="rId3"/>
    <p:sldId id="258" r:id="rId4"/>
    <p:sldId id="265" r:id="rId5"/>
    <p:sldId id="264" r:id="rId6"/>
    <p:sldId id="259" r:id="rId7"/>
    <p:sldId id="266" r:id="rId8"/>
    <p:sldId id="260" r:id="rId9"/>
    <p:sldId id="263"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 Arham Hussain Khan" initials="MAHK" lastIdx="1" clrIdx="0">
    <p:extLst>
      <p:ext uri="{19B8F6BF-5375-455C-9EA6-DF929625EA0E}">
        <p15:presenceInfo xmlns:p15="http://schemas.microsoft.com/office/powerpoint/2012/main" userId="54975476edc49d2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A307983-FCB9-4EA4-B060-05BAF513E7B2}"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E806E885-49EF-4C40-91A5-05649753BC56}" type="slidenum">
              <a:rPr lang="en-US" smtClean="0"/>
              <a:t>‹#›</a:t>
            </a:fld>
            <a:endParaRPr lang="en-US"/>
          </a:p>
        </p:txBody>
      </p:sp>
    </p:spTree>
    <p:extLst>
      <p:ext uri="{BB962C8B-B14F-4D97-AF65-F5344CB8AC3E}">
        <p14:creationId xmlns:p14="http://schemas.microsoft.com/office/powerpoint/2010/main" val="3893323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307983-FCB9-4EA4-B060-05BAF513E7B2}"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6E885-49EF-4C40-91A5-05649753BC56}" type="slidenum">
              <a:rPr lang="en-US" smtClean="0"/>
              <a:t>‹#›</a:t>
            </a:fld>
            <a:endParaRPr lang="en-US"/>
          </a:p>
        </p:txBody>
      </p:sp>
    </p:spTree>
    <p:extLst>
      <p:ext uri="{BB962C8B-B14F-4D97-AF65-F5344CB8AC3E}">
        <p14:creationId xmlns:p14="http://schemas.microsoft.com/office/powerpoint/2010/main" val="1087086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2A307983-FCB9-4EA4-B060-05BAF513E7B2}" type="datetimeFigureOut">
              <a:rPr lang="en-US" smtClean="0"/>
              <a:t>11/23/2022</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E806E885-49EF-4C40-91A5-05649753BC56}" type="slidenum">
              <a:rPr lang="en-US" smtClean="0"/>
              <a:t>‹#›</a:t>
            </a:fld>
            <a:endParaRPr lang="en-US"/>
          </a:p>
        </p:txBody>
      </p:sp>
    </p:spTree>
    <p:extLst>
      <p:ext uri="{BB962C8B-B14F-4D97-AF65-F5344CB8AC3E}">
        <p14:creationId xmlns:p14="http://schemas.microsoft.com/office/powerpoint/2010/main" val="563842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307983-FCB9-4EA4-B060-05BAF513E7B2}" type="datetimeFigureOut">
              <a:rPr lang="en-US" smtClean="0"/>
              <a:t>11/23/2022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06E885-49EF-4C40-91A5-05649753BC56}" type="slidenum">
              <a:rPr lang="en-US" smtClean="0"/>
              <a:t>‹#›</a:t>
            </a:fld>
            <a:endParaRPr lang="en-US"/>
          </a:p>
        </p:txBody>
      </p:sp>
    </p:spTree>
    <p:extLst>
      <p:ext uri="{BB962C8B-B14F-4D97-AF65-F5344CB8AC3E}">
        <p14:creationId xmlns:p14="http://schemas.microsoft.com/office/powerpoint/2010/main" val="2938477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307983-FCB9-4EA4-B060-05BAF513E7B2}" type="datetimeFigureOut">
              <a:rPr lang="en-US" smtClean="0"/>
              <a:t>11/23/2022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06E885-49EF-4C40-91A5-05649753BC56}" type="slidenum">
              <a:rPr lang="en-US" smtClean="0"/>
              <a:t>‹#›</a:t>
            </a:fld>
            <a:endParaRPr lang="en-US"/>
          </a:p>
        </p:txBody>
      </p:sp>
    </p:spTree>
    <p:extLst>
      <p:ext uri="{BB962C8B-B14F-4D97-AF65-F5344CB8AC3E}">
        <p14:creationId xmlns:p14="http://schemas.microsoft.com/office/powerpoint/2010/main" val="1538008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307983-FCB9-4EA4-B060-05BAF513E7B2}" type="datetimeFigureOut">
              <a:rPr lang="en-US" smtClean="0"/>
              <a:t>11/23/2022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06E885-49EF-4C40-91A5-05649753BC56}" type="slidenum">
              <a:rPr lang="en-US" smtClean="0"/>
              <a:t>‹#›</a:t>
            </a:fld>
            <a:endParaRPr lang="en-US"/>
          </a:p>
        </p:txBody>
      </p:sp>
    </p:spTree>
    <p:extLst>
      <p:ext uri="{BB962C8B-B14F-4D97-AF65-F5344CB8AC3E}">
        <p14:creationId xmlns:p14="http://schemas.microsoft.com/office/powerpoint/2010/main" val="1871732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307983-FCB9-4EA4-B060-05BAF513E7B2}" type="datetimeFigureOut">
              <a:rPr lang="en-US" smtClean="0"/>
              <a:t>11/23/2022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06E885-49EF-4C40-91A5-05649753BC56}" type="slidenum">
              <a:rPr lang="en-US" smtClean="0"/>
              <a:t>‹#›</a:t>
            </a:fld>
            <a:endParaRPr lang="en-US"/>
          </a:p>
        </p:txBody>
      </p:sp>
    </p:spTree>
    <p:extLst>
      <p:ext uri="{BB962C8B-B14F-4D97-AF65-F5344CB8AC3E}">
        <p14:creationId xmlns:p14="http://schemas.microsoft.com/office/powerpoint/2010/main" val="3874342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307983-FCB9-4EA4-B060-05BAF513E7B2}" type="datetimeFigureOut">
              <a:rPr lang="en-US" smtClean="0"/>
              <a:t>11/23/2022</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806E885-49EF-4C40-91A5-05649753BC56}" type="slidenum">
              <a:rPr lang="en-US" smtClean="0"/>
              <a:t>‹#›</a:t>
            </a:fld>
            <a:endParaRPr lang="en-US"/>
          </a:p>
        </p:txBody>
      </p:sp>
    </p:spTree>
    <p:extLst>
      <p:ext uri="{BB962C8B-B14F-4D97-AF65-F5344CB8AC3E}">
        <p14:creationId xmlns:p14="http://schemas.microsoft.com/office/powerpoint/2010/main" val="2364125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307983-FCB9-4EA4-B060-05BAF513E7B2}" type="datetimeFigureOut">
              <a:rPr lang="en-US" smtClean="0"/>
              <a:t>11/23/2022</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806E885-49EF-4C40-91A5-05649753BC56}" type="slidenum">
              <a:rPr lang="en-US" smtClean="0"/>
              <a:t>‹#›</a:t>
            </a:fld>
            <a:endParaRPr lang="en-US"/>
          </a:p>
        </p:txBody>
      </p:sp>
    </p:spTree>
    <p:extLst>
      <p:ext uri="{BB962C8B-B14F-4D97-AF65-F5344CB8AC3E}">
        <p14:creationId xmlns:p14="http://schemas.microsoft.com/office/powerpoint/2010/main" val="1536538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307983-FCB9-4EA4-B060-05BAF513E7B2}"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6E885-49EF-4C40-91A5-05649753BC56}" type="slidenum">
              <a:rPr lang="en-US" smtClean="0"/>
              <a:t>‹#›</a:t>
            </a:fld>
            <a:endParaRPr lang="en-US"/>
          </a:p>
        </p:txBody>
      </p:sp>
    </p:spTree>
    <p:extLst>
      <p:ext uri="{BB962C8B-B14F-4D97-AF65-F5344CB8AC3E}">
        <p14:creationId xmlns:p14="http://schemas.microsoft.com/office/powerpoint/2010/main" val="1388865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307983-FCB9-4EA4-B060-05BAF513E7B2}"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6E885-49EF-4C40-91A5-05649753BC56}" type="slidenum">
              <a:rPr lang="en-US" smtClean="0"/>
              <a:t>‹#›</a:t>
            </a:fld>
            <a:endParaRPr lang="en-US"/>
          </a:p>
        </p:txBody>
      </p:sp>
    </p:spTree>
    <p:extLst>
      <p:ext uri="{BB962C8B-B14F-4D97-AF65-F5344CB8AC3E}">
        <p14:creationId xmlns:p14="http://schemas.microsoft.com/office/powerpoint/2010/main" val="1308525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307983-FCB9-4EA4-B060-05BAF513E7B2}" type="datetimeFigureOut">
              <a:rPr lang="en-US" smtClean="0"/>
              <a:t>11/23/2022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06E885-49EF-4C40-91A5-05649753BC56}" type="slidenum">
              <a:rPr lang="en-US" smtClean="0"/>
              <a:t>‹#›</a:t>
            </a:fld>
            <a:endParaRPr lang="en-US"/>
          </a:p>
        </p:txBody>
      </p:sp>
    </p:spTree>
    <p:extLst>
      <p:ext uri="{BB962C8B-B14F-4D97-AF65-F5344CB8AC3E}">
        <p14:creationId xmlns:p14="http://schemas.microsoft.com/office/powerpoint/2010/main" val="1719483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2A307983-FCB9-4EA4-B060-05BAF513E7B2}" type="datetimeFigureOut">
              <a:rPr lang="en-US" smtClean="0"/>
              <a:t>11/23/2022</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E806E885-49EF-4C40-91A5-05649753BC56}" type="slidenum">
              <a:rPr lang="en-US" smtClean="0"/>
              <a:t>‹#›</a:t>
            </a:fld>
            <a:endParaRPr lang="en-US"/>
          </a:p>
        </p:txBody>
      </p:sp>
    </p:spTree>
    <p:extLst>
      <p:ext uri="{BB962C8B-B14F-4D97-AF65-F5344CB8AC3E}">
        <p14:creationId xmlns:p14="http://schemas.microsoft.com/office/powerpoint/2010/main" val="3872240510"/>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 id="2147483818" r:id="rId12"/>
  </p:sldLayoutIdLst>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Hyderabad,_Sindh" TargetMode="External"/><Relationship Id="rId2" Type="http://schemas.openxmlformats.org/officeDocument/2006/relationships/hyperlink" Target="https://en.wikipedia.org/wiki/Mahajir_(Pakistan)" TargetMode="External"/><Relationship Id="rId1" Type="http://schemas.openxmlformats.org/officeDocument/2006/relationships/slideLayout" Target="../slideLayouts/slideLayout2.xml"/><Relationship Id="rId5" Type="http://schemas.openxmlformats.org/officeDocument/2006/relationships/hyperlink" Target="https://en.wikipedia.org/wiki/Sindh_Taraqi_Pasand_Party" TargetMode="External"/><Relationship Id="rId4" Type="http://schemas.openxmlformats.org/officeDocument/2006/relationships/hyperlink" Target="https://en.wikipedia.org/wiki/Sindhi_nationalism"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sharpenSoften amount="-63000"/>
                    </a14:imgEffect>
                    <a14:imgEffect>
                      <a14:saturation sat="0"/>
                    </a14:imgEffect>
                    <a14:imgEffect>
                      <a14:brightnessContrast contrast="-21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0C31-13F5-FE78-1C56-87F66E786F03}"/>
              </a:ext>
            </a:extLst>
          </p:cNvPr>
          <p:cNvSpPr>
            <a:spLocks noGrp="1"/>
          </p:cNvSpPr>
          <p:nvPr>
            <p:ph type="ctrTitle"/>
          </p:nvPr>
        </p:nvSpPr>
        <p:spPr/>
        <p:txBody>
          <a:bodyPr>
            <a:normAutofit fontScale="90000"/>
          </a:bodyPr>
          <a:lstStyle/>
          <a:p>
            <a:br>
              <a:rPr lang="en-US" sz="2000" dirty="0"/>
            </a:br>
            <a:br>
              <a:rPr lang="en-US" sz="2000" dirty="0"/>
            </a:br>
            <a:br>
              <a:rPr lang="en-US" sz="2000" dirty="0"/>
            </a:br>
            <a:r>
              <a:rPr lang="en-US" dirty="0"/>
              <a:t>Operation Blue Fox</a:t>
            </a:r>
            <a:br>
              <a:rPr lang="en-US" dirty="0"/>
            </a:br>
            <a:endParaRPr lang="en-US" dirty="0"/>
          </a:p>
        </p:txBody>
      </p:sp>
    </p:spTree>
    <p:extLst>
      <p:ext uri="{BB962C8B-B14F-4D97-AF65-F5344CB8AC3E}">
        <p14:creationId xmlns:p14="http://schemas.microsoft.com/office/powerpoint/2010/main" val="25224866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1000"/>
            <a:lum/>
            <a:extLst>
              <a:ext uri="{BEBA8EAE-BF5A-486C-A8C5-ECC9F3942E4B}">
                <a14:imgProps xmlns:a14="http://schemas.microsoft.com/office/drawing/2010/main">
                  <a14:imgLayer r:embed="rId3">
                    <a14:imgEffect>
                      <a14:sharpenSoften amount="-100000"/>
                    </a14:imgEffect>
                  </a14:imgLayer>
                </a14:imgProps>
              </a:ext>
            </a:extLst>
          </a:blip>
          <a:srcRect/>
          <a:stretch>
            <a:fillRect t="-3000" b="-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DD844-ACB0-5600-498D-C5BAC7F9E191}"/>
              </a:ext>
            </a:extLst>
          </p:cNvPr>
          <p:cNvSpPr>
            <a:spLocks noGrp="1"/>
          </p:cNvSpPr>
          <p:nvPr>
            <p:ph type="title"/>
          </p:nvPr>
        </p:nvSpPr>
        <p:spPr>
          <a:xfrm>
            <a:off x="1063752" y="512064"/>
            <a:ext cx="10058400" cy="1609344"/>
          </a:xfrm>
          <a:scene3d>
            <a:camera prst="orthographicFront"/>
            <a:lightRig rig="threePt" dir="t"/>
          </a:scene3d>
          <a:sp3d>
            <a:bevelT prst="relaxedInset"/>
          </a:sp3d>
        </p:spPr>
        <p:txBody>
          <a:bodyPr/>
          <a:lstStyle/>
          <a:p>
            <a:r>
              <a:rPr lang="en-US" b="1" dirty="0"/>
              <a:t>Introduction</a:t>
            </a:r>
          </a:p>
        </p:txBody>
      </p:sp>
      <p:sp>
        <p:nvSpPr>
          <p:cNvPr id="3" name="Content Placeholder 2">
            <a:extLst>
              <a:ext uri="{FF2B5EF4-FFF2-40B4-BE49-F238E27FC236}">
                <a16:creationId xmlns:a16="http://schemas.microsoft.com/office/drawing/2014/main" id="{FA18E83D-E12A-C469-15CC-BD69EF24A5C1}"/>
              </a:ext>
            </a:extLst>
          </p:cNvPr>
          <p:cNvSpPr>
            <a:spLocks noGrp="1"/>
          </p:cNvSpPr>
          <p:nvPr>
            <p:ph idx="1"/>
          </p:nvPr>
        </p:nvSpPr>
        <p:spPr>
          <a:ln>
            <a:noFill/>
          </a:ln>
        </p:spPr>
        <p:txBody>
          <a:bodyPr/>
          <a:lstStyle/>
          <a:p>
            <a:r>
              <a:rPr lang="en-GB" dirty="0"/>
              <a:t>An armed military intelligence programme known as Operation Clean-up, also known as Operation Blue Fox, was run by the Sindh Police and Pakistan Rangers with support from the Pakistan Army and its affiliated intelligence organisations. Prime Minister Nawaz Sharif's orders, which were planned by the FIA and Intelligence Bureau, were put into action in 1992. Its goal was to "purge" Karachi of "anti-social" components. In response to the issue surrounding the Jinnahpur proposal, which purportedly aimed to have Karachi secede from Pakistan, the show singled out the </a:t>
            </a:r>
            <a:r>
              <a:rPr lang="en-GB" dirty="0" err="1"/>
              <a:t>Muttahida</a:t>
            </a:r>
            <a:r>
              <a:rPr lang="en-GB" dirty="0"/>
              <a:t> </a:t>
            </a:r>
            <a:r>
              <a:rPr lang="en-GB" dirty="0" err="1"/>
              <a:t>Qaumi</a:t>
            </a:r>
            <a:r>
              <a:rPr lang="en-GB" dirty="0"/>
              <a:t> Movement.</a:t>
            </a:r>
            <a:endParaRPr lang="en-US" dirty="0"/>
          </a:p>
        </p:txBody>
      </p:sp>
    </p:spTree>
    <p:extLst>
      <p:ext uri="{BB962C8B-B14F-4D97-AF65-F5344CB8AC3E}">
        <p14:creationId xmlns:p14="http://schemas.microsoft.com/office/powerpoint/2010/main" val="1987256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79343-10D5-20D3-7916-F1F6198117D9}"/>
              </a:ext>
            </a:extLst>
          </p:cNvPr>
          <p:cNvSpPr>
            <a:spLocks noGrp="1"/>
          </p:cNvSpPr>
          <p:nvPr>
            <p:ph type="title"/>
          </p:nvPr>
        </p:nvSpPr>
        <p:spPr>
          <a:xfrm>
            <a:off x="1201823" y="512064"/>
            <a:ext cx="10058400" cy="1609344"/>
          </a:xfrm>
        </p:spPr>
        <p:txBody>
          <a:bodyPr>
            <a:normAutofit/>
          </a:bodyPr>
          <a:lstStyle/>
          <a:p>
            <a:pPr marL="0" marR="0">
              <a:spcBef>
                <a:spcPts val="1200"/>
              </a:spcBef>
              <a:spcAft>
                <a:spcPts val="300"/>
              </a:spcAft>
            </a:pPr>
            <a:r>
              <a:rPr lang="en-US" sz="4800" dirty="0">
                <a:solidFill>
                  <a:schemeClr val="tx1"/>
                </a:solidFill>
                <a:effectLst/>
                <a:ea typeface="Times New Roman" panose="02020603050405020304" pitchFamily="18" charset="0"/>
              </a:rPr>
              <a:t>Causes and Plan</a:t>
            </a:r>
            <a:endParaRPr lang="en-US" sz="6000" dirty="0">
              <a:solidFill>
                <a:schemeClr val="tx1"/>
              </a:solidFill>
            </a:endParaRPr>
          </a:p>
        </p:txBody>
      </p:sp>
      <p:sp>
        <p:nvSpPr>
          <p:cNvPr id="3" name="Content Placeholder 2">
            <a:extLst>
              <a:ext uri="{FF2B5EF4-FFF2-40B4-BE49-F238E27FC236}">
                <a16:creationId xmlns:a16="http://schemas.microsoft.com/office/drawing/2014/main" id="{331E5B4B-D632-AF42-CAF8-B7214AFEFCC7}"/>
              </a:ext>
            </a:extLst>
          </p:cNvPr>
          <p:cNvSpPr>
            <a:spLocks noGrp="1"/>
          </p:cNvSpPr>
          <p:nvPr>
            <p:ph idx="1"/>
          </p:nvPr>
        </p:nvSpPr>
        <p:spPr/>
        <p:txBody>
          <a:bodyPr>
            <a:normAutofit/>
          </a:bodyPr>
          <a:lstStyle/>
          <a:p>
            <a:r>
              <a:rPr lang="en-GB" dirty="0"/>
              <a:t>Under Brigadier (retired) Imtiaz Ahmed, Director-General of the Intelligence Bureau, studies for an Army-led operation in Karachi were completed in 1992, and he recommended the plan under the codename Operation Clean-up. On the personal initiative of Prime Minister Nawaz Sharif, Imtiaz Ahmed and the Pakistan Rangers launched the Clean-up procedure, focused on taking action against dacoits in rural Sindh rather than certain political parties,</a:t>
            </a:r>
            <a:r>
              <a:rPr lang="en-GB" b="0" i="0" dirty="0">
                <a:effectLst/>
              </a:rPr>
              <a:t> but it effectively became a hunt against the MQM. The MQM’s activist leader, Altaf Hussain, was forced into exile, and the party which had dominated Karachi politics since its founding in 1984 was forced underground</a:t>
            </a:r>
            <a:r>
              <a:rPr lang="en-GB" dirty="0"/>
              <a:t>. The program's protocol, according to the sources, was supposed to run six months, with a deadline of June 1992.</a:t>
            </a:r>
            <a:endParaRPr lang="en-US" dirty="0"/>
          </a:p>
        </p:txBody>
      </p:sp>
    </p:spTree>
    <p:extLst>
      <p:ext uri="{BB962C8B-B14F-4D97-AF65-F5344CB8AC3E}">
        <p14:creationId xmlns:p14="http://schemas.microsoft.com/office/powerpoint/2010/main" val="2988549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71AF1-1011-8B62-6F3B-36BB81F3C3A8}"/>
              </a:ext>
            </a:extLst>
          </p:cNvPr>
          <p:cNvSpPr>
            <a:spLocks noGrp="1"/>
          </p:cNvSpPr>
          <p:nvPr>
            <p:ph type="title"/>
          </p:nvPr>
        </p:nvSpPr>
        <p:spPr/>
        <p:txBody>
          <a:bodyPr/>
          <a:lstStyle/>
          <a:p>
            <a:r>
              <a:rPr lang="en-US" dirty="0"/>
              <a:t>Killings in </a:t>
            </a:r>
            <a:r>
              <a:rPr lang="en-US" dirty="0" err="1"/>
              <a:t>hyderabad</a:t>
            </a:r>
            <a:endParaRPr lang="en-US" dirty="0"/>
          </a:p>
        </p:txBody>
      </p:sp>
      <p:sp>
        <p:nvSpPr>
          <p:cNvPr id="3" name="Content Placeholder 2">
            <a:extLst>
              <a:ext uri="{FF2B5EF4-FFF2-40B4-BE49-F238E27FC236}">
                <a16:creationId xmlns:a16="http://schemas.microsoft.com/office/drawing/2014/main" id="{237BF05E-6578-358D-556A-4C6F84474609}"/>
              </a:ext>
            </a:extLst>
          </p:cNvPr>
          <p:cNvSpPr>
            <a:spLocks noGrp="1"/>
          </p:cNvSpPr>
          <p:nvPr>
            <p:ph idx="1"/>
          </p:nvPr>
        </p:nvSpPr>
        <p:spPr/>
        <p:txBody>
          <a:bodyPr/>
          <a:lstStyle/>
          <a:p>
            <a:r>
              <a:rPr lang="en-US" b="0" i="0" dirty="0">
                <a:effectLst/>
                <a:latin typeface="+mj-lt"/>
              </a:rPr>
              <a:t>On September 30, 1988, dozens of people, mostly </a:t>
            </a:r>
            <a:r>
              <a:rPr lang="en-US" b="0" i="0" strike="noStrike" dirty="0">
                <a:effectLst/>
                <a:latin typeface="+mj-lt"/>
                <a:hlinkClick r:id="rId2" tooltip="Mahajir (Pakistan)">
                  <a:extLst>
                    <a:ext uri="{A12FA001-AC4F-418D-AE19-62706E023703}">
                      <ahyp:hlinkClr xmlns:ahyp="http://schemas.microsoft.com/office/drawing/2018/hyperlinkcolor" val="tx"/>
                    </a:ext>
                  </a:extLst>
                </a:hlinkClick>
              </a:rPr>
              <a:t>Muhajir</a:t>
            </a:r>
            <a:r>
              <a:rPr lang="en-US" b="0" i="0" dirty="0">
                <a:effectLst/>
                <a:latin typeface="+mj-lt"/>
              </a:rPr>
              <a:t>, were killed in </a:t>
            </a:r>
            <a:r>
              <a:rPr lang="en-US" b="0" i="0" strike="noStrike" dirty="0">
                <a:effectLst/>
                <a:latin typeface="+mj-lt"/>
                <a:hlinkClick r:id="rId3" tooltip="Hyderabad, Sindh">
                  <a:extLst>
                    <a:ext uri="{A12FA001-AC4F-418D-AE19-62706E023703}">
                      <ahyp:hlinkClr xmlns:ahyp="http://schemas.microsoft.com/office/drawing/2018/hyperlinkcolor" val="tx"/>
                    </a:ext>
                  </a:extLst>
                </a:hlinkClick>
              </a:rPr>
              <a:t>Hyderabad, Sindh</a:t>
            </a:r>
            <a:r>
              <a:rPr lang="en-US" b="0" i="0" dirty="0">
                <a:effectLst/>
                <a:latin typeface="+mj-lt"/>
              </a:rPr>
              <a:t> in what was known as "</a:t>
            </a:r>
            <a:r>
              <a:rPr lang="en-US" b="1" i="0" dirty="0">
                <a:effectLst/>
                <a:latin typeface="+mj-lt"/>
              </a:rPr>
              <a:t>Black Friday</a:t>
            </a:r>
            <a:r>
              <a:rPr lang="en-US" b="0" i="0" dirty="0">
                <a:effectLst/>
                <a:latin typeface="+mj-lt"/>
              </a:rPr>
              <a:t>". Death tolls ranged from 1000+ to 1050+ , and the attacks are said to have been coordinated and carried out by militants of the </a:t>
            </a:r>
            <a:r>
              <a:rPr lang="en-US" b="0" i="0" strike="noStrike" dirty="0">
                <a:effectLst/>
                <a:latin typeface="+mj-lt"/>
              </a:rPr>
              <a:t>Sindh </a:t>
            </a:r>
            <a:r>
              <a:rPr lang="en-US" b="0" i="0" strike="noStrike" dirty="0" err="1">
                <a:effectLst/>
                <a:latin typeface="+mj-lt"/>
              </a:rPr>
              <a:t>Taraqi</a:t>
            </a:r>
            <a:r>
              <a:rPr lang="en-US" b="0" i="0" strike="noStrike" dirty="0">
                <a:effectLst/>
                <a:latin typeface="+mj-lt"/>
              </a:rPr>
              <a:t> </a:t>
            </a:r>
            <a:r>
              <a:rPr lang="en-US" b="0" i="0" strike="noStrike" dirty="0" err="1">
                <a:effectLst/>
                <a:latin typeface="+mj-lt"/>
              </a:rPr>
              <a:t>Pasand</a:t>
            </a:r>
            <a:r>
              <a:rPr lang="en-US" b="0" i="0" strike="noStrike" dirty="0">
                <a:effectLst/>
                <a:latin typeface="+mj-lt"/>
              </a:rPr>
              <a:t> Party</a:t>
            </a:r>
            <a:r>
              <a:rPr lang="en-US" b="0" i="0" dirty="0">
                <a:effectLst/>
                <a:latin typeface="+mj-lt"/>
              </a:rPr>
              <a:t>. Unidentified gunmen opened fire on large crowds of innocent bystanders, including women and children in </a:t>
            </a:r>
            <a:r>
              <a:rPr lang="en-US" b="0" i="0" dirty="0" err="1">
                <a:effectLst/>
                <a:latin typeface="+mj-lt"/>
              </a:rPr>
              <a:t>Latifabad</a:t>
            </a:r>
            <a:r>
              <a:rPr lang="en-US" b="0" i="0" dirty="0">
                <a:effectLst/>
                <a:latin typeface="+mj-lt"/>
              </a:rPr>
              <a:t> near Pakistan Army deployments in Board Stadium unit No.6. </a:t>
            </a:r>
          </a:p>
          <a:p>
            <a:r>
              <a:rPr lang="en-US" b="0" i="0" strike="noStrike" dirty="0">
                <a:effectLst/>
                <a:latin typeface="+mj-lt"/>
                <a:hlinkClick r:id="rId4" tooltip="Sindhi nationalism">
                  <a:extLst>
                    <a:ext uri="{A12FA001-AC4F-418D-AE19-62706E023703}">
                      <ahyp:hlinkClr xmlns:ahyp="http://schemas.microsoft.com/office/drawing/2018/hyperlinkcolor" val="tx"/>
                    </a:ext>
                  </a:extLst>
                </a:hlinkClick>
              </a:rPr>
              <a:t>Sindhi nationalists</a:t>
            </a:r>
            <a:r>
              <a:rPr lang="en-US" b="0" i="0" dirty="0">
                <a:effectLst/>
                <a:latin typeface="+mj-lt"/>
              </a:rPr>
              <a:t>, including (Sindhi Baloch) </a:t>
            </a:r>
            <a:r>
              <a:rPr lang="en-US" dirty="0">
                <a:latin typeface="+mj-lt"/>
              </a:rPr>
              <a:t>Qadir </a:t>
            </a:r>
            <a:r>
              <a:rPr lang="en-US" dirty="0" err="1">
                <a:latin typeface="+mj-lt"/>
              </a:rPr>
              <a:t>Magsi</a:t>
            </a:r>
            <a:r>
              <a:rPr lang="en-US" dirty="0">
                <a:latin typeface="+mj-lt"/>
              </a:rPr>
              <a:t> (SOB) </a:t>
            </a:r>
            <a:r>
              <a:rPr lang="en-US" b="0" i="0" dirty="0">
                <a:effectLst/>
                <a:latin typeface="+mj-lt"/>
              </a:rPr>
              <a:t>and the </a:t>
            </a:r>
            <a:r>
              <a:rPr lang="en-US" b="0" i="0" strike="noStrike" dirty="0">
                <a:effectLst/>
                <a:latin typeface="+mj-lt"/>
                <a:hlinkClick r:id="rId5" tooltip="Sindh Taraqi Pasand Party">
                  <a:extLst>
                    <a:ext uri="{A12FA001-AC4F-418D-AE19-62706E023703}">
                      <ahyp:hlinkClr xmlns:ahyp="http://schemas.microsoft.com/office/drawing/2018/hyperlinkcolor" val="tx"/>
                    </a:ext>
                  </a:extLst>
                </a:hlinkClick>
              </a:rPr>
              <a:t>Sindh </a:t>
            </a:r>
            <a:r>
              <a:rPr lang="en-US" b="0" i="0" strike="noStrike" dirty="0" err="1">
                <a:effectLst/>
                <a:latin typeface="+mj-lt"/>
                <a:hlinkClick r:id="rId5" tooltip="Sindh Taraqi Pasand Party">
                  <a:extLst>
                    <a:ext uri="{A12FA001-AC4F-418D-AE19-62706E023703}">
                      <ahyp:hlinkClr xmlns:ahyp="http://schemas.microsoft.com/office/drawing/2018/hyperlinkcolor" val="tx"/>
                    </a:ext>
                  </a:extLst>
                </a:hlinkClick>
              </a:rPr>
              <a:t>Taraqi</a:t>
            </a:r>
            <a:r>
              <a:rPr lang="en-US" b="0" i="0" strike="noStrike" dirty="0">
                <a:effectLst/>
                <a:latin typeface="+mj-lt"/>
                <a:hlinkClick r:id="rId5" tooltip="Sindh Taraqi Pasand Party">
                  <a:extLst>
                    <a:ext uri="{A12FA001-AC4F-418D-AE19-62706E023703}">
                      <ahyp:hlinkClr xmlns:ahyp="http://schemas.microsoft.com/office/drawing/2018/hyperlinkcolor" val="tx"/>
                    </a:ext>
                  </a:extLst>
                </a:hlinkClick>
              </a:rPr>
              <a:t> </a:t>
            </a:r>
            <a:r>
              <a:rPr lang="en-US" b="0" i="0" strike="noStrike" dirty="0" err="1">
                <a:effectLst/>
                <a:latin typeface="+mj-lt"/>
                <a:hlinkClick r:id="rId5" tooltip="Sindh Taraqi Pasand Party">
                  <a:extLst>
                    <a:ext uri="{A12FA001-AC4F-418D-AE19-62706E023703}">
                      <ahyp:hlinkClr xmlns:ahyp="http://schemas.microsoft.com/office/drawing/2018/hyperlinkcolor" val="tx"/>
                    </a:ext>
                  </a:extLst>
                </a:hlinkClick>
              </a:rPr>
              <a:t>Pasand</a:t>
            </a:r>
            <a:r>
              <a:rPr lang="en-US" b="0" i="0" strike="noStrike" dirty="0">
                <a:effectLst/>
                <a:latin typeface="+mj-lt"/>
                <a:hlinkClick r:id="rId5" tooltip="Sindh Taraqi Pasand Party">
                  <a:extLst>
                    <a:ext uri="{A12FA001-AC4F-418D-AE19-62706E023703}">
                      <ahyp:hlinkClr xmlns:ahyp="http://schemas.microsoft.com/office/drawing/2018/hyperlinkcolor" val="tx"/>
                    </a:ext>
                  </a:extLst>
                </a:hlinkClick>
              </a:rPr>
              <a:t> Party</a:t>
            </a:r>
            <a:r>
              <a:rPr lang="en-US" b="0" i="0" dirty="0">
                <a:effectLst/>
                <a:latin typeface="+mj-lt"/>
              </a:rPr>
              <a:t>, were widely seen as responsible for the massacre.</a:t>
            </a:r>
          </a:p>
          <a:p>
            <a:r>
              <a:rPr lang="en-US" b="0" i="0" dirty="0">
                <a:solidFill>
                  <a:srgbClr val="202122"/>
                </a:solidFill>
                <a:effectLst/>
                <a:latin typeface="+mj-lt"/>
              </a:rPr>
              <a:t>The following day there was ethnic rioting which killed at least 1000+ people in Karachi. A curfew was enforced in both Karachi and Hyderabad.</a:t>
            </a:r>
            <a:endParaRPr lang="en-US" b="1" i="0" dirty="0">
              <a:effectLst/>
              <a:latin typeface="+mj-lt"/>
            </a:endParaRPr>
          </a:p>
          <a:p>
            <a:r>
              <a:rPr lang="en-US" dirty="0">
                <a:latin typeface="+mj-lt"/>
              </a:rPr>
              <a:t>Moreover, </a:t>
            </a:r>
            <a:r>
              <a:rPr lang="en-US" b="0" i="0" dirty="0">
                <a:solidFill>
                  <a:srgbClr val="000000"/>
                </a:solidFill>
                <a:effectLst/>
                <a:latin typeface="+mj-lt"/>
              </a:rPr>
              <a:t>the </a:t>
            </a:r>
            <a:r>
              <a:rPr lang="en-US" b="0" i="0" dirty="0" err="1">
                <a:solidFill>
                  <a:srgbClr val="000000"/>
                </a:solidFill>
                <a:effectLst/>
                <a:latin typeface="+mj-lt"/>
              </a:rPr>
              <a:t>Pakka</a:t>
            </a:r>
            <a:r>
              <a:rPr lang="en-US" b="0" i="0" dirty="0">
                <a:solidFill>
                  <a:srgbClr val="000000"/>
                </a:solidFill>
                <a:effectLst/>
                <a:latin typeface="+mj-lt"/>
              </a:rPr>
              <a:t> </a:t>
            </a:r>
            <a:r>
              <a:rPr lang="en-US" b="0" i="0" dirty="0" err="1">
                <a:solidFill>
                  <a:srgbClr val="000000"/>
                </a:solidFill>
                <a:effectLst/>
                <a:latin typeface="+mj-lt"/>
              </a:rPr>
              <a:t>Qilla</a:t>
            </a:r>
            <a:r>
              <a:rPr lang="en-US" b="0" i="0" dirty="0">
                <a:solidFill>
                  <a:srgbClr val="000000"/>
                </a:solidFill>
                <a:effectLst/>
                <a:latin typeface="+mj-lt"/>
              </a:rPr>
              <a:t> operation in May 1990 added fuel to the fire.</a:t>
            </a:r>
            <a:endParaRPr lang="en-US" dirty="0">
              <a:latin typeface="+mj-lt"/>
            </a:endParaRPr>
          </a:p>
        </p:txBody>
      </p:sp>
    </p:spTree>
    <p:extLst>
      <p:ext uri="{BB962C8B-B14F-4D97-AF65-F5344CB8AC3E}">
        <p14:creationId xmlns:p14="http://schemas.microsoft.com/office/powerpoint/2010/main" val="564370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18143B3-7F19-A5F5-0076-F4561DD83CC9}"/>
              </a:ext>
            </a:extLst>
          </p:cNvPr>
          <p:cNvSpPr>
            <a:spLocks noGrp="1"/>
          </p:cNvSpPr>
          <p:nvPr>
            <p:ph type="body" sz="half" idx="2"/>
          </p:nvPr>
        </p:nvSpPr>
        <p:spPr>
          <a:xfrm>
            <a:off x="8578823" y="1254868"/>
            <a:ext cx="3200400" cy="3643009"/>
          </a:xfrm>
        </p:spPr>
        <p:txBody>
          <a:bodyPr>
            <a:normAutofit/>
          </a:bodyPr>
          <a:lstStyle/>
          <a:p>
            <a:r>
              <a:rPr lang="en-US" sz="1600" b="1" i="0" dirty="0">
                <a:solidFill>
                  <a:srgbClr val="202124"/>
                </a:solidFill>
                <a:effectLst/>
              </a:rPr>
              <a:t>Prime minister Nawaz Sharif along with Chief of Army Staff General Asif Nawaz and V Corps GOC-in-Chief Lieutenant General Naseer Akhtar visiting General Headquarters (GHQ) to get briefing on 19th June of 1992 Operation preparations. Its objective was to "cleanse" Karachi city of "anti-social" elements.</a:t>
            </a:r>
            <a:endParaRPr lang="en-US" sz="1600" b="1" dirty="0"/>
          </a:p>
        </p:txBody>
      </p:sp>
      <p:pic>
        <p:nvPicPr>
          <p:cNvPr id="16" name="Picture Placeholder 15">
            <a:extLst>
              <a:ext uri="{FF2B5EF4-FFF2-40B4-BE49-F238E27FC236}">
                <a16:creationId xmlns:a16="http://schemas.microsoft.com/office/drawing/2014/main" id="{7AF6EF14-8B32-4458-9728-4222B892C1F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1036" r="21036"/>
          <a:stretch>
            <a:fillRect/>
          </a:stretch>
        </p:blipFill>
        <p:spPr/>
      </p:pic>
    </p:spTree>
    <p:extLst>
      <p:ext uri="{BB962C8B-B14F-4D97-AF65-F5344CB8AC3E}">
        <p14:creationId xmlns:p14="http://schemas.microsoft.com/office/powerpoint/2010/main" val="50043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D7C9D-6CA6-9B63-3E4A-17F74B402028}"/>
              </a:ext>
            </a:extLst>
          </p:cNvPr>
          <p:cNvSpPr>
            <a:spLocks noGrp="1"/>
          </p:cNvSpPr>
          <p:nvPr>
            <p:ph type="title"/>
          </p:nvPr>
        </p:nvSpPr>
        <p:spPr/>
        <p:txBody>
          <a:bodyPr/>
          <a:lstStyle/>
          <a:p>
            <a:r>
              <a:rPr lang="en-US" b="1" dirty="0"/>
              <a:t>Implementation</a:t>
            </a:r>
          </a:p>
        </p:txBody>
      </p:sp>
      <p:sp>
        <p:nvSpPr>
          <p:cNvPr id="3" name="Content Placeholder 2">
            <a:extLst>
              <a:ext uri="{FF2B5EF4-FFF2-40B4-BE49-F238E27FC236}">
                <a16:creationId xmlns:a16="http://schemas.microsoft.com/office/drawing/2014/main" id="{20FB4F16-239D-642D-0867-1497CBF0E0CC}"/>
              </a:ext>
            </a:extLst>
          </p:cNvPr>
          <p:cNvSpPr>
            <a:spLocks noGrp="1"/>
          </p:cNvSpPr>
          <p:nvPr>
            <p:ph idx="1"/>
          </p:nvPr>
        </p:nvSpPr>
        <p:spPr/>
        <p:txBody>
          <a:bodyPr>
            <a:normAutofit/>
          </a:bodyPr>
          <a:lstStyle/>
          <a:p>
            <a:r>
              <a:rPr lang="en-GB" dirty="0"/>
              <a:t>The programme was put on hold after Nawaz Sharif was removed from office, but it was revived following the 1993 general elections, which saw Benazir Bhutto take power and the MQM win the provisional elections decisively. The proposal was made, and Benazir Bhutto renamed the program's protocol "Blue Fox" in 1993 and persuaded the programme more aggressively. The Jinnahpur affair and the Major Kaleem Case in Karachi in 1993 were two of the reasons given for the launch of the Blue Fox. With the PPP's controversial decision to form Malir District in 1994, the street fighting with the PPP continued in rural Karachi. </a:t>
            </a:r>
            <a:endParaRPr lang="en-US" dirty="0"/>
          </a:p>
        </p:txBody>
      </p:sp>
    </p:spTree>
    <p:extLst>
      <p:ext uri="{BB962C8B-B14F-4D97-AF65-F5344CB8AC3E}">
        <p14:creationId xmlns:p14="http://schemas.microsoft.com/office/powerpoint/2010/main" val="3393938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8000"/>
            <a:lum/>
            <a:extLst>
              <a:ext uri="{BEBA8EAE-BF5A-486C-A8C5-ECC9F3942E4B}">
                <a14:imgProps xmlns:a14="http://schemas.microsoft.com/office/drawing/2010/main">
                  <a14:imgLayer r:embed="rId3">
                    <a14:imgEffect>
                      <a14:sharpenSoften amount="-28000"/>
                    </a14:imgEffect>
                  </a14:imgLayer>
                </a14:imgProps>
              </a:ext>
            </a:extLst>
          </a:blip>
          <a:srcRect/>
          <a:stretch>
            <a:fillRect l="11000" t="-5000" r="9000" b="-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4E9F4-9697-B8D0-A38B-17FA93A03DC0}"/>
              </a:ext>
            </a:extLst>
          </p:cNvPr>
          <p:cNvSpPr>
            <a:spLocks noGrp="1"/>
          </p:cNvSpPr>
          <p:nvPr>
            <p:ph type="title"/>
          </p:nvPr>
        </p:nvSpPr>
        <p:spPr/>
        <p:txBody>
          <a:bodyPr/>
          <a:lstStyle/>
          <a:p>
            <a:r>
              <a:rPr lang="en-US" dirty="0"/>
              <a:t>Jinnahpur plan</a:t>
            </a:r>
          </a:p>
        </p:txBody>
      </p:sp>
      <p:sp>
        <p:nvSpPr>
          <p:cNvPr id="3" name="Content Placeholder 2">
            <a:extLst>
              <a:ext uri="{FF2B5EF4-FFF2-40B4-BE49-F238E27FC236}">
                <a16:creationId xmlns:a16="http://schemas.microsoft.com/office/drawing/2014/main" id="{333A3C83-FE9B-A9A9-51E2-047936B5906B}"/>
              </a:ext>
            </a:extLst>
          </p:cNvPr>
          <p:cNvSpPr>
            <a:spLocks noGrp="1"/>
          </p:cNvSpPr>
          <p:nvPr>
            <p:ph idx="1"/>
          </p:nvPr>
        </p:nvSpPr>
        <p:spPr>
          <a:xfrm>
            <a:off x="1069848" y="2121408"/>
            <a:ext cx="10058400" cy="4251960"/>
          </a:xfrm>
        </p:spPr>
        <p:txBody>
          <a:bodyPr>
            <a:normAutofit fontScale="92500" lnSpcReduction="10000"/>
          </a:bodyPr>
          <a:lstStyle/>
          <a:p>
            <a:r>
              <a:rPr lang="en-US" b="0" i="0" dirty="0">
                <a:solidFill>
                  <a:srgbClr val="333333"/>
                </a:solidFill>
                <a:effectLst/>
              </a:rPr>
              <a:t>During the 1992 Army operation, the MQM was accused of being anti-Pakistan, besides being alleged of hatching a conspiracy to establish a separatist state by the name of “Jinnahpur”.</a:t>
            </a:r>
          </a:p>
          <a:p>
            <a:r>
              <a:rPr lang="en-US" b="0" i="0" dirty="0">
                <a:solidFill>
                  <a:srgbClr val="333333"/>
                </a:solidFill>
                <a:effectLst/>
              </a:rPr>
              <a:t>Numerous national newspapers and media outlets had reported that Brigadier Asif Haroon of Pakistan Army had called journalists from Punjab after the launch of the 1992 operation and had briefed them about the “Jinnahpur Conspiracy.”</a:t>
            </a:r>
            <a:endParaRPr lang="en-US" dirty="0">
              <a:solidFill>
                <a:srgbClr val="333333"/>
              </a:solidFill>
            </a:endParaRPr>
          </a:p>
          <a:p>
            <a:r>
              <a:rPr lang="en-US" b="0" i="0" dirty="0">
                <a:solidFill>
                  <a:srgbClr val="333333"/>
                </a:solidFill>
                <a:effectLst/>
              </a:rPr>
              <a:t>As reported by a large section of the national Press about 23 years ago, Brigadier Asif Haroon had stated that the maps of the break-away state “Jinnahpur” and other documents were recovered from the MQM offices. But on October 19, 1992, the same national newspapers had carried an ISPR press release, conveying Army’s denial of the knowledge of the “Jinnahpur” plan.</a:t>
            </a:r>
          </a:p>
          <a:p>
            <a:r>
              <a:rPr lang="en-US" b="0" i="0" dirty="0">
                <a:solidFill>
                  <a:srgbClr val="333333"/>
                </a:solidFill>
                <a:effectLst/>
              </a:rPr>
              <a:t>The ISPR had stated that the Army had no evidence concerning the so-called Jinnahpur plan and newspaper stories in that context were baseless, maintaining that the Army had neither handed over to the government any document or map as reported, nor was it in the possession of any evidence concerning the so-called “Jinnahpur Plan”. The ISPR had clarified that it was also wrong that the matter was discussed at any meeting of the Karachi Corps Commander.</a:t>
            </a:r>
            <a:endParaRPr lang="en-US" dirty="0"/>
          </a:p>
        </p:txBody>
      </p:sp>
    </p:spTree>
    <p:extLst>
      <p:ext uri="{BB962C8B-B14F-4D97-AF65-F5344CB8AC3E}">
        <p14:creationId xmlns:p14="http://schemas.microsoft.com/office/powerpoint/2010/main" val="4268585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992E1-C689-0AA0-77CC-933D9A9F86EC}"/>
              </a:ext>
            </a:extLst>
          </p:cNvPr>
          <p:cNvSpPr>
            <a:spLocks noGrp="1"/>
          </p:cNvSpPr>
          <p:nvPr>
            <p:ph type="title"/>
          </p:nvPr>
        </p:nvSpPr>
        <p:spPr/>
        <p:txBody>
          <a:bodyPr/>
          <a:lstStyle/>
          <a:p>
            <a:r>
              <a:rPr lang="en-US" dirty="0"/>
              <a:t>The Final phase</a:t>
            </a:r>
          </a:p>
        </p:txBody>
      </p:sp>
      <p:sp>
        <p:nvSpPr>
          <p:cNvPr id="3" name="Content Placeholder 2">
            <a:extLst>
              <a:ext uri="{FF2B5EF4-FFF2-40B4-BE49-F238E27FC236}">
                <a16:creationId xmlns:a16="http://schemas.microsoft.com/office/drawing/2014/main" id="{C2BED5D6-08B2-E843-AC42-CFCC78FB6D43}"/>
              </a:ext>
            </a:extLst>
          </p:cNvPr>
          <p:cNvSpPr>
            <a:spLocks noGrp="1"/>
          </p:cNvSpPr>
          <p:nvPr>
            <p:ph idx="1"/>
          </p:nvPr>
        </p:nvSpPr>
        <p:spPr/>
        <p:txBody>
          <a:bodyPr>
            <a:normAutofit/>
          </a:bodyPr>
          <a:lstStyle/>
          <a:p>
            <a:r>
              <a:rPr lang="en-GB" dirty="0"/>
              <a:t>The anti-MQM operation continued into the new Benazir Bhutto government. The army’s search and destroy operation led to the discovery of arms caches and torture chambers in Karachi.
Ending in 1994, the period is regarded as the bloodiest period in Karachi’s history, with thousands killed or gone missing in the fighting. According to some reports, cited by dialogue Pakistan almost 18000 workers were killed. Thousands were arrested and brutally tortured. </a:t>
            </a:r>
            <a:r>
              <a:rPr lang="en-US" b="0" i="0" dirty="0">
                <a:effectLst/>
              </a:rPr>
              <a:t>According to Altaf Hussain, the ‘Operation-cleanup’ commenced against 72 big fishes, to put an end on the rising terrorism, but it targeted MQM specifically.</a:t>
            </a:r>
            <a:endParaRPr lang="en-GB" dirty="0"/>
          </a:p>
          <a:p>
            <a:r>
              <a:rPr lang="en-GB" dirty="0"/>
              <a:t>In May 1995, arm clashes again broke out between the MQM and the Sindh Police managed by the PPP. However, Benazir Bhutto’s steps towards the </a:t>
            </a:r>
            <a:r>
              <a:rPr lang="en-GB" b="1" dirty="0"/>
              <a:t>counterinsurgency</a:t>
            </a:r>
            <a:r>
              <a:rPr lang="en-GB" dirty="0"/>
              <a:t> did bring some calm in Karachi by the spring of 1996. </a:t>
            </a:r>
          </a:p>
          <a:p>
            <a:endParaRPr lang="en-US" dirty="0"/>
          </a:p>
          <a:p>
            <a:endParaRPr lang="en-US" dirty="0"/>
          </a:p>
        </p:txBody>
      </p:sp>
    </p:spTree>
    <p:extLst>
      <p:ext uri="{BB962C8B-B14F-4D97-AF65-F5344CB8AC3E}">
        <p14:creationId xmlns:p14="http://schemas.microsoft.com/office/powerpoint/2010/main" val="1007518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056BA6-1DF6-D518-6478-CD9EFD537DD1}"/>
              </a:ext>
            </a:extLst>
          </p:cNvPr>
          <p:cNvSpPr>
            <a:spLocks noGrp="1"/>
          </p:cNvSpPr>
          <p:nvPr>
            <p:ph idx="1"/>
          </p:nvPr>
        </p:nvSpPr>
        <p:spPr>
          <a:xfrm>
            <a:off x="1066800" y="1438275"/>
            <a:ext cx="10058400" cy="4505325"/>
          </a:xfrm>
        </p:spPr>
        <p:txBody>
          <a:bodyPr/>
          <a:lstStyle/>
          <a:p>
            <a:r>
              <a:rPr lang="en-GB" dirty="0"/>
              <a:t>Over this issue, Murtaza Bhutto, brother of Benazir Bhutto was notably gunned down in a police encounter with the Sindh Police, some reports also say that his verbal disagreement with PPP and his stance over the ongoing corruption led to his death. Within seven-week, President Farooq Leghari dismissed the government of Benazir Bhutto, primarily charging the issue of Murtaza Bhutto and the killings of MQM workers. MQM again participated well in </a:t>
            </a:r>
            <a:r>
              <a:rPr lang="en-GB" b="1" dirty="0"/>
              <a:t>1997 general elections </a:t>
            </a:r>
            <a:r>
              <a:rPr lang="en-GB" dirty="0"/>
              <a:t>and redemonstrated its political leverage in the parliament. Furthermore, the program came to its final halt in end years of 1996 after the dismissal of Benazir Bhutto’s government.</a:t>
            </a:r>
          </a:p>
          <a:p>
            <a:r>
              <a:rPr lang="en-GB" dirty="0"/>
              <a:t>The MQM hold prayers for its deceased workers at the Lal Qila Ground. More than 20 years have passed since the alleged arrest or disappearance of MQM workers, families of the missing people are still hopeful for justice after registering the cases in the Supreme Court of Pakistan. This operation came to an end and according to police </a:t>
            </a:r>
            <a:r>
              <a:rPr lang="en-GB" dirty="0" err="1"/>
              <a:t>cheif</a:t>
            </a:r>
            <a:r>
              <a:rPr lang="en-GB" dirty="0"/>
              <a:t> of </a:t>
            </a:r>
            <a:r>
              <a:rPr lang="en-GB" dirty="0" err="1"/>
              <a:t>karachi</a:t>
            </a:r>
            <a:r>
              <a:rPr lang="en-GB" dirty="0"/>
              <a:t>, </a:t>
            </a:r>
            <a:r>
              <a:rPr lang="en-GB" dirty="0" err="1"/>
              <a:t>shoaib</a:t>
            </a:r>
            <a:r>
              <a:rPr lang="en-GB" dirty="0"/>
              <a:t> </a:t>
            </a:r>
            <a:r>
              <a:rPr lang="en-GB" dirty="0" err="1"/>
              <a:t>suddle</a:t>
            </a:r>
            <a:r>
              <a:rPr lang="en-GB" dirty="0"/>
              <a:t>, this operation concluded with no results. </a:t>
            </a:r>
          </a:p>
          <a:p>
            <a:endParaRPr lang="en-US" dirty="0"/>
          </a:p>
        </p:txBody>
      </p:sp>
    </p:spTree>
    <p:extLst>
      <p:ext uri="{BB962C8B-B14F-4D97-AF65-F5344CB8AC3E}">
        <p14:creationId xmlns:p14="http://schemas.microsoft.com/office/powerpoint/2010/main" val="464267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98803-26D6-8E5B-C064-0A682722D37D}"/>
              </a:ext>
            </a:extLst>
          </p:cNvPr>
          <p:cNvSpPr>
            <a:spLocks noGrp="1"/>
          </p:cNvSpPr>
          <p:nvPr>
            <p:ph type="title"/>
          </p:nvPr>
        </p:nvSpPr>
        <p:spPr>
          <a:xfrm>
            <a:off x="1154954" y="2505075"/>
            <a:ext cx="8825660" cy="2272306"/>
          </a:xfrm>
        </p:spPr>
        <p:txBody>
          <a:bodyPr>
            <a:normAutofit/>
          </a:bodyPr>
          <a:lstStyle/>
          <a:p>
            <a:r>
              <a:rPr lang="en-US" sz="2400" dirty="0" err="1"/>
              <a:t>Aarib</a:t>
            </a:r>
            <a:br>
              <a:rPr lang="en-US" sz="2400" dirty="0"/>
            </a:br>
            <a:r>
              <a:rPr lang="en-US" sz="2400" dirty="0"/>
              <a:t>Abdur Rehman	</a:t>
            </a:r>
            <a:br>
              <a:rPr lang="en-US" sz="2400" dirty="0"/>
            </a:br>
            <a:r>
              <a:rPr lang="en-US" sz="2400" dirty="0" err="1"/>
              <a:t>Arham</a:t>
            </a:r>
            <a:br>
              <a:rPr lang="en-US" sz="2400" dirty="0"/>
            </a:br>
            <a:r>
              <a:rPr lang="en-US" sz="2400" dirty="0" err="1"/>
              <a:t>Maasir</a:t>
            </a:r>
            <a:br>
              <a:rPr lang="en-US" sz="2400" dirty="0"/>
            </a:br>
            <a:r>
              <a:rPr lang="en-US" sz="2400" dirty="0" err="1"/>
              <a:t>Zamin</a:t>
            </a:r>
            <a:br>
              <a:rPr lang="en-US" sz="2400" dirty="0"/>
            </a:br>
            <a:endParaRPr lang="en-US" sz="2400" dirty="0"/>
          </a:p>
        </p:txBody>
      </p:sp>
      <p:sp>
        <p:nvSpPr>
          <p:cNvPr id="3" name="Text Placeholder 2">
            <a:extLst>
              <a:ext uri="{FF2B5EF4-FFF2-40B4-BE49-F238E27FC236}">
                <a16:creationId xmlns:a16="http://schemas.microsoft.com/office/drawing/2014/main" id="{C0015E85-BEA1-74F6-1BAA-747E0A489118}"/>
              </a:ext>
            </a:extLst>
          </p:cNvPr>
          <p:cNvSpPr>
            <a:spLocks noGrp="1"/>
          </p:cNvSpPr>
          <p:nvPr>
            <p:ph type="body" idx="1"/>
          </p:nvPr>
        </p:nvSpPr>
        <p:spPr/>
        <p:txBody>
          <a:bodyPr>
            <a:normAutofit/>
          </a:bodyPr>
          <a:lstStyle/>
          <a:p>
            <a:pPr algn="ctr"/>
            <a:r>
              <a:rPr lang="en-US" sz="3200" b="1" dirty="0">
                <a:solidFill>
                  <a:schemeClr val="accent1"/>
                </a:solidFill>
              </a:rPr>
              <a:t>Thank You</a:t>
            </a:r>
          </a:p>
        </p:txBody>
      </p:sp>
    </p:spTree>
    <p:extLst>
      <p:ext uri="{BB962C8B-B14F-4D97-AF65-F5344CB8AC3E}">
        <p14:creationId xmlns:p14="http://schemas.microsoft.com/office/powerpoint/2010/main" val="694565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232</TotalTime>
  <Words>1158</Words>
  <Application>Microsoft Office PowerPoint</Application>
  <PresentationFormat>Widescreen</PresentationFormat>
  <Paragraphs>25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Franklin Gothic Book</vt:lpstr>
      <vt:lpstr>Franklin Gothic Medium</vt:lpstr>
      <vt:lpstr>Wingdings</vt:lpstr>
      <vt:lpstr>Wood Type</vt:lpstr>
      <vt:lpstr>   Operation Blue Fox </vt:lpstr>
      <vt:lpstr>Introduction</vt:lpstr>
      <vt:lpstr>Causes and Plan</vt:lpstr>
      <vt:lpstr>Killings in hyderabad</vt:lpstr>
      <vt:lpstr>PowerPoint Presentation</vt:lpstr>
      <vt:lpstr>Implementation</vt:lpstr>
      <vt:lpstr>Jinnahpur plan</vt:lpstr>
      <vt:lpstr>The Final phase</vt:lpstr>
      <vt:lpstr>PowerPoint Presentation</vt:lpstr>
      <vt:lpstr>Aarib Abdur Rehman  Arham Maasir Zamin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 Blue Fox</dc:title>
  <dc:creator>Abdur Rehman Rao</dc:creator>
  <cp:lastModifiedBy>M. Arham Hussain Khan</cp:lastModifiedBy>
  <cp:revision>16</cp:revision>
  <dcterms:created xsi:type="dcterms:W3CDTF">2022-11-16T11:30:47Z</dcterms:created>
  <dcterms:modified xsi:type="dcterms:W3CDTF">2022-11-23T18:09:43Z</dcterms:modified>
</cp:coreProperties>
</file>