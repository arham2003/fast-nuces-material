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46"/>
  </p:notesMasterIdLst>
  <p:sldIdLst>
    <p:sldId id="256" r:id="rId2"/>
    <p:sldId id="299" r:id="rId3"/>
    <p:sldId id="300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40" r:id="rId20"/>
    <p:sldId id="341" r:id="rId21"/>
    <p:sldId id="342" r:id="rId22"/>
    <p:sldId id="317" r:id="rId23"/>
    <p:sldId id="318" r:id="rId24"/>
    <p:sldId id="319" r:id="rId25"/>
    <p:sldId id="320" r:id="rId26"/>
    <p:sldId id="321" r:id="rId27"/>
    <p:sldId id="322" r:id="rId28"/>
    <p:sldId id="323" r:id="rId29"/>
    <p:sldId id="324" r:id="rId30"/>
    <p:sldId id="325" r:id="rId31"/>
    <p:sldId id="326" r:id="rId32"/>
    <p:sldId id="327" r:id="rId33"/>
    <p:sldId id="328" r:id="rId34"/>
    <p:sldId id="329" r:id="rId35"/>
    <p:sldId id="330" r:id="rId36"/>
    <p:sldId id="331" r:id="rId37"/>
    <p:sldId id="332" r:id="rId38"/>
    <p:sldId id="333" r:id="rId39"/>
    <p:sldId id="334" r:id="rId40"/>
    <p:sldId id="335" r:id="rId41"/>
    <p:sldId id="336" r:id="rId42"/>
    <p:sldId id="337" r:id="rId43"/>
    <p:sldId id="338" r:id="rId44"/>
    <p:sldId id="339" r:id="rId45"/>
  </p:sldIdLst>
  <p:sldSz cx="12192000" cy="6858000"/>
  <p:notesSz cx="6858000" cy="9144000"/>
  <p:embeddedFontLst>
    <p:embeddedFont>
      <p:font typeface="Garamond" panose="02020404030301010803" pitchFamily="18" charset="0"/>
      <p:regular r:id="rId47"/>
      <p:bold r:id="rId48"/>
      <p:italic r:id="rId49"/>
      <p:boldItalic r:id="rId50"/>
    </p:embeddedFont>
    <p:embeddedFont>
      <p:font typeface="Tahoma" panose="020B0604030504040204" pitchFamily="34" charset="0"/>
      <p:regular r:id="rId51"/>
      <p:bold r:id="rId52"/>
    </p:embeddedFont>
    <p:embeddedFont>
      <p:font typeface="ＭＳ Ｐゴシック" panose="020B0600070205080204" pitchFamily="34" charset="-128"/>
      <p:regular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A8D499-423A-4940-9E00-C2E22F4AE5A8}">
  <a:tblStyle styleId="{7AA8D499-423A-4940-9E00-C2E22F4AE5A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F9310EA-DE64-431A-A53C-A09F3E481D8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D869CAD-F9B7-43DD-B039-10431B67354B}" type="slidenum">
              <a:rPr lang="en-CA" altLang="en-US" sz="1200" smtClean="0">
                <a:latin typeface="Tahoma" panose="020B0604030504040204" pitchFamily="34" charset="0"/>
              </a:rPr>
              <a:pPr/>
              <a:t>2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826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198DE4E-36DC-498A-81A4-71AA6D0AA0AB}" type="slidenum">
              <a:rPr lang="en-CA" altLang="en-US" sz="1200" smtClean="0">
                <a:latin typeface="Tahoma" panose="020B0604030504040204" pitchFamily="34" charset="0"/>
              </a:rPr>
              <a:pPr/>
              <a:t>3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52119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8486DCE-76BD-490C-8B45-A9F09F690824}" type="slidenum">
              <a:rPr lang="en-CA" altLang="en-US" sz="1200" smtClean="0">
                <a:latin typeface="Tahoma" panose="020B0604030504040204" pitchFamily="34" charset="0"/>
              </a:rPr>
              <a:pPr/>
              <a:t>4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1433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34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2648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65F66F8-29C9-4E7F-95CD-2FAFF0EF89A1}" type="slidenum">
              <a:rPr lang="en-CA" altLang="en-US" sz="1200" smtClean="0">
                <a:latin typeface="Tahoma" panose="020B0604030504040204" pitchFamily="34" charset="0"/>
              </a:rPr>
              <a:pPr/>
              <a:t>5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96834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60E56F3-F2CA-45A4-A532-876BC13B72EB}" type="slidenum">
              <a:rPr lang="en-CA" altLang="en-US" sz="1200" smtClean="0">
                <a:latin typeface="Tahoma" panose="020B0604030504040204" pitchFamily="34" charset="0"/>
              </a:rPr>
              <a:pPr/>
              <a:t>6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55722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F63E0FF-AD7D-4035-BBD7-AD5014C7C493}" type="slidenum">
              <a:rPr lang="en-CA" altLang="en-US" sz="1200" smtClean="0">
                <a:latin typeface="Tahoma" panose="020B0604030504040204" pitchFamily="34" charset="0"/>
              </a:rPr>
              <a:pPr/>
              <a:t>7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2048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48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3064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DA52653-6AE0-42A0-B17B-C1F0A9B111D9}" type="slidenum">
              <a:rPr lang="en-CA" altLang="en-US" sz="1200" smtClean="0">
                <a:latin typeface="Tahoma" panose="020B0604030504040204" pitchFamily="34" charset="0"/>
              </a:rPr>
              <a:pPr/>
              <a:t>8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13331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CD6F396-CFDA-457E-9EB8-C077B9B7FE71}" type="slidenum">
              <a:rPr lang="en-CA" altLang="en-US" sz="1200" smtClean="0">
                <a:latin typeface="Tahoma" panose="020B0604030504040204" pitchFamily="34" charset="0"/>
              </a:rPr>
              <a:pPr/>
              <a:t>9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2457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58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362329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B729F71-AAE1-429B-8BC8-05DF437D23FC}" type="slidenum">
              <a:rPr lang="en-CA" altLang="en-US" sz="1200" smtClean="0">
                <a:latin typeface="Tahoma" panose="020B0604030504040204" pitchFamily="34" charset="0"/>
              </a:rPr>
              <a:pPr/>
              <a:t>10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11978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6F9EDE6-B36F-4698-85E9-9D6C6875B73D}" type="slidenum">
              <a:rPr lang="en-CA" altLang="en-US" sz="1200" smtClean="0">
                <a:latin typeface="Tahoma" panose="020B0604030504040204" pitchFamily="34" charset="0"/>
              </a:rPr>
              <a:pPr/>
              <a:t>11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2867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426351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ECE6319-797A-40BF-A3EA-B8B28097BE2C}" type="slidenum">
              <a:rPr lang="en-CA" altLang="en-US" sz="1200" smtClean="0">
                <a:latin typeface="Tahoma" panose="020B0604030504040204" pitchFamily="34" charset="0"/>
              </a:rPr>
              <a:pPr/>
              <a:t>12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34610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92665A3-C482-404A-9F07-9DD62BDA866F}" type="slidenum">
              <a:rPr lang="en-CA" altLang="en-US" sz="1200" smtClean="0">
                <a:latin typeface="Tahoma" panose="020B0604030504040204" pitchFamily="34" charset="0"/>
              </a:rPr>
              <a:pPr/>
              <a:t>13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327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7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16029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4780ED9-BDC7-4D92-9AC2-DF869D0EC59D}" type="slidenum">
              <a:rPr lang="en-CA" altLang="en-US" sz="1200" smtClean="0">
                <a:latin typeface="Tahoma" panose="020B0604030504040204" pitchFamily="34" charset="0"/>
              </a:rPr>
              <a:pPr/>
              <a:t>14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73428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040E6BB-9C73-46EA-B525-68F8FA8AB111}" type="slidenum">
              <a:rPr lang="en-CA" altLang="en-US" sz="1200" smtClean="0">
                <a:latin typeface="Tahoma" panose="020B0604030504040204" pitchFamily="34" charset="0"/>
              </a:rPr>
              <a:pPr/>
              <a:t>15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3686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686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822673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4A8CEF0-F02F-435C-961E-86231F2B8E7D}" type="slidenum">
              <a:rPr lang="en-CA" altLang="en-US" sz="1200" smtClean="0">
                <a:latin typeface="Tahoma" panose="020B0604030504040204" pitchFamily="34" charset="0"/>
              </a:rPr>
              <a:pPr/>
              <a:t>16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45620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E6CC74A-84EF-4E56-A138-6F14047531EF}" type="slidenum">
              <a:rPr lang="en-CA" altLang="en-US" sz="1200" smtClean="0">
                <a:latin typeface="Tahoma" panose="020B0604030504040204" pitchFamily="34" charset="0"/>
              </a:rPr>
              <a:pPr/>
              <a:t>17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4096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096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05349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585CC58-E563-4CB0-96F6-53612ADC7708}" type="slidenum">
              <a:rPr lang="en-CA" altLang="en-US" sz="1200" smtClean="0">
                <a:latin typeface="Tahoma" panose="020B0604030504040204" pitchFamily="34" charset="0"/>
              </a:rPr>
              <a:pPr/>
              <a:t>22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4403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403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151542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7FA857F-E270-4FEF-83DE-3D54FABCC3CB}" type="slidenum">
              <a:rPr lang="en-CA" altLang="en-US" sz="1200" smtClean="0">
                <a:latin typeface="Tahoma" panose="020B0604030504040204" pitchFamily="34" charset="0"/>
              </a:rPr>
              <a:pPr/>
              <a:t>23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811488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47B2029-9F70-41F9-BE00-F3E1E4005EA3}" type="slidenum">
              <a:rPr lang="en-CA" altLang="en-US" sz="1200" smtClean="0">
                <a:latin typeface="Tahoma" panose="020B0604030504040204" pitchFamily="34" charset="0"/>
              </a:rPr>
              <a:pPr/>
              <a:t>24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4813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13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62156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CAB0652-E53F-45EE-8E63-4F567D2EB759}" type="slidenum">
              <a:rPr lang="en-CA" altLang="en-US" sz="1200" smtClean="0">
                <a:latin typeface="Tahoma" panose="020B0604030504040204" pitchFamily="34" charset="0"/>
              </a:rPr>
              <a:pPr/>
              <a:t>25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37032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12A8B-9591-4E4D-9A54-33E5ECF17637}" type="slidenum">
              <a:rPr lang="en-CA" altLang="en-US" sz="1200" smtClean="0">
                <a:latin typeface="Tahoma" panose="020B0604030504040204" pitchFamily="34" charset="0"/>
              </a:rPr>
              <a:pPr/>
              <a:t>26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5222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2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142029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B3040B8-C033-4AA7-97DF-6166A424C005}" type="slidenum">
              <a:rPr lang="en-CA" altLang="en-US" sz="1200" smtClean="0">
                <a:latin typeface="Tahoma" panose="020B0604030504040204" pitchFamily="34" charset="0"/>
              </a:rPr>
              <a:pPr/>
              <a:t>27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594241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BF8E123-C00E-4CFE-B02E-B3B729BE1764}" type="slidenum">
              <a:rPr lang="en-CA" altLang="en-US" sz="1200" smtClean="0">
                <a:latin typeface="Tahoma" panose="020B0604030504040204" pitchFamily="34" charset="0"/>
              </a:rPr>
              <a:pPr/>
              <a:t>28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673754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162B4B4-2682-4D5F-B2C0-6E18020F9FAA}" type="slidenum">
              <a:rPr lang="en-CA" altLang="en-US" sz="1200" smtClean="0">
                <a:latin typeface="Tahoma" panose="020B0604030504040204" pitchFamily="34" charset="0"/>
              </a:rPr>
              <a:pPr/>
              <a:t>31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84317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1B51DD8-C53A-4502-A698-EBB97B919DDE}" type="slidenum">
              <a:rPr lang="en-CA" altLang="en-US" sz="1200" smtClean="0">
                <a:latin typeface="Tahoma" panose="020B0604030504040204" pitchFamily="34" charset="0"/>
              </a:rPr>
              <a:pPr/>
              <a:t>32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374212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E2F2400-74AF-4B7E-96DF-984491B0CBE1}" type="slidenum">
              <a:rPr lang="en-CA" altLang="en-US" sz="1200" smtClean="0">
                <a:latin typeface="Tahoma" panose="020B0604030504040204" pitchFamily="34" charset="0"/>
              </a:rPr>
              <a:pPr/>
              <a:t>33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12387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4063238-8B9E-4FDF-95EF-EBB5991B20B7}" type="slidenum">
              <a:rPr lang="en-CA" altLang="en-US" sz="1200" smtClean="0">
                <a:latin typeface="Tahoma" panose="020B0604030504040204" pitchFamily="34" charset="0"/>
              </a:rPr>
              <a:pPr/>
              <a:t>34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05915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23610C4-F254-492A-AC98-0CA03B2712F2}" type="slidenum">
              <a:rPr lang="en-CA" altLang="en-US" sz="1200" smtClean="0">
                <a:latin typeface="Tahoma" panose="020B0604030504040204" pitchFamily="34" charset="0"/>
              </a:rPr>
              <a:pPr/>
              <a:t>35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59680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3DF8199-8074-40BD-9F39-0CF412319F7A}" type="slidenum">
              <a:rPr lang="en-CA" altLang="en-US" sz="1200" smtClean="0">
                <a:latin typeface="Tahoma" panose="020B0604030504040204" pitchFamily="34" charset="0"/>
              </a:rPr>
              <a:pPr/>
              <a:t>36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583824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8DD46FC-8A5F-4FDC-8D06-CE14E2B941BE}" type="slidenum">
              <a:rPr lang="en-CA" altLang="en-US" sz="1200" smtClean="0">
                <a:latin typeface="Tahoma" panose="020B0604030504040204" pitchFamily="34" charset="0"/>
              </a:rPr>
              <a:pPr/>
              <a:t>37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24504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F158CA5-9754-429F-A0BC-459475585059}" type="slidenum">
              <a:rPr lang="en-CA" altLang="en-US" sz="1200" smtClean="0">
                <a:latin typeface="Tahoma" panose="020B0604030504040204" pitchFamily="34" charset="0"/>
              </a:rPr>
              <a:pPr/>
              <a:t>38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62456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2731427-867F-4CDA-8503-D9568D9AC218}" type="slidenum">
              <a:rPr lang="en-CA" altLang="en-US" sz="1200" smtClean="0">
                <a:latin typeface="Tahoma" panose="020B0604030504040204" pitchFamily="34" charset="0"/>
              </a:rPr>
              <a:pPr/>
              <a:t>39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10686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C6DFBDF-1BE8-44D7-9AD4-F8E996695531}" type="slidenum">
              <a:rPr lang="en-CA" altLang="en-US" sz="1200" smtClean="0">
                <a:latin typeface="Tahoma" panose="020B0604030504040204" pitchFamily="34" charset="0"/>
              </a:rPr>
              <a:pPr/>
              <a:t>40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25194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251266E-5105-4614-AFA4-2D6108144636}" type="slidenum">
              <a:rPr lang="en-CA" altLang="en-US" sz="1200" smtClean="0">
                <a:latin typeface="Tahoma" panose="020B0604030504040204" pitchFamily="34" charset="0"/>
              </a:rPr>
              <a:pPr/>
              <a:t>44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30340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2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8" name="Google Shape;18;p2" descr="HD-PanelTitleR1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2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" name="Google Shape;20;p2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dt" idx="10"/>
          </p:nvPr>
        </p:nvSpPr>
        <p:spPr>
          <a:xfrm>
            <a:off x="7983232" y="5037663"/>
            <a:ext cx="8974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ftr" idx="11"/>
          </p:nvPr>
        </p:nvSpPr>
        <p:spPr>
          <a:xfrm>
            <a:off x="2692397" y="5037663"/>
            <a:ext cx="5214635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sldNum" idx="12"/>
          </p:nvPr>
        </p:nvSpPr>
        <p:spPr>
          <a:xfrm>
            <a:off x="8956900" y="5037663"/>
            <a:ext cx="5511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2"/>
          <p:cNvCxnSpPr/>
          <p:nvPr/>
        </p:nvCxnSpPr>
        <p:spPr>
          <a:xfrm>
            <a:off x="2692399" y="3522131"/>
            <a:ext cx="681566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5" name="Google Shape;75;p9"/>
          <p:cNvCxnSpPr/>
          <p:nvPr/>
        </p:nvCxnSpPr>
        <p:spPr>
          <a:xfrm>
            <a:off x="2012723" y="3710585"/>
            <a:ext cx="8163380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2"/>
          </p:nvPr>
        </p:nvSpPr>
        <p:spPr>
          <a:xfrm>
            <a:off x="129540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body" idx="3"/>
          </p:nvPr>
        </p:nvSpPr>
        <p:spPr>
          <a:xfrm>
            <a:off x="618067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4"/>
          </p:nvPr>
        </p:nvSpPr>
        <p:spPr>
          <a:xfrm>
            <a:off x="618067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5" name="Google Shape;85;p10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body" idx="1"/>
          </p:nvPr>
        </p:nvSpPr>
        <p:spPr>
          <a:xfrm>
            <a:off x="5418668" y="982131"/>
            <a:ext cx="5469466" cy="489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6004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2"/>
          </p:nvPr>
        </p:nvSpPr>
        <p:spPr>
          <a:xfrm>
            <a:off x="1293811" y="3031065"/>
            <a:ext cx="3718455" cy="243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7" name="Google Shape;97;p12"/>
          <p:cNvCxnSpPr/>
          <p:nvPr/>
        </p:nvCxnSpPr>
        <p:spPr>
          <a:xfrm>
            <a:off x="1396169" y="2912533"/>
            <a:ext cx="35144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 sz="2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>
            <a:spLocks noGrp="1"/>
          </p:cNvSpPr>
          <p:nvPr>
            <p:ph type="pic" idx="2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1" name="Google Shape;101;p13"/>
          <p:cNvSpPr txBox="1">
            <a:spLocks noGrp="1"/>
          </p:cNvSpPr>
          <p:nvPr>
            <p:ph type="body" idx="1"/>
          </p:nvPr>
        </p:nvSpPr>
        <p:spPr>
          <a:xfrm>
            <a:off x="1295399" y="3255432"/>
            <a:ext cx="6241816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>
            <a:spLocks noGrp="1"/>
          </p:cNvSpPr>
          <p:nvPr>
            <p:ph type="pic" idx="2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8" name="Google Shape;108;p14"/>
          <p:cNvSpPr txBox="1">
            <a:spLocks noGrp="1"/>
          </p:cNvSpPr>
          <p:nvPr>
            <p:ph type="body" idx="1"/>
          </p:nvPr>
        </p:nvSpPr>
        <p:spPr>
          <a:xfrm>
            <a:off x="1295401" y="5382153"/>
            <a:ext cx="9609666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8" name="Google Shape;118;p15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1674812" y="3352800"/>
            <a:ext cx="8839202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Font typeface="Garamond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00"/>
              <a:buFont typeface="Garamond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Font typeface="Garamond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Font typeface="Garamond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Font typeface="Garamond"/>
              <a:buNone/>
              <a:defRPr/>
            </a:lvl5pPr>
            <a:lvl6pPr marL="2743200" lvl="5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2"/>
          </p:nvPr>
        </p:nvSpPr>
        <p:spPr>
          <a:xfrm>
            <a:off x="1295401" y="4343399"/>
            <a:ext cx="9609666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128;p16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8"/>
          <p:cNvSpPr txBox="1">
            <a:spLocks noGrp="1"/>
          </p:cNvSpPr>
          <p:nvPr>
            <p:ph type="body" idx="1"/>
          </p:nvPr>
        </p:nvSpPr>
        <p:spPr>
          <a:xfrm>
            <a:off x="1295401" y="3639312"/>
            <a:ext cx="9609668" cy="88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18"/>
          <p:cNvSpPr txBox="1">
            <a:spLocks noGrp="1"/>
          </p:cNvSpPr>
          <p:nvPr>
            <p:ph type="body" idx="2"/>
          </p:nvPr>
        </p:nvSpPr>
        <p:spPr>
          <a:xfrm>
            <a:off x="1295401" y="4529667"/>
            <a:ext cx="9609668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1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18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9"/>
          <p:cNvSpPr txBox="1">
            <a:spLocks noGrp="1"/>
          </p:cNvSpPr>
          <p:nvPr>
            <p:ph type="body" idx="1"/>
          </p:nvPr>
        </p:nvSpPr>
        <p:spPr>
          <a:xfrm>
            <a:off x="1295401" y="3630168"/>
            <a:ext cx="960966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19"/>
          <p:cNvSpPr txBox="1">
            <a:spLocks noGrp="1"/>
          </p:cNvSpPr>
          <p:nvPr>
            <p:ph type="body" idx="2"/>
          </p:nvPr>
        </p:nvSpPr>
        <p:spPr>
          <a:xfrm>
            <a:off x="1295400" y="4470399"/>
            <a:ext cx="9609670" cy="140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1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2" name="Google Shape;152;p19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0"/>
          <p:cNvSpPr txBox="1">
            <a:spLocks noGrp="1"/>
          </p:cNvSpPr>
          <p:nvPr>
            <p:ph type="body" idx="1"/>
          </p:nvPr>
        </p:nvSpPr>
        <p:spPr>
          <a:xfrm rot="5400000">
            <a:off x="4436531" y="-584198"/>
            <a:ext cx="3318936" cy="960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9" name="Google Shape;159;p20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 rot="5400000">
            <a:off x="7497936" y="2483551"/>
            <a:ext cx="4893735" cy="1890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body" idx="1"/>
          </p:nvPr>
        </p:nvSpPr>
        <p:spPr>
          <a:xfrm rot="5400000">
            <a:off x="2565043" y="-287513"/>
            <a:ext cx="4893734" cy="743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6" name="Google Shape;166;p21"/>
          <p:cNvCxnSpPr/>
          <p:nvPr/>
        </p:nvCxnSpPr>
        <p:spPr>
          <a:xfrm>
            <a:off x="8863890" y="990600"/>
            <a:ext cx="0" cy="487680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EA88C04D-D209-4F6C-96D2-7974D971543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2- </a:t>
            </a:r>
            <a:fld id="{2479951A-FDD3-4F05-A3C5-48107C911E05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255805265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8C48597A-885F-4D71-8A72-5F772B547CF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5- </a:t>
            </a:r>
            <a:fld id="{A1132436-DDC9-4282-8274-13F39F5C2C33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68196396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8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7" name="Google Shape;7;p1" descr="HD-PanelContent.png"/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1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" name="Google Shape;9;p1" descr="HDRibbonContent-UniformTrim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0;p1" descr="HDRibbonContent-UniformTrim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386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sz="2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746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sz="2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6004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4543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308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308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308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3083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3083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9" r:id="rId15"/>
    <p:sldLayoutId id="2147483670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Garamond"/>
              <a:buNone/>
            </a:pPr>
            <a:r>
              <a:rPr lang="en-US" sz="4500" dirty="0" smtClean="0"/>
              <a:t>Database Systems</a:t>
            </a:r>
            <a:endParaRPr sz="45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Garamond"/>
              <a:buNone/>
            </a:pPr>
            <a:r>
              <a:rPr lang="en-US" sz="4500" dirty="0"/>
              <a:t>(</a:t>
            </a:r>
            <a:r>
              <a:rPr lang="en-US" sz="4500" dirty="0" smtClean="0">
                <a:solidFill>
                  <a:srgbClr val="0D0D0D"/>
                </a:solidFill>
              </a:rPr>
              <a:t>CS2005</a:t>
            </a:r>
            <a:r>
              <a:rPr lang="en-US" sz="4500" dirty="0" smtClean="0"/>
              <a:t>)</a:t>
            </a:r>
            <a:endParaRPr sz="4500" dirty="0"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2692400" y="3657600"/>
            <a:ext cx="6815700" cy="1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28"/>
              <a:buNone/>
            </a:pPr>
            <a:endParaRPr sz="24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28"/>
              <a:buNone/>
            </a:pPr>
            <a:r>
              <a:rPr lang="en-US" sz="2400" dirty="0"/>
              <a:t>Week – </a:t>
            </a:r>
            <a:r>
              <a:rPr lang="en-US" sz="2400" dirty="0" smtClean="0"/>
              <a:t>03</a:t>
            </a:r>
            <a:endParaRPr sz="2400" dirty="0"/>
          </a:p>
          <a:p>
            <a:pPr marL="0" lvl="0" indent="0" algn="ctr" rtl="0">
              <a:lnSpc>
                <a:spcPct val="80000"/>
              </a:lnSpc>
              <a:spcBef>
                <a:spcPts val="831"/>
              </a:spcBef>
              <a:spcAft>
                <a:spcPts val="0"/>
              </a:spcAft>
              <a:buSzPts val="1328"/>
              <a:buNone/>
            </a:pPr>
            <a:endParaRPr sz="2400" dirty="0"/>
          </a:p>
          <a:p>
            <a:pPr marL="0" lvl="0" indent="0" algn="ctr" rtl="0">
              <a:lnSpc>
                <a:spcPct val="80000"/>
              </a:lnSpc>
              <a:spcBef>
                <a:spcPts val="831"/>
              </a:spcBef>
              <a:spcAft>
                <a:spcPts val="0"/>
              </a:spcAft>
              <a:buSzPts val="1328"/>
              <a:buNone/>
            </a:pPr>
            <a:r>
              <a:rPr lang="en-US" sz="2400" dirty="0"/>
              <a:t>Instructor: </a:t>
            </a:r>
            <a:r>
              <a:rPr lang="en-US" sz="2400" b="1" dirty="0"/>
              <a:t>Basit Ali </a:t>
            </a:r>
            <a:endParaRPr sz="2400" dirty="0"/>
          </a:p>
          <a:p>
            <a:pPr marL="0" lvl="0" indent="0" algn="l" rtl="0">
              <a:lnSpc>
                <a:spcPct val="80000"/>
              </a:lnSpc>
              <a:spcBef>
                <a:spcPts val="864"/>
              </a:spcBef>
              <a:spcAft>
                <a:spcPts val="0"/>
              </a:spcAft>
              <a:buSzPts val="1518"/>
              <a:buNone/>
            </a:pPr>
            <a:r>
              <a:rPr lang="en-US" sz="2400" dirty="0"/>
              <a:t>	</a:t>
            </a:r>
            <a:endParaRPr sz="2400" dirty="0"/>
          </a:p>
          <a:p>
            <a:pPr marL="0" lvl="0" indent="0" algn="ctr" rtl="0">
              <a:lnSpc>
                <a:spcPct val="80000"/>
              </a:lnSpc>
              <a:spcBef>
                <a:spcPts val="831"/>
              </a:spcBef>
              <a:spcAft>
                <a:spcPts val="0"/>
              </a:spcAft>
              <a:buSzPts val="1328"/>
              <a:buNone/>
            </a:pP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D1CEE-65EA-4865-BFBA-95DE3CE2C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053" y="1145383"/>
            <a:ext cx="9601196" cy="3318936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endParaRPr lang="en-US" dirty="0">
              <a:ea typeface="+mn-ea"/>
              <a:cs typeface="+mn-cs"/>
            </a:endParaRPr>
          </a:p>
          <a:p>
            <a:pPr>
              <a:defRPr/>
            </a:pPr>
            <a:endParaRPr lang="en-US" dirty="0">
              <a:ea typeface="+mn-ea"/>
              <a:cs typeface="+mn-cs"/>
            </a:endParaRPr>
          </a:p>
          <a:p>
            <a:pPr>
              <a:defRPr/>
            </a:pPr>
            <a:endParaRPr lang="en-US" dirty="0">
              <a:ea typeface="+mn-ea"/>
              <a:cs typeface="+mn-cs"/>
            </a:endParaRPr>
          </a:p>
          <a:p>
            <a:pPr marL="0" indent="0" algn="ctr">
              <a:buNone/>
              <a:defRPr/>
            </a:pPr>
            <a:r>
              <a:rPr lang="en-US" sz="3200" b="1" dirty="0">
                <a:ea typeface="+mn-ea"/>
                <a:cs typeface="+mn-cs"/>
              </a:rPr>
              <a:t>CHAPTER 5</a:t>
            </a:r>
          </a:p>
          <a:p>
            <a:pPr marL="0" indent="0" algn="ctr">
              <a:buNone/>
              <a:defRPr/>
            </a:pPr>
            <a:endParaRPr lang="en-US" sz="3200" b="1" dirty="0">
              <a:ea typeface="+mn-ea"/>
              <a:cs typeface="+mn-cs"/>
            </a:endParaRPr>
          </a:p>
          <a:p>
            <a:pPr algn="ctr" eaLnBrk="1" hangingPunct="1">
              <a:buFont typeface="Wingdings" charset="0"/>
              <a:buNone/>
              <a:defRPr/>
            </a:pPr>
            <a:r>
              <a:rPr lang="en-US" sz="3600" dirty="0"/>
              <a:t>The Relational Data Model and Relational Database Constraints</a:t>
            </a:r>
          </a:p>
        </p:txBody>
      </p:sp>
    </p:spTree>
    <p:extLst>
      <p:ext uri="{BB962C8B-B14F-4D97-AF65-F5344CB8AC3E}">
        <p14:creationId xmlns:p14="http://schemas.microsoft.com/office/powerpoint/2010/main" val="83005024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4"/>
          <p:cNvSpPr>
            <a:spLocks noGrp="1" noChangeArrowheads="1"/>
          </p:cNvSpPr>
          <p:nvPr>
            <p:ph type="title"/>
          </p:nvPr>
        </p:nvSpPr>
        <p:spPr>
          <a:xfrm>
            <a:off x="1295401" y="1124175"/>
            <a:ext cx="9601196" cy="1303867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Relational Model Concepts</a:t>
            </a:r>
          </a:p>
        </p:txBody>
      </p:sp>
      <p:sp>
        <p:nvSpPr>
          <p:cNvPr id="922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295401" y="2556931"/>
            <a:ext cx="9601196" cy="3755092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ea typeface="ＭＳ Ｐゴシック" panose="020B0600070205080204" pitchFamily="34" charset="-128"/>
              </a:rPr>
              <a:t>The relational Model of Data is based on the concept of a </a:t>
            </a:r>
            <a:r>
              <a:rPr lang="en-US" altLang="en-US" i="1" dirty="0">
                <a:ea typeface="ＭＳ Ｐゴシック" panose="020B0600070205080204" pitchFamily="34" charset="-128"/>
              </a:rPr>
              <a:t>Relation</a:t>
            </a:r>
          </a:p>
          <a:p>
            <a:pPr lvl="1" algn="just"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The strength of the relational approach to data management comes from the formal foundation provided by the theory of relations</a:t>
            </a:r>
          </a:p>
          <a:p>
            <a:pPr algn="just" eaLnBrk="1" hangingPunct="1"/>
            <a:r>
              <a:rPr lang="en-US" altLang="en-US" dirty="0">
                <a:ea typeface="ＭＳ Ｐゴシック" panose="020B0600070205080204" pitchFamily="34" charset="-128"/>
              </a:rPr>
              <a:t>We review the essentials of the </a:t>
            </a:r>
            <a:r>
              <a:rPr lang="en-US" altLang="en-US" i="1" dirty="0">
                <a:ea typeface="ＭＳ Ｐゴシック" panose="020B0600070205080204" pitchFamily="34" charset="-128"/>
              </a:rPr>
              <a:t>formal relational model</a:t>
            </a:r>
            <a:r>
              <a:rPr lang="en-US" altLang="en-US" dirty="0">
                <a:ea typeface="ＭＳ Ｐゴシック" panose="020B0600070205080204" pitchFamily="34" charset="-128"/>
              </a:rPr>
              <a:t> in this chapter</a:t>
            </a:r>
          </a:p>
          <a:p>
            <a:pPr algn="just" eaLnBrk="1" hangingPunct="1"/>
            <a:r>
              <a:rPr lang="en-US" altLang="en-US" dirty="0">
                <a:ea typeface="ＭＳ Ｐゴシック" panose="020B0600070205080204" pitchFamily="34" charset="-128"/>
              </a:rPr>
              <a:t>In </a:t>
            </a:r>
            <a:r>
              <a:rPr lang="en-US" altLang="en-US" i="1" dirty="0">
                <a:ea typeface="ＭＳ Ｐゴシック" panose="020B0600070205080204" pitchFamily="34" charset="-128"/>
              </a:rPr>
              <a:t>practice</a:t>
            </a:r>
            <a:r>
              <a:rPr lang="en-US" altLang="en-US" dirty="0">
                <a:ea typeface="ＭＳ Ｐゴシック" panose="020B0600070205080204" pitchFamily="34" charset="-128"/>
              </a:rPr>
              <a:t>, there is a </a:t>
            </a:r>
            <a:r>
              <a:rPr lang="en-US" altLang="en-US" i="1" dirty="0">
                <a:ea typeface="ＭＳ Ｐゴシック" panose="020B0600070205080204" pitchFamily="34" charset="-128"/>
              </a:rPr>
              <a:t>standard model</a:t>
            </a:r>
            <a:r>
              <a:rPr lang="en-US" altLang="en-US" dirty="0">
                <a:ea typeface="ＭＳ Ｐゴシック" panose="020B0600070205080204" pitchFamily="34" charset="-128"/>
              </a:rPr>
              <a:t> based on SQL – this is described in Chapters 6 and 7 as a language</a:t>
            </a:r>
          </a:p>
          <a:p>
            <a:pPr algn="just" eaLnBrk="1" hangingPunct="1"/>
            <a:r>
              <a:rPr lang="en-US" altLang="en-US" u="sng" dirty="0">
                <a:ea typeface="ＭＳ Ｐゴシック" panose="020B0600070205080204" pitchFamily="34" charset="-128"/>
              </a:rPr>
              <a:t>Note:</a:t>
            </a:r>
            <a:r>
              <a:rPr lang="en-US" altLang="en-US" dirty="0">
                <a:ea typeface="ＭＳ Ｐゴシック" panose="020B0600070205080204" pitchFamily="34" charset="-128"/>
              </a:rPr>
              <a:t> There are several important differences between the </a:t>
            </a:r>
            <a:r>
              <a:rPr lang="en-US" altLang="en-US" i="1" dirty="0">
                <a:ea typeface="ＭＳ Ｐゴシック" panose="020B0600070205080204" pitchFamily="34" charset="-128"/>
              </a:rPr>
              <a:t>formal</a:t>
            </a:r>
            <a:r>
              <a:rPr lang="en-US" altLang="en-US" dirty="0">
                <a:ea typeface="ＭＳ Ｐゴシック" panose="020B0600070205080204" pitchFamily="34" charset="-128"/>
              </a:rPr>
              <a:t> model and the </a:t>
            </a:r>
            <a:r>
              <a:rPr lang="en-US" altLang="en-US" i="1" dirty="0">
                <a:ea typeface="ＭＳ Ｐゴシック" panose="020B0600070205080204" pitchFamily="34" charset="-128"/>
              </a:rPr>
              <a:t>practical</a:t>
            </a:r>
            <a:r>
              <a:rPr lang="en-US" altLang="en-US" dirty="0">
                <a:ea typeface="ＭＳ Ｐゴシック" panose="020B0600070205080204" pitchFamily="34" charset="-128"/>
              </a:rPr>
              <a:t> model, as we shall see</a:t>
            </a:r>
          </a:p>
          <a:p>
            <a:pPr algn="just" eaLnBrk="1" hangingPunct="1"/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382619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4"/>
          <p:cNvSpPr>
            <a:spLocks noGrp="1" noChangeArrowheads="1"/>
          </p:cNvSpPr>
          <p:nvPr>
            <p:ph type="title"/>
          </p:nvPr>
        </p:nvSpPr>
        <p:spPr>
          <a:xfrm>
            <a:off x="1295401" y="1124175"/>
            <a:ext cx="9601196" cy="1303867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Informal Definitions</a:t>
            </a:r>
          </a:p>
        </p:txBody>
      </p:sp>
      <p:sp>
        <p:nvSpPr>
          <p:cNvPr id="1331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300" dirty="0">
                <a:ea typeface="ＭＳ Ｐゴシック" panose="020B0600070205080204" pitchFamily="34" charset="-128"/>
              </a:rPr>
              <a:t>Informally, a </a:t>
            </a:r>
            <a:r>
              <a:rPr lang="en-US" altLang="en-US" sz="2300" b="1" dirty="0">
                <a:ea typeface="ＭＳ Ｐゴシック" panose="020B0600070205080204" pitchFamily="34" charset="-128"/>
              </a:rPr>
              <a:t>relation</a:t>
            </a:r>
            <a:r>
              <a:rPr lang="en-US" altLang="en-US" sz="2300" dirty="0">
                <a:ea typeface="ＭＳ Ｐゴシック" panose="020B0600070205080204" pitchFamily="34" charset="-128"/>
              </a:rPr>
              <a:t> looks like a </a:t>
            </a:r>
            <a:r>
              <a:rPr lang="en-US" altLang="en-US" sz="2300" b="1" dirty="0">
                <a:ea typeface="ＭＳ Ｐゴシック" panose="020B0600070205080204" pitchFamily="34" charset="-128"/>
              </a:rPr>
              <a:t>table</a:t>
            </a:r>
            <a:r>
              <a:rPr lang="en-US" altLang="en-US" sz="2300" dirty="0">
                <a:ea typeface="ＭＳ Ｐゴシック" panose="020B0600070205080204" pitchFamily="34" charset="-128"/>
              </a:rPr>
              <a:t> of values.</a:t>
            </a:r>
          </a:p>
          <a:p>
            <a:pPr eaLnBrk="1" hangingPunct="1">
              <a:lnSpc>
                <a:spcPct val="80000"/>
              </a:lnSpc>
            </a:pPr>
            <a:endParaRPr lang="en-US" altLang="en-US" sz="23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300" dirty="0">
                <a:ea typeface="ＭＳ Ｐゴシック" panose="020B0600070205080204" pitchFamily="34" charset="-128"/>
              </a:rPr>
              <a:t>A relation typically contains a </a:t>
            </a:r>
            <a:r>
              <a:rPr lang="en-US" altLang="en-US" sz="2300" b="1" dirty="0">
                <a:ea typeface="ＭＳ Ｐゴシック" panose="020B0600070205080204" pitchFamily="34" charset="-128"/>
              </a:rPr>
              <a:t>set of rows</a:t>
            </a:r>
            <a:r>
              <a:rPr lang="en-US" altLang="en-US" sz="2300" dirty="0">
                <a:ea typeface="ＭＳ Ｐゴシック" panose="020B0600070205080204" pitchFamily="34" charset="-128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endParaRPr lang="en-US" altLang="en-US" sz="23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300" dirty="0">
                <a:ea typeface="ＭＳ Ｐゴシック" panose="020B0600070205080204" pitchFamily="34" charset="-128"/>
              </a:rPr>
              <a:t>The data elements in each </a:t>
            </a:r>
            <a:r>
              <a:rPr lang="en-US" altLang="en-US" sz="2300" b="1" dirty="0">
                <a:ea typeface="ＭＳ Ｐゴシック" panose="020B0600070205080204" pitchFamily="34" charset="-128"/>
              </a:rPr>
              <a:t>row</a:t>
            </a:r>
            <a:r>
              <a:rPr lang="en-US" altLang="en-US" sz="2300" dirty="0">
                <a:ea typeface="ＭＳ Ｐゴシック" panose="020B0600070205080204" pitchFamily="34" charset="-128"/>
              </a:rPr>
              <a:t> represent certain facts </a:t>
            </a:r>
            <a:r>
              <a:rPr lang="en-US" altLang="en-US" sz="2300" dirty="0" smtClean="0">
                <a:ea typeface="ＭＳ Ｐゴシック" panose="020B0600070205080204" pitchFamily="34" charset="-128"/>
              </a:rPr>
              <a:t>that </a:t>
            </a:r>
            <a:r>
              <a:rPr lang="en-US" altLang="en-US" sz="2300" dirty="0">
                <a:ea typeface="ＭＳ Ｐゴシック" panose="020B0600070205080204" pitchFamily="34" charset="-128"/>
              </a:rPr>
              <a:t>correspond to a real-world </a:t>
            </a:r>
            <a:r>
              <a:rPr lang="en-US" altLang="en-US" sz="2300" b="1" dirty="0">
                <a:ea typeface="ＭＳ Ｐゴシック" panose="020B0600070205080204" pitchFamily="34" charset="-128"/>
              </a:rPr>
              <a:t>entity</a:t>
            </a:r>
            <a:r>
              <a:rPr lang="en-US" altLang="en-US" sz="2300" dirty="0">
                <a:ea typeface="ＭＳ Ｐゴシック" panose="020B0600070205080204" pitchFamily="34" charset="-128"/>
              </a:rPr>
              <a:t> or </a:t>
            </a:r>
            <a:r>
              <a:rPr lang="en-US" altLang="en-US" sz="2300" b="1" dirty="0">
                <a:ea typeface="ＭＳ Ｐゴシック" panose="020B0600070205080204" pitchFamily="34" charset="-128"/>
              </a:rPr>
              <a:t>relationship</a:t>
            </a:r>
            <a:endParaRPr lang="en-US" altLang="en-US" sz="2300" dirty="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2300" dirty="0">
                <a:ea typeface="ＭＳ Ｐゴシック" panose="020B0600070205080204" pitchFamily="34" charset="-128"/>
              </a:rPr>
              <a:t>In the formal model, rows are called </a:t>
            </a:r>
            <a:r>
              <a:rPr lang="en-US" altLang="en-US" sz="2100" b="1" dirty="0">
                <a:ea typeface="ＭＳ Ｐゴシック" panose="020B0600070205080204" pitchFamily="34" charset="-128"/>
              </a:rPr>
              <a:t>tuples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21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300" dirty="0">
                <a:ea typeface="ＭＳ Ｐゴシック" panose="020B0600070205080204" pitchFamily="34" charset="-128"/>
              </a:rPr>
              <a:t>Each </a:t>
            </a:r>
            <a:r>
              <a:rPr lang="en-US" altLang="en-US" sz="2300" b="1" dirty="0">
                <a:ea typeface="ＭＳ Ｐゴシック" panose="020B0600070205080204" pitchFamily="34" charset="-128"/>
              </a:rPr>
              <a:t>column</a:t>
            </a:r>
            <a:r>
              <a:rPr lang="en-US" altLang="en-US" sz="2300" dirty="0">
                <a:ea typeface="ＭＳ Ｐゴシック" panose="020B0600070205080204" pitchFamily="34" charset="-128"/>
              </a:rPr>
              <a:t> has a column header that gives an indication of the meaning of the data items in that column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>
                <a:ea typeface="ＭＳ Ｐゴシック" panose="020B0600070205080204" pitchFamily="34" charset="-128"/>
              </a:rPr>
              <a:t>In the formal model, the column header is called an </a:t>
            </a:r>
            <a:r>
              <a:rPr lang="en-US" altLang="en-US" sz="2100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sz="2100" b="1" dirty="0" smtClean="0">
                <a:ea typeface="ＭＳ Ｐゴシック" panose="020B0600070205080204" pitchFamily="34" charset="-128"/>
              </a:rPr>
              <a:t>attribute </a:t>
            </a:r>
            <a:r>
              <a:rPr lang="en-US" altLang="en-US" sz="2100" b="1" dirty="0">
                <a:ea typeface="ＭＳ Ｐゴシック" panose="020B0600070205080204" pitchFamily="34" charset="-128"/>
              </a:rPr>
              <a:t>name</a:t>
            </a:r>
            <a:r>
              <a:rPr lang="en-US" altLang="en-US" sz="2100" dirty="0">
                <a:ea typeface="ＭＳ Ｐゴシック" panose="020B0600070205080204" pitchFamily="34" charset="-128"/>
              </a:rPr>
              <a:t> (or just </a:t>
            </a:r>
            <a:r>
              <a:rPr lang="en-US" altLang="en-US" sz="2100" b="1" dirty="0">
                <a:ea typeface="ＭＳ Ｐゴシック" panose="020B0600070205080204" pitchFamily="34" charset="-128"/>
              </a:rPr>
              <a:t>attribute</a:t>
            </a:r>
            <a:r>
              <a:rPr lang="en-US" altLang="en-US" sz="2100" dirty="0">
                <a:ea typeface="ＭＳ Ｐゴシック" panose="020B0600070205080204" pitchFamily="34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8025170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Example of a Relation</a:t>
            </a:r>
          </a:p>
        </p:txBody>
      </p:sp>
      <p:sp>
        <p:nvSpPr>
          <p:cNvPr id="15364" name="Rectangle 5"/>
          <p:cNvSpPr>
            <a:spLocks noChangeArrowheads="1"/>
          </p:cNvSpPr>
          <p:nvPr/>
        </p:nvSpPr>
        <p:spPr bwMode="auto">
          <a:xfrm>
            <a:off x="10410825" y="61595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5365" name="Picture 6" descr="fig05_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295526"/>
            <a:ext cx="8489950" cy="307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17655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Informal Definitions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1" y="2556931"/>
            <a:ext cx="9601196" cy="3595293"/>
          </a:xfrm>
        </p:spPr>
        <p:txBody>
          <a:bodyPr>
            <a:normAutofit fontScale="92500" lnSpcReduction="20000"/>
          </a:bodyPr>
          <a:lstStyle/>
          <a:p>
            <a:pPr algn="just"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Key of a Relation:</a:t>
            </a:r>
          </a:p>
          <a:p>
            <a:pPr lvl="1" algn="just" eaLnBrk="1" hangingPunct="1"/>
            <a:r>
              <a:rPr lang="en-US" altLang="en-US" sz="2500" dirty="0">
                <a:ea typeface="ＭＳ Ｐゴシック" panose="020B0600070205080204" pitchFamily="34" charset="-128"/>
              </a:rPr>
              <a:t>Each row has a value of a data item (or set of items) that </a:t>
            </a:r>
            <a:r>
              <a:rPr lang="en-US" altLang="en-US" sz="2500" dirty="0" smtClean="0">
                <a:ea typeface="ＭＳ Ｐゴシック" panose="020B0600070205080204" pitchFamily="34" charset="-128"/>
              </a:rPr>
              <a:t>uniquely identifies </a:t>
            </a:r>
            <a:r>
              <a:rPr lang="en-US" altLang="en-US" sz="2500" dirty="0">
                <a:ea typeface="ＭＳ Ｐゴシック" panose="020B0600070205080204" pitchFamily="34" charset="-128"/>
              </a:rPr>
              <a:t>that row in the table</a:t>
            </a:r>
          </a:p>
          <a:p>
            <a:pPr lvl="2" algn="just" eaLnBrk="1" hangingPunct="1"/>
            <a:r>
              <a:rPr lang="en-US" altLang="en-US" sz="2300" dirty="0">
                <a:ea typeface="ＭＳ Ｐゴシック" panose="020B0600070205080204" pitchFamily="34" charset="-128"/>
              </a:rPr>
              <a:t>Called the </a:t>
            </a:r>
            <a:r>
              <a:rPr lang="en-US" altLang="en-US" sz="2300" i="1" dirty="0">
                <a:ea typeface="ＭＳ Ｐゴシック" panose="020B0600070205080204" pitchFamily="34" charset="-128"/>
              </a:rPr>
              <a:t>key</a:t>
            </a:r>
          </a:p>
          <a:p>
            <a:pPr lvl="1" algn="just" eaLnBrk="1" hangingPunct="1"/>
            <a:endParaRPr lang="en-US" altLang="en-US" sz="2500" dirty="0" smtClean="0">
              <a:ea typeface="ＭＳ Ｐゴシック" panose="020B0600070205080204" pitchFamily="34" charset="-128"/>
            </a:endParaRPr>
          </a:p>
          <a:p>
            <a:pPr lvl="1" algn="just" eaLnBrk="1" hangingPunct="1"/>
            <a:r>
              <a:rPr lang="en-US" altLang="en-US" sz="2500" dirty="0" smtClean="0">
                <a:ea typeface="ＭＳ Ｐゴシック" panose="020B0600070205080204" pitchFamily="34" charset="-128"/>
              </a:rPr>
              <a:t>In </a:t>
            </a:r>
            <a:r>
              <a:rPr lang="en-US" altLang="en-US" sz="2500" dirty="0">
                <a:ea typeface="ＭＳ Ｐゴシック" panose="020B0600070205080204" pitchFamily="34" charset="-128"/>
              </a:rPr>
              <a:t>the STUDENT table, SSN is the key</a:t>
            </a:r>
          </a:p>
          <a:p>
            <a:pPr lvl="1" algn="just" eaLnBrk="1" hangingPunct="1"/>
            <a:endParaRPr lang="en-US" altLang="en-US" sz="2500" dirty="0">
              <a:ea typeface="ＭＳ Ｐゴシック" panose="020B0600070205080204" pitchFamily="34" charset="-128"/>
            </a:endParaRPr>
          </a:p>
          <a:p>
            <a:pPr lvl="1" algn="just" eaLnBrk="1" hangingPunct="1"/>
            <a:r>
              <a:rPr lang="en-US" altLang="en-US" sz="2500" dirty="0">
                <a:ea typeface="ＭＳ Ｐゴシック" panose="020B0600070205080204" pitchFamily="34" charset="-128"/>
              </a:rPr>
              <a:t>Sometimes row-ids or sequential numbers are assigned as keys to identify the rows in a table</a:t>
            </a:r>
          </a:p>
          <a:p>
            <a:pPr lvl="2" algn="just" eaLnBrk="1" hangingPunct="1"/>
            <a:r>
              <a:rPr lang="en-US" altLang="en-US" sz="2300" dirty="0">
                <a:ea typeface="ＭＳ Ｐゴシック" panose="020B0600070205080204" pitchFamily="34" charset="-128"/>
              </a:rPr>
              <a:t>Called </a:t>
            </a:r>
            <a:r>
              <a:rPr lang="en-US" altLang="en-US" sz="2300" i="1" dirty="0">
                <a:ea typeface="ＭＳ Ｐゴシック" panose="020B0600070205080204" pitchFamily="34" charset="-128"/>
              </a:rPr>
              <a:t>artificial key</a:t>
            </a:r>
            <a:r>
              <a:rPr lang="en-US" altLang="en-US" sz="2300" dirty="0">
                <a:ea typeface="ＭＳ Ｐゴシック" panose="020B0600070205080204" pitchFamily="34" charset="-128"/>
              </a:rPr>
              <a:t> or </a:t>
            </a:r>
            <a:r>
              <a:rPr lang="en-US" altLang="en-US" sz="2300" i="1" dirty="0">
                <a:ea typeface="ＭＳ Ｐゴシック" panose="020B0600070205080204" pitchFamily="34" charset="-128"/>
              </a:rPr>
              <a:t>surrogate key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5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9943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Formal Definitions - Schema</a:t>
            </a:r>
          </a:p>
        </p:txBody>
      </p:sp>
      <p:sp>
        <p:nvSpPr>
          <p:cNvPr id="1946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295402" y="2370500"/>
            <a:ext cx="9601196" cy="3657437"/>
          </a:xfrm>
        </p:spPr>
        <p:txBody>
          <a:bodyPr>
            <a:normAutofit fontScale="92500" lnSpcReduction="10000"/>
          </a:bodyPr>
          <a:lstStyle/>
          <a:p>
            <a:pPr algn="just" eaLnBrk="1" hangingPunct="1"/>
            <a:r>
              <a:rPr lang="en-US" altLang="en-US" dirty="0">
                <a:ea typeface="ＭＳ Ｐゴシック" panose="020B0600070205080204" pitchFamily="34" charset="-128"/>
              </a:rPr>
              <a:t>The </a:t>
            </a:r>
            <a:r>
              <a:rPr lang="en-US" altLang="en-US" b="1" dirty="0">
                <a:ea typeface="ＭＳ Ｐゴシック" panose="020B0600070205080204" pitchFamily="34" charset="-128"/>
              </a:rPr>
              <a:t>Schema</a:t>
            </a:r>
            <a:r>
              <a:rPr lang="en-US" altLang="en-US" dirty="0">
                <a:ea typeface="ＭＳ Ｐゴシック" panose="020B0600070205080204" pitchFamily="34" charset="-128"/>
              </a:rPr>
              <a:t> (or description) of a Relation:</a:t>
            </a:r>
          </a:p>
          <a:p>
            <a:pPr lvl="2" algn="just"/>
            <a:r>
              <a:rPr lang="en-US" altLang="en-US" sz="2000" dirty="0">
                <a:ea typeface="ＭＳ Ｐゴシック" panose="020B0600070205080204" pitchFamily="34" charset="-128"/>
              </a:rPr>
              <a:t>Denoted by R(A1, A2, .....An)</a:t>
            </a:r>
          </a:p>
          <a:p>
            <a:pPr lvl="2" algn="just"/>
            <a:r>
              <a:rPr lang="en-US" altLang="en-US" sz="2000" dirty="0">
                <a:ea typeface="ＭＳ Ｐゴシック" panose="020B0600070205080204" pitchFamily="34" charset="-128"/>
              </a:rPr>
              <a:t>R is the </a:t>
            </a:r>
            <a:r>
              <a:rPr lang="en-US" altLang="en-US" sz="2000" b="1" dirty="0">
                <a:ea typeface="ＭＳ Ｐゴシック" panose="020B0600070205080204" pitchFamily="34" charset="-128"/>
              </a:rPr>
              <a:t>name</a:t>
            </a:r>
            <a:r>
              <a:rPr lang="en-US" altLang="en-US" sz="2000" dirty="0">
                <a:ea typeface="ＭＳ Ｐゴシック" panose="020B0600070205080204" pitchFamily="34" charset="-128"/>
              </a:rPr>
              <a:t> of the relation</a:t>
            </a:r>
          </a:p>
          <a:p>
            <a:pPr lvl="2" algn="just"/>
            <a:r>
              <a:rPr lang="en-US" altLang="en-US" sz="2000" dirty="0">
                <a:ea typeface="ＭＳ Ｐゴシック" panose="020B0600070205080204" pitchFamily="34" charset="-128"/>
              </a:rPr>
              <a:t>The </a:t>
            </a:r>
            <a:r>
              <a:rPr lang="en-US" altLang="en-US" sz="2000" b="1" dirty="0">
                <a:ea typeface="ＭＳ Ｐゴシック" panose="020B0600070205080204" pitchFamily="34" charset="-128"/>
              </a:rPr>
              <a:t>attributes</a:t>
            </a:r>
            <a:r>
              <a:rPr lang="en-US" altLang="en-US" sz="2000" dirty="0">
                <a:ea typeface="ＭＳ Ｐゴシック" panose="020B0600070205080204" pitchFamily="34" charset="-128"/>
              </a:rPr>
              <a:t> of the relation are A1, A2, ..., An</a:t>
            </a:r>
          </a:p>
          <a:p>
            <a:pPr algn="just" eaLnBrk="1" hangingPunct="1"/>
            <a:r>
              <a:rPr lang="en-US" altLang="en-US" dirty="0">
                <a:ea typeface="ＭＳ Ｐゴシック" panose="020B0600070205080204" pitchFamily="34" charset="-128"/>
              </a:rPr>
              <a:t>Example: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	CUSTOMER (</a:t>
            </a:r>
            <a:r>
              <a:rPr lang="en-US" altLang="en-US" dirty="0" err="1">
                <a:ea typeface="ＭＳ Ｐゴシック" panose="020B0600070205080204" pitchFamily="34" charset="-128"/>
              </a:rPr>
              <a:t>Cust</a:t>
            </a:r>
            <a:r>
              <a:rPr lang="en-US" altLang="en-US" dirty="0">
                <a:ea typeface="ＭＳ Ｐゴシック" panose="020B0600070205080204" pitchFamily="34" charset="-128"/>
              </a:rPr>
              <a:t>-id, </a:t>
            </a:r>
            <a:r>
              <a:rPr lang="en-US" altLang="en-US" dirty="0" err="1">
                <a:ea typeface="ＭＳ Ｐゴシック" panose="020B0600070205080204" pitchFamily="34" charset="-128"/>
              </a:rPr>
              <a:t>Cust</a:t>
            </a:r>
            <a:r>
              <a:rPr lang="en-US" altLang="en-US" dirty="0">
                <a:ea typeface="ＭＳ Ｐゴシック" panose="020B0600070205080204" pitchFamily="34" charset="-128"/>
              </a:rPr>
              <a:t>-name, Address, Phone#)</a:t>
            </a:r>
          </a:p>
          <a:p>
            <a:pPr lvl="2" algn="just"/>
            <a:r>
              <a:rPr lang="en-US" altLang="en-US" sz="2000" dirty="0">
                <a:ea typeface="ＭＳ Ｐゴシック" panose="020B0600070205080204" pitchFamily="34" charset="-128"/>
              </a:rPr>
              <a:t>CUSTOMER is the relation name</a:t>
            </a:r>
          </a:p>
          <a:p>
            <a:pPr lvl="2" algn="just"/>
            <a:r>
              <a:rPr lang="en-US" altLang="en-US" sz="2000" dirty="0">
                <a:ea typeface="ＭＳ Ｐゴシック" panose="020B0600070205080204" pitchFamily="34" charset="-128"/>
              </a:rPr>
              <a:t>Defined over the four attributes: 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Cust</a:t>
            </a:r>
            <a:r>
              <a:rPr lang="en-US" altLang="en-US" sz="2000" dirty="0">
                <a:ea typeface="ＭＳ Ｐゴシック" panose="020B0600070205080204" pitchFamily="34" charset="-128"/>
              </a:rPr>
              <a:t>-id, 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Cust</a:t>
            </a:r>
            <a:r>
              <a:rPr lang="en-US" altLang="en-US" sz="2000" dirty="0">
                <a:ea typeface="ＭＳ Ｐゴシック" panose="020B0600070205080204" pitchFamily="34" charset="-128"/>
              </a:rPr>
              <a:t>-name, Address, Phone#</a:t>
            </a:r>
          </a:p>
          <a:p>
            <a:pPr algn="just" eaLnBrk="1" hangingPunct="1"/>
            <a:r>
              <a:rPr lang="en-US" altLang="en-US" dirty="0">
                <a:ea typeface="ＭＳ Ｐゴシック" panose="020B0600070205080204" pitchFamily="34" charset="-128"/>
              </a:rPr>
              <a:t>Each attribute has a </a:t>
            </a:r>
            <a:r>
              <a:rPr lang="en-US" altLang="en-US" b="1" dirty="0">
                <a:ea typeface="ＭＳ Ｐゴシック" panose="020B0600070205080204" pitchFamily="34" charset="-128"/>
              </a:rPr>
              <a:t>domain</a:t>
            </a:r>
            <a:r>
              <a:rPr lang="en-US" altLang="en-US" dirty="0">
                <a:ea typeface="ＭＳ Ｐゴシック" panose="020B0600070205080204" pitchFamily="34" charset="-128"/>
              </a:rPr>
              <a:t> or a set of valid values. </a:t>
            </a:r>
          </a:p>
          <a:p>
            <a:pPr lvl="1" algn="just"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For example, the domain of </a:t>
            </a:r>
            <a:r>
              <a:rPr lang="en-US" altLang="en-US" sz="2200" dirty="0" err="1">
                <a:ea typeface="ＭＳ Ｐゴシック" panose="020B0600070205080204" pitchFamily="34" charset="-128"/>
              </a:rPr>
              <a:t>Cust</a:t>
            </a:r>
            <a:r>
              <a:rPr lang="en-US" altLang="en-US" sz="2200" dirty="0">
                <a:ea typeface="ＭＳ Ｐゴシック" panose="020B0600070205080204" pitchFamily="34" charset="-128"/>
              </a:rPr>
              <a:t>-id is 6 digit numbers.</a:t>
            </a:r>
          </a:p>
        </p:txBody>
      </p:sp>
    </p:spTree>
    <p:extLst>
      <p:ext uri="{BB962C8B-B14F-4D97-AF65-F5344CB8AC3E}">
        <p14:creationId xmlns:p14="http://schemas.microsoft.com/office/powerpoint/2010/main" val="245057988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Formal Definitions - Tuple</a:t>
            </a:r>
          </a:p>
        </p:txBody>
      </p:sp>
      <p:sp>
        <p:nvSpPr>
          <p:cNvPr id="2150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295401" y="2285999"/>
            <a:ext cx="9601196" cy="3589869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A </a:t>
            </a:r>
            <a:r>
              <a:rPr lang="en-US" altLang="en-US" b="1" dirty="0">
                <a:ea typeface="ＭＳ Ｐゴシック" panose="020B0600070205080204" pitchFamily="34" charset="-128"/>
              </a:rPr>
              <a:t>tuple</a:t>
            </a:r>
            <a:r>
              <a:rPr lang="en-US" altLang="en-US" dirty="0">
                <a:ea typeface="ＭＳ Ｐゴシック" panose="020B0600070205080204" pitchFamily="34" charset="-128"/>
              </a:rPr>
              <a:t> is an ordered set of values (enclosed in angled brackets ‘&lt; … &gt;’)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Each value is derived from an appropriate </a:t>
            </a:r>
            <a:r>
              <a:rPr lang="en-US" altLang="en-US" i="1" dirty="0">
                <a:ea typeface="ＭＳ Ｐゴシック" panose="020B0600070205080204" pitchFamily="34" charset="-128"/>
              </a:rPr>
              <a:t>domain</a:t>
            </a:r>
            <a:r>
              <a:rPr lang="en-US" altLang="en-US" dirty="0">
                <a:ea typeface="ＭＳ Ｐゴシック" panose="020B0600070205080204" pitchFamily="34" charset="-128"/>
              </a:rPr>
              <a:t>.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A row in the CUSTOMER relation is a 4-tuple and would consist of four values, for example:</a:t>
            </a:r>
          </a:p>
          <a:p>
            <a:pPr lvl="1"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&lt;632895, "John Smith", "101 Main St. Atlanta, GA  30332", "(404) 894-2000"&gt;</a:t>
            </a:r>
          </a:p>
          <a:p>
            <a:pPr lvl="1"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This is called a 4-tuple as it has 4 values</a:t>
            </a:r>
          </a:p>
          <a:p>
            <a:pPr lvl="1"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A tuple (row) in the CUSTOMER relation.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A relation is a </a:t>
            </a:r>
            <a:r>
              <a:rPr lang="en-US" altLang="en-US" b="1" dirty="0">
                <a:ea typeface="ＭＳ Ｐゴシック" panose="020B0600070205080204" pitchFamily="34" charset="-128"/>
              </a:rPr>
              <a:t>set </a:t>
            </a:r>
            <a:r>
              <a:rPr lang="en-US" altLang="en-US" dirty="0">
                <a:ea typeface="ＭＳ Ｐゴシック" panose="020B0600070205080204" pitchFamily="34" charset="-128"/>
              </a:rPr>
              <a:t>of such tuples (rows)</a:t>
            </a:r>
          </a:p>
        </p:txBody>
      </p:sp>
    </p:spTree>
    <p:extLst>
      <p:ext uri="{BB962C8B-B14F-4D97-AF65-F5344CB8AC3E}">
        <p14:creationId xmlns:p14="http://schemas.microsoft.com/office/powerpoint/2010/main" val="128994882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Formal Definitions - Domain</a:t>
            </a:r>
          </a:p>
        </p:txBody>
      </p:sp>
      <p:sp>
        <p:nvSpPr>
          <p:cNvPr id="2355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A </a:t>
            </a:r>
            <a:r>
              <a:rPr lang="en-US" altLang="en-US" sz="2000" b="1" dirty="0">
                <a:ea typeface="ＭＳ Ｐゴシック" panose="020B0600070205080204" pitchFamily="34" charset="-128"/>
              </a:rPr>
              <a:t>domain</a:t>
            </a:r>
            <a:r>
              <a:rPr lang="en-US" altLang="en-US" sz="2000" dirty="0">
                <a:ea typeface="ＭＳ Ｐゴシック" panose="020B0600070205080204" pitchFamily="34" charset="-128"/>
              </a:rPr>
              <a:t> has a logical definition: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900" dirty="0">
                <a:ea typeface="ＭＳ Ｐゴシック" panose="020B0600070205080204" pitchFamily="34" charset="-128"/>
              </a:rPr>
              <a:t>Example: “</a:t>
            </a:r>
            <a:r>
              <a:rPr lang="en-US" altLang="en-US" sz="1900" dirty="0" err="1">
                <a:ea typeface="ＭＳ Ｐゴシック" panose="020B0600070205080204" pitchFamily="34" charset="-128"/>
              </a:rPr>
              <a:t>USA_phone_numbers</a:t>
            </a:r>
            <a:r>
              <a:rPr lang="en-US" altLang="en-US" sz="1900" dirty="0">
                <a:ea typeface="ＭＳ Ｐゴシック" panose="020B0600070205080204" pitchFamily="34" charset="-128"/>
              </a:rPr>
              <a:t>” are the set of 10 digit phone numbers valid in the U.S.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 smtClean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 smtClean="0">
                <a:ea typeface="ＭＳ Ｐゴシック" panose="020B0600070205080204" pitchFamily="34" charset="-128"/>
              </a:rPr>
              <a:t>A </a:t>
            </a:r>
            <a:r>
              <a:rPr lang="en-US" altLang="en-US" sz="2000" dirty="0">
                <a:ea typeface="ＭＳ Ｐゴシック" panose="020B0600070205080204" pitchFamily="34" charset="-128"/>
              </a:rPr>
              <a:t>domain also has a data-type or a format defined for it.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900" dirty="0">
                <a:ea typeface="ＭＳ Ｐゴシック" panose="020B0600070205080204" pitchFamily="34" charset="-128"/>
              </a:rPr>
              <a:t>The </a:t>
            </a:r>
            <a:r>
              <a:rPr lang="en-US" altLang="en-US" sz="1900" dirty="0" err="1">
                <a:ea typeface="ＭＳ Ｐゴシック" panose="020B0600070205080204" pitchFamily="34" charset="-128"/>
              </a:rPr>
              <a:t>USA_phone_numbers</a:t>
            </a:r>
            <a:r>
              <a:rPr lang="en-US" altLang="en-US" sz="1900" dirty="0">
                <a:ea typeface="ＭＳ Ｐゴシック" panose="020B0600070205080204" pitchFamily="34" charset="-128"/>
              </a:rPr>
              <a:t> may have a format: (</a:t>
            </a:r>
            <a:r>
              <a:rPr lang="en-US" altLang="en-US" sz="1900" dirty="0" err="1">
                <a:ea typeface="ＭＳ Ｐゴシック" panose="020B0600070205080204" pitchFamily="34" charset="-128"/>
              </a:rPr>
              <a:t>ddd</a:t>
            </a:r>
            <a:r>
              <a:rPr lang="en-US" altLang="en-US" sz="1900" dirty="0">
                <a:ea typeface="ＭＳ Ｐゴシック" panose="020B0600070205080204" pitchFamily="34" charset="-128"/>
              </a:rPr>
              <a:t>)</a:t>
            </a:r>
            <a:r>
              <a:rPr lang="en-US" altLang="en-US" sz="1900" dirty="0" err="1">
                <a:ea typeface="ＭＳ Ｐゴシック" panose="020B0600070205080204" pitchFamily="34" charset="-128"/>
              </a:rPr>
              <a:t>ddd-dddd</a:t>
            </a:r>
            <a:r>
              <a:rPr lang="en-US" altLang="en-US" sz="1900" dirty="0">
                <a:ea typeface="ＭＳ Ｐゴシック" panose="020B0600070205080204" pitchFamily="34" charset="-128"/>
              </a:rPr>
              <a:t> where each d is a decimal digit.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Dates have various formats such as year, month, date formatted as </a:t>
            </a:r>
            <a:r>
              <a:rPr lang="en-US" altLang="en-US" dirty="0" err="1">
                <a:ea typeface="ＭＳ Ｐゴシック" panose="020B0600070205080204" pitchFamily="34" charset="-128"/>
              </a:rPr>
              <a:t>yyyy</a:t>
            </a:r>
            <a:r>
              <a:rPr lang="en-US" altLang="en-US" dirty="0">
                <a:ea typeface="ＭＳ Ｐゴシック" panose="020B0600070205080204" pitchFamily="34" charset="-128"/>
              </a:rPr>
              <a:t>-mm-</a:t>
            </a:r>
            <a:r>
              <a:rPr lang="en-US" altLang="en-US" dirty="0" err="1">
                <a:ea typeface="ＭＳ Ｐゴシック" panose="020B0600070205080204" pitchFamily="34" charset="-128"/>
              </a:rPr>
              <a:t>dd</a:t>
            </a:r>
            <a:r>
              <a:rPr lang="en-US" altLang="en-US" dirty="0">
                <a:ea typeface="ＭＳ Ｐゴシック" panose="020B0600070205080204" pitchFamily="34" charset="-128"/>
              </a:rPr>
              <a:t>, or as </a:t>
            </a:r>
            <a:r>
              <a:rPr lang="en-US" altLang="en-US" dirty="0" err="1">
                <a:ea typeface="ＭＳ Ｐゴシック" panose="020B0600070205080204" pitchFamily="34" charset="-128"/>
              </a:rPr>
              <a:t>dd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dirty="0" err="1">
                <a:ea typeface="ＭＳ Ｐゴシック" panose="020B0600070205080204" pitchFamily="34" charset="-128"/>
              </a:rPr>
              <a:t>mm,yyyy</a:t>
            </a:r>
            <a:r>
              <a:rPr lang="en-US" altLang="en-US" dirty="0">
                <a:ea typeface="ＭＳ Ｐゴシック" panose="020B0600070205080204" pitchFamily="34" charset="-128"/>
              </a:rPr>
              <a:t> etc.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The attribute name designates the role played by a domain in a relation: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Used to interpret the meaning of the data elements corresponding to that attribute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900" dirty="0">
                <a:ea typeface="ＭＳ Ｐゴシック" panose="020B0600070205080204" pitchFamily="34" charset="-128"/>
              </a:rPr>
              <a:t>Example: The domain Date may be used to define two attributes named “Invoice-date” and “Payment-date” with different meanings</a:t>
            </a:r>
          </a:p>
        </p:txBody>
      </p:sp>
    </p:spTree>
    <p:extLst>
      <p:ext uri="{BB962C8B-B14F-4D97-AF65-F5344CB8AC3E}">
        <p14:creationId xmlns:p14="http://schemas.microsoft.com/office/powerpoint/2010/main" val="10749876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Formal Definitions - State</a:t>
            </a:r>
          </a:p>
        </p:txBody>
      </p:sp>
      <p:sp>
        <p:nvSpPr>
          <p:cNvPr id="2560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ea typeface="ＭＳ Ｐゴシック" panose="020B0600070205080204" pitchFamily="34" charset="-128"/>
              </a:rPr>
              <a:t>The </a:t>
            </a:r>
            <a:r>
              <a:rPr lang="en-US" altLang="en-US" b="1" smtClean="0">
                <a:ea typeface="ＭＳ Ｐゴシック" panose="020B0600070205080204" pitchFamily="34" charset="-128"/>
              </a:rPr>
              <a:t>relation state</a:t>
            </a:r>
            <a:r>
              <a:rPr lang="en-US" altLang="en-US" smtClean="0">
                <a:ea typeface="ＭＳ Ｐゴシック" panose="020B0600070205080204" pitchFamily="34" charset="-128"/>
              </a:rPr>
              <a:t> is a subset of the Cartesian product of the domains of its attributes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>
                <a:ea typeface="ＭＳ Ｐゴシック" panose="020B0600070205080204" pitchFamily="34" charset="-128"/>
              </a:rPr>
              <a:t>each domain contains the set of all possible values the attribute can take.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ea typeface="ＭＳ Ｐゴシック" panose="020B0600070205080204" pitchFamily="34" charset="-128"/>
              </a:rPr>
              <a:t>Example: attribute Cust-name is defined over the domain of character strings of maximum length 25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>
                <a:ea typeface="ＭＳ Ｐゴシック" panose="020B0600070205080204" pitchFamily="34" charset="-128"/>
              </a:rPr>
              <a:t>dom(Cust-name) is varchar(25)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ea typeface="ＭＳ Ｐゴシック" panose="020B0600070205080204" pitchFamily="34" charset="-128"/>
              </a:rPr>
              <a:t>The role these strings play in the CUSTOMER relation is that of the </a:t>
            </a:r>
            <a:r>
              <a:rPr lang="en-US" altLang="en-US" i="1" smtClean="0">
                <a:ea typeface="ＭＳ Ｐゴシック" panose="020B0600070205080204" pitchFamily="34" charset="-128"/>
              </a:rPr>
              <a:t>name of a customer</a:t>
            </a:r>
            <a:r>
              <a:rPr lang="en-US" altLang="en-US" smtClean="0">
                <a:ea typeface="ＭＳ Ｐゴシック" panose="020B0600070205080204" pitchFamily="34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878655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Formal Definitions - Summary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Formally,</a:t>
            </a:r>
          </a:p>
          <a:p>
            <a:pPr lvl="1" eaLnBrk="1" hangingPunct="1"/>
            <a:r>
              <a:rPr lang="en-US" altLang="en-US" sz="2200">
                <a:ea typeface="ＭＳ Ｐゴシック" panose="020B0600070205080204" pitchFamily="34" charset="-128"/>
              </a:rPr>
              <a:t>Given R(A1, A2, .........., An)</a:t>
            </a:r>
          </a:p>
          <a:p>
            <a:pPr lvl="1" eaLnBrk="1" hangingPunct="1"/>
            <a:r>
              <a:rPr lang="en-US" altLang="en-US" sz="2200">
                <a:ea typeface="ＭＳ Ｐゴシック" panose="020B0600070205080204" pitchFamily="34" charset="-128"/>
              </a:rPr>
              <a:t> 	r(R) </a:t>
            </a:r>
            <a:r>
              <a:rPr lang="en-US" altLang="en-US" sz="2200">
                <a:ea typeface="ＭＳ Ｐゴシック" panose="020B0600070205080204" pitchFamily="34" charset="-128"/>
                <a:sym typeface="Symbol" panose="05050102010706020507" pitchFamily="18" charset="2"/>
              </a:rPr>
              <a:t></a:t>
            </a:r>
            <a:r>
              <a:rPr lang="en-US" altLang="en-US" sz="2200">
                <a:ea typeface="ＭＳ Ｐゴシック" panose="020B0600070205080204" pitchFamily="34" charset="-128"/>
              </a:rPr>
              <a:t> dom (A1) X dom (A2) X ....X dom(An)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R(A1, A2, …, An) is the </a:t>
            </a:r>
            <a:r>
              <a:rPr lang="en-US" altLang="en-US" b="1">
                <a:ea typeface="ＭＳ Ｐゴシック" panose="020B0600070205080204" pitchFamily="34" charset="-128"/>
              </a:rPr>
              <a:t>schema</a:t>
            </a:r>
            <a:r>
              <a:rPr lang="en-US" altLang="en-US">
                <a:ea typeface="ＭＳ Ｐゴシック" panose="020B0600070205080204" pitchFamily="34" charset="-128"/>
              </a:rPr>
              <a:t> of the relation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 is the </a:t>
            </a:r>
            <a:r>
              <a:rPr lang="en-US" altLang="en-US" b="1">
                <a:ea typeface="ＭＳ Ｐゴシック" panose="020B0600070205080204" pitchFamily="34" charset="-128"/>
              </a:rPr>
              <a:t>name</a:t>
            </a:r>
            <a:r>
              <a:rPr lang="en-US" altLang="en-US">
                <a:ea typeface="ＭＳ Ｐゴシック" panose="020B0600070205080204" pitchFamily="34" charset="-128"/>
              </a:rPr>
              <a:t> of the relation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A1, A2, …, An are the </a:t>
            </a:r>
            <a:r>
              <a:rPr lang="en-US" altLang="en-US" b="1">
                <a:ea typeface="ＭＳ Ｐゴシック" panose="020B0600070205080204" pitchFamily="34" charset="-128"/>
              </a:rPr>
              <a:t>attributes</a:t>
            </a:r>
            <a:r>
              <a:rPr lang="en-US" altLang="en-US">
                <a:ea typeface="ＭＳ Ｐゴシック" panose="020B0600070205080204" pitchFamily="34" charset="-128"/>
              </a:rPr>
              <a:t> of the relation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r(R):  a specific </a:t>
            </a:r>
            <a:r>
              <a:rPr lang="en-US" altLang="en-US" b="1">
                <a:ea typeface="ＭＳ Ｐゴシック" panose="020B0600070205080204" pitchFamily="34" charset="-128"/>
              </a:rPr>
              <a:t>state</a:t>
            </a:r>
            <a:r>
              <a:rPr lang="en-US" altLang="en-US">
                <a:ea typeface="ＭＳ Ｐゴシック" panose="020B0600070205080204" pitchFamily="34" charset="-128"/>
              </a:rPr>
              <a:t> (or "value" or “population”) of relation R – this is a </a:t>
            </a:r>
            <a:r>
              <a:rPr lang="en-US" altLang="en-US" i="1">
                <a:ea typeface="ＭＳ Ｐゴシック" panose="020B0600070205080204" pitchFamily="34" charset="-128"/>
              </a:rPr>
              <a:t>set of tuples</a:t>
            </a:r>
            <a:r>
              <a:rPr lang="en-US" altLang="en-US">
                <a:ea typeface="ＭＳ Ｐゴシック" panose="020B0600070205080204" pitchFamily="34" charset="-128"/>
              </a:rPr>
              <a:t> (rows)</a:t>
            </a:r>
          </a:p>
          <a:p>
            <a:pPr lvl="1" eaLnBrk="1" hangingPunct="1"/>
            <a:r>
              <a:rPr lang="en-US" altLang="en-US" sz="2200">
                <a:ea typeface="ＭＳ Ｐゴシック" panose="020B0600070205080204" pitchFamily="34" charset="-128"/>
              </a:rPr>
              <a:t>r(R) = {t1, t2, …, tn} where each ti is an n-tuple</a:t>
            </a:r>
          </a:p>
          <a:p>
            <a:pPr lvl="1" eaLnBrk="1" hangingPunct="1"/>
            <a:r>
              <a:rPr lang="en-US" altLang="en-US" sz="2200">
                <a:ea typeface="ＭＳ Ｐゴシック" panose="020B0600070205080204" pitchFamily="34" charset="-128"/>
              </a:rPr>
              <a:t>ti = &lt;v1, v2, …, vn&gt; where each vj </a:t>
            </a:r>
            <a:r>
              <a:rPr lang="en-US" altLang="en-US" sz="2200" i="1">
                <a:ea typeface="ＭＳ Ｐゴシック" panose="020B0600070205080204" pitchFamily="34" charset="-128"/>
              </a:rPr>
              <a:t>element-of</a:t>
            </a:r>
            <a:r>
              <a:rPr lang="en-US" altLang="en-US" sz="2200">
                <a:ea typeface="ＭＳ Ｐゴシック" panose="020B0600070205080204" pitchFamily="34" charset="-128"/>
              </a:rPr>
              <a:t> dom(Aj)</a:t>
            </a:r>
          </a:p>
        </p:txBody>
      </p:sp>
    </p:spTree>
    <p:extLst>
      <p:ext uri="{BB962C8B-B14F-4D97-AF65-F5344CB8AC3E}">
        <p14:creationId xmlns:p14="http://schemas.microsoft.com/office/powerpoint/2010/main" val="415506395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Formal Definitions - Example</a:t>
            </a:r>
          </a:p>
        </p:txBody>
      </p:sp>
      <p:sp>
        <p:nvSpPr>
          <p:cNvPr id="2970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295401" y="2556931"/>
            <a:ext cx="9601196" cy="3488761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Let R(A1, A2) be a relation schema:</a:t>
            </a:r>
          </a:p>
          <a:p>
            <a:pPr lvl="1"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Let </a:t>
            </a:r>
            <a:r>
              <a:rPr lang="en-US" altLang="en-US" sz="2200" dirty="0" err="1">
                <a:ea typeface="ＭＳ Ｐゴシック" panose="020B0600070205080204" pitchFamily="34" charset="-128"/>
              </a:rPr>
              <a:t>dom</a:t>
            </a:r>
            <a:r>
              <a:rPr lang="en-US" altLang="en-US" sz="2200" dirty="0">
                <a:ea typeface="ＭＳ Ｐゴシック" panose="020B0600070205080204" pitchFamily="34" charset="-128"/>
              </a:rPr>
              <a:t>(A1) = {0,1}</a:t>
            </a:r>
          </a:p>
          <a:p>
            <a:pPr lvl="1"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Let  </a:t>
            </a:r>
            <a:r>
              <a:rPr lang="en-US" altLang="en-US" sz="2200" dirty="0" err="1">
                <a:ea typeface="ＭＳ Ｐゴシック" panose="020B0600070205080204" pitchFamily="34" charset="-128"/>
              </a:rPr>
              <a:t>dom</a:t>
            </a:r>
            <a:r>
              <a:rPr lang="en-US" altLang="en-US" sz="2200" dirty="0">
                <a:ea typeface="ＭＳ Ｐゴシック" panose="020B0600070205080204" pitchFamily="34" charset="-128"/>
              </a:rPr>
              <a:t>(A2) =  {</a:t>
            </a:r>
            <a:r>
              <a:rPr lang="en-US" altLang="en-US" sz="2200" dirty="0" err="1">
                <a:ea typeface="ＭＳ Ｐゴシック" panose="020B0600070205080204" pitchFamily="34" charset="-128"/>
              </a:rPr>
              <a:t>a,b,c</a:t>
            </a:r>
            <a:r>
              <a:rPr lang="en-US" altLang="en-US" sz="2200" dirty="0">
                <a:ea typeface="ＭＳ Ｐゴシック" panose="020B0600070205080204" pitchFamily="34" charset="-128"/>
              </a:rPr>
              <a:t>}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Then: </a:t>
            </a:r>
            <a:r>
              <a:rPr lang="en-US" altLang="en-US" dirty="0" err="1">
                <a:ea typeface="ＭＳ Ｐゴシック" panose="020B0600070205080204" pitchFamily="34" charset="-128"/>
              </a:rPr>
              <a:t>dom</a:t>
            </a:r>
            <a:r>
              <a:rPr lang="en-US" altLang="en-US" dirty="0">
                <a:ea typeface="ＭＳ Ｐゴシック" panose="020B0600070205080204" pitchFamily="34" charset="-128"/>
              </a:rPr>
              <a:t>(A1) X </a:t>
            </a:r>
            <a:r>
              <a:rPr lang="en-US" altLang="en-US" dirty="0" err="1">
                <a:ea typeface="ＭＳ Ｐゴシック" panose="020B0600070205080204" pitchFamily="34" charset="-128"/>
              </a:rPr>
              <a:t>dom</a:t>
            </a:r>
            <a:r>
              <a:rPr lang="en-US" altLang="en-US" dirty="0">
                <a:ea typeface="ＭＳ Ｐゴシック" panose="020B0600070205080204" pitchFamily="34" charset="-128"/>
              </a:rPr>
              <a:t>(A2) is all possible combinations: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 dirty="0">
                <a:ea typeface="ＭＳ Ｐゴシック" panose="020B0600070205080204" pitchFamily="34" charset="-128"/>
              </a:rPr>
              <a:t>{&lt;0,a&gt; , &lt;0,b&gt; , &lt;0,c&gt;, &lt;1,a&gt;, &lt;1,b&gt;, &lt;1,c&gt; }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2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The relation state r(R) </a:t>
            </a: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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dirty="0" err="1">
                <a:ea typeface="ＭＳ Ｐゴシック" panose="020B0600070205080204" pitchFamily="34" charset="-128"/>
              </a:rPr>
              <a:t>dom</a:t>
            </a:r>
            <a:r>
              <a:rPr lang="en-US" altLang="en-US" dirty="0">
                <a:ea typeface="ＭＳ Ｐゴシック" panose="020B0600070205080204" pitchFamily="34" charset="-128"/>
              </a:rPr>
              <a:t>(A1) X </a:t>
            </a:r>
            <a:r>
              <a:rPr lang="en-US" altLang="en-US" dirty="0" err="1">
                <a:ea typeface="ＭＳ Ｐゴシック" panose="020B0600070205080204" pitchFamily="34" charset="-128"/>
              </a:rPr>
              <a:t>dom</a:t>
            </a:r>
            <a:r>
              <a:rPr lang="en-US" altLang="en-US" dirty="0">
                <a:ea typeface="ＭＳ Ｐゴシック" panose="020B0600070205080204" pitchFamily="34" charset="-128"/>
              </a:rPr>
              <a:t>(A2)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For example: r(R) could be {&lt;0,a&gt; , &lt;0,b&gt; , &lt;1,c&gt; }</a:t>
            </a:r>
          </a:p>
          <a:p>
            <a:pPr lvl="1"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this is one possible state (or “population” or “extension”) r of the relation R, defined over A1 and A2.</a:t>
            </a:r>
          </a:p>
          <a:p>
            <a:pPr lvl="1"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It has three 2-tuples: &lt;0,a&gt; , &lt;0,b&gt; , &lt;1,c&gt; </a:t>
            </a:r>
          </a:p>
        </p:txBody>
      </p:sp>
    </p:spTree>
    <p:extLst>
      <p:ext uri="{BB962C8B-B14F-4D97-AF65-F5344CB8AC3E}">
        <p14:creationId xmlns:p14="http://schemas.microsoft.com/office/powerpoint/2010/main" val="28777059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42"/>
          <p:cNvSpPr>
            <a:spLocks noGrp="1" noChangeArrowheads="1"/>
          </p:cNvSpPr>
          <p:nvPr>
            <p:ph type="title"/>
          </p:nvPr>
        </p:nvSpPr>
        <p:spPr>
          <a:xfrm>
            <a:off x="1406373" y="680292"/>
            <a:ext cx="9601196" cy="1303867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Definition Summary</a:t>
            </a:r>
          </a:p>
        </p:txBody>
      </p:sp>
      <p:graphicFrame>
        <p:nvGraphicFramePr>
          <p:cNvPr id="686130" name="Group 50">
            <a:extLst>
              <a:ext uri="{FF2B5EF4-FFF2-40B4-BE49-F238E27FC236}">
                <a16:creationId xmlns:a16="http://schemas.microsoft.com/office/drawing/2014/main" id="{835AF24A-9E44-4963-9E62-CF0CB24337F9}"/>
              </a:ext>
            </a:extLst>
          </p:cNvPr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246515921"/>
              </p:ext>
            </p:extLst>
          </p:nvPr>
        </p:nvGraphicFramePr>
        <p:xfrm>
          <a:off x="2331868" y="1856704"/>
          <a:ext cx="7750205" cy="4166825"/>
        </p:xfrm>
        <a:graphic>
          <a:graphicData uri="http://schemas.openxmlformats.org/drawingml/2006/table">
            <a:tbl>
              <a:tblPr/>
              <a:tblGrid>
                <a:gridCol w="3310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6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" charset="0"/>
                        </a:rPr>
                        <a:t>Informal Terms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" charset="0"/>
                        </a:rPr>
                        <a:t>Formal Terms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6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cs typeface="Times New Roman" pitchFamily="1" charset="0"/>
                        </a:rPr>
                        <a:t>Table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cs typeface="Times New Roman" pitchFamily="1" charset="0"/>
                        </a:rPr>
                        <a:t>Relation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rPr>
                        <a:t> 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6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rPr>
                        <a:t>Column Header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rPr>
                        <a:t>Attribute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20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rPr>
                        <a:t>All possible Column Values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rPr>
                        <a:t>Domain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6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rPr>
                        <a:t>Row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rPr>
                        <a:t>Tuple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6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6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rPr>
                        <a:t>Table Definition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rPr>
                        <a:t>Schema of a Relation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6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rPr>
                        <a:t>Populated Table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rPr>
                        <a:t>State of the Relation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33458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7"/>
          <p:cNvSpPr>
            <a:spLocks noGrp="1" noChangeArrowheads="1"/>
          </p:cNvSpPr>
          <p:nvPr>
            <p:ph type="title"/>
          </p:nvPr>
        </p:nvSpPr>
        <p:spPr>
          <a:xfrm>
            <a:off x="1508466" y="999887"/>
            <a:ext cx="9601196" cy="1303867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Example – A relation STUDENT</a:t>
            </a:r>
          </a:p>
        </p:txBody>
      </p:sp>
      <p:sp>
        <p:nvSpPr>
          <p:cNvPr id="33796" name="Rectangle 5"/>
          <p:cNvSpPr>
            <a:spLocks noChangeArrowheads="1"/>
          </p:cNvSpPr>
          <p:nvPr/>
        </p:nvSpPr>
        <p:spPr bwMode="auto">
          <a:xfrm>
            <a:off x="10410825" y="61595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3797" name="Picture 8" descr="fig05_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667" y="2503411"/>
            <a:ext cx="8589963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335945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4"/>
          <p:cNvSpPr>
            <a:spLocks noGrp="1" noChangeArrowheads="1"/>
          </p:cNvSpPr>
          <p:nvPr>
            <p:ph type="title"/>
          </p:nvPr>
        </p:nvSpPr>
        <p:spPr>
          <a:xfrm>
            <a:off x="1295401" y="1097542"/>
            <a:ext cx="9601196" cy="1303867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Characteristics Of Relations</a:t>
            </a:r>
          </a:p>
        </p:txBody>
      </p:sp>
      <p:sp>
        <p:nvSpPr>
          <p:cNvPr id="3584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Ordering of tuples in a relation r(R):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The tuples are </a:t>
            </a:r>
            <a:r>
              <a:rPr lang="en-US" altLang="en-US" sz="2400" i="1" dirty="0">
                <a:ea typeface="ＭＳ Ｐゴシック" panose="020B0600070205080204" pitchFamily="34" charset="-128"/>
              </a:rPr>
              <a:t>not considered to be ordered</a:t>
            </a:r>
            <a:r>
              <a:rPr lang="en-US" altLang="en-US" sz="2400" dirty="0">
                <a:ea typeface="ＭＳ Ｐゴシック" panose="020B0600070205080204" pitchFamily="34" charset="-128"/>
              </a:rPr>
              <a:t>, even though they appear to be in the tabular form.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Ordering of attributes in a relation schema R (and of values within each tuple):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We will consider the attributes in R(A1, A2, ..., An) and the values in t=&lt;v1, v2, ..., </a:t>
            </a:r>
            <a:r>
              <a:rPr lang="en-US" altLang="en-US" sz="2400" dirty="0" err="1">
                <a:ea typeface="ＭＳ Ｐゴシック" panose="020B0600070205080204" pitchFamily="34" charset="-128"/>
              </a:rPr>
              <a:t>vn</a:t>
            </a:r>
            <a:r>
              <a:rPr lang="en-US" altLang="en-US" sz="2400" dirty="0">
                <a:ea typeface="ＭＳ Ｐゴシック" panose="020B0600070205080204" pitchFamily="34" charset="-128"/>
              </a:rPr>
              <a:t>&gt; to be ordered 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(However, a more general alternative definition  of relation does not require this ordering. It includes both the name and the value for each of the attributes ).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Example: t= { &lt;name, “John” &gt;, &lt;SSN, 123456789&gt; }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This representation may be called as “self-describing”.</a:t>
            </a:r>
          </a:p>
        </p:txBody>
      </p:sp>
    </p:spTree>
    <p:extLst>
      <p:ext uri="{BB962C8B-B14F-4D97-AF65-F5344CB8AC3E}">
        <p14:creationId xmlns:p14="http://schemas.microsoft.com/office/powerpoint/2010/main" val="396328448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1" y="1133052"/>
            <a:ext cx="9601196" cy="130386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Same state as previous Figure (but with different order of tuples)</a:t>
            </a:r>
          </a:p>
        </p:txBody>
      </p:sp>
      <p:pic>
        <p:nvPicPr>
          <p:cNvPr id="37892" name="Picture 5" descr="fig05_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868" y="2702202"/>
            <a:ext cx="8450263" cy="2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105214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Characteristics Of Relations</a:t>
            </a:r>
          </a:p>
        </p:txBody>
      </p:sp>
      <p:sp>
        <p:nvSpPr>
          <p:cNvPr id="3994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Values in a tuple: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All values are considered atomic (indivisible).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Each value in a tuple must be from the domain of the attribute for that column</a:t>
            </a:r>
          </a:p>
          <a:p>
            <a:pPr lvl="2" eaLnBrk="1" hangingPunct="1"/>
            <a:r>
              <a:rPr lang="en-US" altLang="en-US" smtClean="0">
                <a:ea typeface="ＭＳ Ｐゴシック" panose="020B0600070205080204" pitchFamily="34" charset="-128"/>
              </a:rPr>
              <a:t>If tuple t = &lt;v1, v2, …, vn&gt; is a tuple (row) in the relation state r of R(A1, A2, …, An)</a:t>
            </a:r>
          </a:p>
          <a:p>
            <a:pPr lvl="2" eaLnBrk="1" hangingPunct="1"/>
            <a:r>
              <a:rPr lang="en-US" altLang="en-US" smtClean="0">
                <a:ea typeface="ＭＳ Ｐゴシック" panose="020B0600070205080204" pitchFamily="34" charset="-128"/>
              </a:rPr>
              <a:t>Then each </a:t>
            </a:r>
            <a:r>
              <a:rPr lang="en-US" altLang="en-US" i="1" smtClean="0">
                <a:ea typeface="ＭＳ Ｐゴシック" panose="020B0600070205080204" pitchFamily="34" charset="-128"/>
              </a:rPr>
              <a:t>vi</a:t>
            </a:r>
            <a:r>
              <a:rPr lang="en-US" altLang="en-US" smtClean="0">
                <a:ea typeface="ＭＳ Ｐゴシック" panose="020B0600070205080204" pitchFamily="34" charset="-128"/>
              </a:rPr>
              <a:t> must be a value from </a:t>
            </a:r>
            <a:r>
              <a:rPr lang="en-US" altLang="en-US" i="1" smtClean="0">
                <a:ea typeface="ＭＳ Ｐゴシック" panose="020B0600070205080204" pitchFamily="34" charset="-128"/>
              </a:rPr>
              <a:t>dom(Ai)</a:t>
            </a:r>
          </a:p>
          <a:p>
            <a:pPr lvl="2" eaLnBrk="1" hangingPunct="1"/>
            <a:endParaRPr lang="en-US" altLang="en-US" smtClean="0">
              <a:ea typeface="ＭＳ Ｐゴシック" panose="020B0600070205080204" pitchFamily="34" charset="-128"/>
            </a:endParaRP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A special </a:t>
            </a:r>
            <a:r>
              <a:rPr lang="en-US" altLang="en-US" b="1" smtClean="0">
                <a:ea typeface="ＭＳ Ｐゴシック" panose="020B0600070205080204" pitchFamily="34" charset="-128"/>
              </a:rPr>
              <a:t>null</a:t>
            </a:r>
            <a:r>
              <a:rPr lang="en-US" altLang="en-US" smtClean="0">
                <a:ea typeface="ＭＳ Ｐゴシック" panose="020B0600070205080204" pitchFamily="34" charset="-128"/>
              </a:rPr>
              <a:t> value is used to represent values that are unknown or not available or inapplicable in certain tuples. </a:t>
            </a:r>
          </a:p>
        </p:txBody>
      </p:sp>
    </p:spTree>
    <p:extLst>
      <p:ext uri="{BB962C8B-B14F-4D97-AF65-F5344CB8AC3E}">
        <p14:creationId xmlns:p14="http://schemas.microsoft.com/office/powerpoint/2010/main" val="135918927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CONSTRAINTS</a:t>
            </a:r>
          </a:p>
        </p:txBody>
      </p:sp>
      <p:sp>
        <p:nvSpPr>
          <p:cNvPr id="4198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1295401" y="2285999"/>
            <a:ext cx="9601196" cy="35898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Constraints determine which values are permissible and which are not in the database.</a:t>
            </a:r>
          </a:p>
          <a:p>
            <a:pPr marL="0" indent="0">
              <a:buNone/>
            </a:pPr>
            <a:endParaRPr lang="en-US" altLang="en-US" dirty="0" smtClean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dirty="0" smtClean="0">
                <a:ea typeface="ＭＳ Ｐゴシック" panose="020B0600070205080204" pitchFamily="34" charset="-128"/>
              </a:rPr>
              <a:t>They </a:t>
            </a:r>
            <a:r>
              <a:rPr lang="en-US" altLang="en-US" dirty="0">
                <a:ea typeface="ＭＳ Ｐゴシック" panose="020B0600070205080204" pitchFamily="34" charset="-128"/>
              </a:rPr>
              <a:t>are of three main types:</a:t>
            </a:r>
          </a:p>
          <a:p>
            <a:pPr lvl="1" indent="-457200">
              <a:buAutoNum type="arabicPeriod"/>
            </a:pPr>
            <a:r>
              <a:rPr lang="en-US" altLang="en-US" b="1" dirty="0" smtClean="0">
                <a:ea typeface="ＭＳ Ｐゴシック" panose="020B0600070205080204" pitchFamily="34" charset="-128"/>
              </a:rPr>
              <a:t>Inherent </a:t>
            </a:r>
            <a:r>
              <a:rPr lang="en-US" altLang="en-US" b="1" dirty="0">
                <a:ea typeface="ＭＳ Ｐゴシック" panose="020B0600070205080204" pitchFamily="34" charset="-128"/>
              </a:rPr>
              <a:t>or Implicit 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Constraints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 indent="-457200">
              <a:buAutoNum type="arabicPeriod"/>
            </a:pPr>
            <a:r>
              <a:rPr lang="en-US" altLang="en-US" b="1" dirty="0" smtClean="0">
                <a:ea typeface="ＭＳ Ｐゴシック" panose="020B0600070205080204" pitchFamily="34" charset="-128"/>
              </a:rPr>
              <a:t>Schema-based </a:t>
            </a:r>
            <a:r>
              <a:rPr lang="en-US" altLang="en-US" b="1" dirty="0">
                <a:ea typeface="ＭＳ Ｐゴシック" panose="020B0600070205080204" pitchFamily="34" charset="-128"/>
              </a:rPr>
              <a:t>or Explicit 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Constraints</a:t>
            </a:r>
          </a:p>
          <a:p>
            <a:pPr lvl="1" indent="-457200">
              <a:buAutoNum type="arabicPeriod"/>
            </a:pPr>
            <a:r>
              <a:rPr lang="en-US" altLang="en-US" b="1" dirty="0" smtClean="0">
                <a:ea typeface="ＭＳ Ｐゴシック" panose="020B0600070205080204" pitchFamily="34" charset="-128"/>
              </a:rPr>
              <a:t>Application based or semantic constraints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6231605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Inherent </a:t>
            </a:r>
            <a:r>
              <a:rPr lang="en-US" dirty="0"/>
              <a:t>or Implicit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constraints are inherent to the data model itself and cannot be explicitly defined by the user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Example</a:t>
            </a:r>
            <a:r>
              <a:rPr lang="en-US" dirty="0"/>
              <a:t>: In the relational data model, an attribute cannot hold multiple values. For instance, if you have a table named Employee, an attribute like Name must contain a single value per record (e.g., "John Doe") and cannot store a list (e.g., ["John Doe", "Jane Smith"]).</a:t>
            </a:r>
          </a:p>
        </p:txBody>
      </p:sp>
    </p:spTree>
    <p:extLst>
      <p:ext uri="{BB962C8B-B14F-4D97-AF65-F5344CB8AC3E}">
        <p14:creationId xmlns:p14="http://schemas.microsoft.com/office/powerpoint/2010/main" val="396931692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Schema-based </a:t>
            </a:r>
            <a:r>
              <a:rPr lang="en-US" dirty="0"/>
              <a:t>or Explicit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These constraints are defined explicitly in the database schema and are typically enforced by the database management system (DBMS</a:t>
            </a:r>
            <a:r>
              <a:rPr lang="en-US" dirty="0" smtClean="0"/>
              <a:t>).</a:t>
            </a:r>
          </a:p>
          <a:p>
            <a:endParaRPr lang="en-US" dirty="0"/>
          </a:p>
          <a:p>
            <a:r>
              <a:rPr lang="en-US" b="1" dirty="0"/>
              <a:t>Example:</a:t>
            </a:r>
            <a:r>
              <a:rPr lang="en-US" dirty="0"/>
              <a:t> In a relational database, you can define a </a:t>
            </a:r>
            <a:r>
              <a:rPr lang="en-US" b="1" dirty="0"/>
              <a:t>primary key constraint</a:t>
            </a:r>
            <a:r>
              <a:rPr lang="en-US" dirty="0"/>
              <a:t> to ensure that no two rows have the same value in the primary key column. Similarly, you can set a </a:t>
            </a:r>
            <a:r>
              <a:rPr lang="en-US" b="1" dirty="0"/>
              <a:t>foreign key constraint</a:t>
            </a:r>
            <a:r>
              <a:rPr lang="en-US" dirty="0"/>
              <a:t> to enforce referential integrity between two tables. Another example is the </a:t>
            </a:r>
            <a:r>
              <a:rPr lang="en-US" b="1" dirty="0"/>
              <a:t>cardinality constraint</a:t>
            </a:r>
            <a:r>
              <a:rPr lang="en-US" dirty="0"/>
              <a:t> in an Entity-Relationship (ER) model that limits the number of entities that can participate in a relationship (e.g., "A department can have a maximum of 10 employees").</a:t>
            </a:r>
          </a:p>
        </p:txBody>
      </p:sp>
    </p:spTree>
    <p:extLst>
      <p:ext uri="{BB962C8B-B14F-4D97-AF65-F5344CB8AC3E}">
        <p14:creationId xmlns:p14="http://schemas.microsoft.com/office/powerpoint/2010/main" val="367996718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3. Application-based </a:t>
            </a:r>
            <a:r>
              <a:rPr lang="en-US" dirty="0"/>
              <a:t>or Semantic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constraints are beyond what the data model can express and must be enforced by the application logic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Example:</a:t>
            </a:r>
            <a:r>
              <a:rPr lang="en-US" dirty="0"/>
              <a:t> In a hospital management system, a rule such as "a doctor can only be assigned to a maximum of 5 patients per day" would be a semantic constraint. The DBMS cannot enforce this rule directly; instead, it must be handled through the application's logic during the data entry or update processes.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489130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Relational Integrity Constraints</a:t>
            </a:r>
          </a:p>
        </p:txBody>
      </p:sp>
      <p:sp>
        <p:nvSpPr>
          <p:cNvPr id="4301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Constraints are </a:t>
            </a:r>
            <a:r>
              <a:rPr lang="en-US" altLang="en-US" b="1" dirty="0">
                <a:ea typeface="ＭＳ Ｐゴシック" panose="020B0600070205080204" pitchFamily="34" charset="-128"/>
              </a:rPr>
              <a:t>conditions</a:t>
            </a:r>
            <a:r>
              <a:rPr lang="en-US" altLang="en-US" dirty="0">
                <a:ea typeface="ＭＳ Ｐゴシック" panose="020B0600070205080204" pitchFamily="34" charset="-128"/>
              </a:rPr>
              <a:t> that must hold on </a:t>
            </a:r>
            <a:r>
              <a:rPr lang="en-US" altLang="en-US" b="1" dirty="0">
                <a:ea typeface="ＭＳ Ｐゴシック" panose="020B0600070205080204" pitchFamily="34" charset="-128"/>
              </a:rPr>
              <a:t>all</a:t>
            </a:r>
            <a:r>
              <a:rPr lang="en-US" altLang="en-US" dirty="0">
                <a:ea typeface="ＭＳ Ｐゴシック" panose="020B0600070205080204" pitchFamily="34" charset="-128"/>
              </a:rPr>
              <a:t>  valid relation states.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There are three </a:t>
            </a:r>
            <a:r>
              <a:rPr lang="en-US" altLang="en-US" i="1" dirty="0">
                <a:ea typeface="ＭＳ Ｐゴシック" panose="020B0600070205080204" pitchFamily="34" charset="-128"/>
              </a:rPr>
              <a:t>main types</a:t>
            </a:r>
            <a:r>
              <a:rPr lang="en-US" altLang="en-US" dirty="0">
                <a:ea typeface="ＭＳ Ｐゴシック" panose="020B0600070205080204" pitchFamily="34" charset="-128"/>
              </a:rPr>
              <a:t> of (explicit schema-based) constraints that can be expressed in the relational model:</a:t>
            </a:r>
          </a:p>
          <a:p>
            <a:pPr lvl="1" eaLnBrk="1" hangingPunct="1"/>
            <a:r>
              <a:rPr lang="en-US" altLang="en-US" sz="2200" b="1" dirty="0">
                <a:ea typeface="ＭＳ Ｐゴシック" panose="020B0600070205080204" pitchFamily="34" charset="-128"/>
              </a:rPr>
              <a:t>Key</a:t>
            </a:r>
            <a:r>
              <a:rPr lang="en-US" altLang="en-US" sz="2200" dirty="0">
                <a:ea typeface="ＭＳ Ｐゴシック" panose="020B0600070205080204" pitchFamily="34" charset="-128"/>
              </a:rPr>
              <a:t> constraints</a:t>
            </a:r>
          </a:p>
          <a:p>
            <a:pPr lvl="1" eaLnBrk="1" hangingPunct="1"/>
            <a:r>
              <a:rPr lang="en-US" altLang="en-US" sz="2200" b="1" dirty="0">
                <a:ea typeface="ＭＳ Ｐゴシック" panose="020B0600070205080204" pitchFamily="34" charset="-128"/>
              </a:rPr>
              <a:t>Entity</a:t>
            </a:r>
            <a:r>
              <a:rPr lang="en-US" altLang="en-US" sz="2200" dirty="0">
                <a:ea typeface="ＭＳ Ｐゴシック" panose="020B0600070205080204" pitchFamily="34" charset="-128"/>
              </a:rPr>
              <a:t> </a:t>
            </a:r>
            <a:r>
              <a:rPr lang="en-US" altLang="en-US" sz="2200" b="1" dirty="0">
                <a:ea typeface="ＭＳ Ｐゴシック" panose="020B0600070205080204" pitchFamily="34" charset="-128"/>
              </a:rPr>
              <a:t>integrity</a:t>
            </a:r>
            <a:r>
              <a:rPr lang="en-US" altLang="en-US" sz="2200" dirty="0">
                <a:ea typeface="ＭＳ Ｐゴシック" panose="020B0600070205080204" pitchFamily="34" charset="-128"/>
              </a:rPr>
              <a:t> constraints</a:t>
            </a:r>
          </a:p>
          <a:p>
            <a:pPr lvl="1" eaLnBrk="1" hangingPunct="1"/>
            <a:r>
              <a:rPr lang="en-US" altLang="en-US" sz="2200" b="1" dirty="0">
                <a:ea typeface="ＭＳ Ｐゴシック" panose="020B0600070205080204" pitchFamily="34" charset="-128"/>
              </a:rPr>
              <a:t>Referential integrity</a:t>
            </a:r>
            <a:r>
              <a:rPr lang="en-US" altLang="en-US" sz="2200" dirty="0">
                <a:ea typeface="ＭＳ Ｐゴシック" panose="020B0600070205080204" pitchFamily="34" charset="-128"/>
              </a:rPr>
              <a:t> constraints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Another schema-based constraint is the </a:t>
            </a:r>
            <a:r>
              <a:rPr lang="en-US" altLang="en-US" b="1" dirty="0">
                <a:ea typeface="ＭＳ Ｐゴシック" panose="020B0600070205080204" pitchFamily="34" charset="-128"/>
              </a:rPr>
              <a:t>domain</a:t>
            </a:r>
            <a:r>
              <a:rPr lang="en-US" altLang="en-US" dirty="0">
                <a:ea typeface="ＭＳ Ｐゴシック" panose="020B0600070205080204" pitchFamily="34" charset="-128"/>
              </a:rPr>
              <a:t> constraint</a:t>
            </a:r>
          </a:p>
          <a:p>
            <a:pPr lvl="1" eaLnBrk="1" hangingPunct="1"/>
            <a:r>
              <a:rPr lang="en-US" altLang="en-US" sz="2200" dirty="0">
                <a:ea typeface="ＭＳ Ｐゴシック" panose="020B0600070205080204" pitchFamily="34" charset="-128"/>
              </a:rPr>
              <a:t>Every value in a tuple must be from the </a:t>
            </a:r>
            <a:r>
              <a:rPr lang="en-US" altLang="en-US" sz="2200" i="1" dirty="0">
                <a:ea typeface="ＭＳ Ｐゴシック" panose="020B0600070205080204" pitchFamily="34" charset="-128"/>
              </a:rPr>
              <a:t>domain of its attribute</a:t>
            </a:r>
            <a:r>
              <a:rPr lang="en-US" altLang="en-US" sz="2200" dirty="0">
                <a:ea typeface="ＭＳ Ｐゴシック" panose="020B0600070205080204" pitchFamily="34" charset="-128"/>
              </a:rPr>
              <a:t> (or it could be </a:t>
            </a:r>
            <a:r>
              <a:rPr lang="en-US" altLang="en-US" sz="2200" b="1" dirty="0">
                <a:ea typeface="ＭＳ Ｐゴシック" panose="020B0600070205080204" pitchFamily="34" charset="-128"/>
              </a:rPr>
              <a:t>null</a:t>
            </a:r>
            <a:r>
              <a:rPr lang="en-US" altLang="en-US" sz="2200" dirty="0">
                <a:ea typeface="ＭＳ Ｐゴシック" panose="020B0600070205080204" pitchFamily="34" charset="-128"/>
              </a:rPr>
              <a:t>, if allowed for that attribute)</a:t>
            </a:r>
          </a:p>
        </p:txBody>
      </p:sp>
    </p:spTree>
    <p:extLst>
      <p:ext uri="{BB962C8B-B14F-4D97-AF65-F5344CB8AC3E}">
        <p14:creationId xmlns:p14="http://schemas.microsoft.com/office/powerpoint/2010/main" val="388446460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Superkey</a:t>
            </a:r>
            <a:r>
              <a:rPr lang="en-US" dirty="0"/>
              <a:t> of R</a:t>
            </a:r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sp>
        <p:nvSpPr>
          <p:cNvPr id="4506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295401" y="2556931"/>
            <a:ext cx="9601196" cy="3444373"/>
          </a:xfrm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A </a:t>
            </a:r>
            <a:r>
              <a:rPr lang="en-US" altLang="en-US" dirty="0" err="1">
                <a:ea typeface="ＭＳ Ｐゴシック" panose="020B0600070205080204" pitchFamily="34" charset="-128"/>
              </a:rPr>
              <a:t>superkey</a:t>
            </a:r>
            <a:r>
              <a:rPr lang="en-US" altLang="en-US" dirty="0">
                <a:ea typeface="ＭＳ Ｐゴシック" panose="020B0600070205080204" pitchFamily="34" charset="-128"/>
              </a:rPr>
              <a:t> is a set of one or more attributes in a relation R such that no two distinct tuples (rows) in any valid instance of the relation will have the same values for these attributes. In other words, a </a:t>
            </a:r>
            <a:r>
              <a:rPr lang="en-US" altLang="en-US" dirty="0" err="1">
                <a:ea typeface="ＭＳ Ｐゴシック" panose="020B0600070205080204" pitchFamily="34" charset="-128"/>
              </a:rPr>
              <a:t>superkey</a:t>
            </a:r>
            <a:r>
              <a:rPr lang="en-US" altLang="en-US" dirty="0">
                <a:ea typeface="ＭＳ Ｐゴシック" panose="020B0600070205080204" pitchFamily="34" charset="-128"/>
              </a:rPr>
              <a:t> uniquely identifies each tuple in the relation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.</a:t>
            </a: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b="1" dirty="0">
                <a:ea typeface="ＭＳ Ｐゴシック" panose="020B0600070205080204" pitchFamily="34" charset="-128"/>
              </a:rPr>
              <a:t>Example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: Consider </a:t>
            </a:r>
            <a:r>
              <a:rPr lang="en-US" altLang="en-US" dirty="0">
                <a:ea typeface="ＭＳ Ｐゴシック" panose="020B0600070205080204" pitchFamily="34" charset="-128"/>
              </a:rPr>
              <a:t>a relation Employee with the following </a:t>
            </a:r>
            <a:endParaRPr lang="en-US" altLang="en-US" dirty="0" smtClean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b="1" dirty="0">
                <a:ea typeface="ＭＳ Ｐゴシック" panose="020B0600070205080204" pitchFamily="34" charset="-128"/>
              </a:rPr>
              <a:t>A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ttributes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: </a:t>
            </a:r>
            <a:r>
              <a:rPr lang="en-US" altLang="en-US" dirty="0" err="1" smtClean="0">
                <a:ea typeface="ＭＳ Ｐゴシック" panose="020B0600070205080204" pitchFamily="34" charset="-128"/>
              </a:rPr>
              <a:t>EmployeeID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, Name, Email, Phone</a:t>
            </a:r>
          </a:p>
          <a:p>
            <a:pPr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Possible 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dirty="0" err="1" smtClean="0">
                <a:ea typeface="ＭＳ Ｐゴシック" panose="020B0600070205080204" pitchFamily="34" charset="-128"/>
              </a:rPr>
              <a:t>superkeys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could include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:</a:t>
            </a:r>
          </a:p>
          <a:p>
            <a:pPr marL="53340" indent="0" eaLnBrk="1" hangingPunct="1"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	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{</a:t>
            </a:r>
            <a:r>
              <a:rPr lang="en-US" altLang="en-US" dirty="0" err="1">
                <a:ea typeface="ＭＳ Ｐゴシック" panose="020B0600070205080204" pitchFamily="34" charset="-128"/>
              </a:rPr>
              <a:t>EmployeeID</a:t>
            </a:r>
            <a:r>
              <a:rPr lang="en-US" altLang="en-US" dirty="0">
                <a:ea typeface="ＭＳ Ｐゴシック" panose="020B0600070205080204" pitchFamily="34" charset="-128"/>
              </a:rPr>
              <a:t>}{</a:t>
            </a:r>
            <a:r>
              <a:rPr lang="en-US" altLang="en-US" dirty="0" err="1">
                <a:ea typeface="ＭＳ Ｐゴシック" panose="020B0600070205080204" pitchFamily="34" charset="-128"/>
              </a:rPr>
              <a:t>EmployeeID</a:t>
            </a:r>
            <a:r>
              <a:rPr lang="en-US" altLang="en-US" dirty="0">
                <a:ea typeface="ＭＳ Ｐゴシック" panose="020B0600070205080204" pitchFamily="34" charset="-128"/>
              </a:rPr>
              <a:t>, Name}{</a:t>
            </a:r>
            <a:r>
              <a:rPr lang="en-US" altLang="en-US" dirty="0" err="1">
                <a:ea typeface="ＭＳ Ｐゴシック" panose="020B0600070205080204" pitchFamily="34" charset="-128"/>
              </a:rPr>
              <a:t>EmployeeID</a:t>
            </a:r>
            <a:r>
              <a:rPr lang="en-US" altLang="en-US" dirty="0">
                <a:ea typeface="ＭＳ Ｐゴシック" panose="020B0600070205080204" pitchFamily="34" charset="-128"/>
              </a:rPr>
              <a:t>, Email}{Email, Phone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}</a:t>
            </a:r>
          </a:p>
          <a:p>
            <a:pPr marL="53340" indent="0" eaLnBrk="1" hangingPunct="1">
              <a:buNone/>
            </a:pPr>
            <a:endParaRPr lang="en-US" altLang="en-US" dirty="0" smtClean="0">
              <a:ea typeface="ＭＳ Ｐゴシック" panose="020B0600070205080204" pitchFamily="34" charset="-128"/>
            </a:endParaRPr>
          </a:p>
          <a:p>
            <a:pPr marL="53340" indent="0" eaLnBrk="1" hangingPunct="1">
              <a:buNone/>
            </a:pPr>
            <a:r>
              <a:rPr lang="en-US" altLang="en-US" dirty="0" smtClean="0">
                <a:ea typeface="ＭＳ Ｐゴシック" panose="020B0600070205080204" pitchFamily="34" charset="-128"/>
              </a:rPr>
              <a:t>Each </a:t>
            </a:r>
            <a:r>
              <a:rPr lang="en-US" altLang="en-US" dirty="0">
                <a:ea typeface="ＭＳ Ｐゴシック" panose="020B0600070205080204" pitchFamily="34" charset="-128"/>
              </a:rPr>
              <a:t>of these sets of attributes uniquely identifies an employee, so they are all </a:t>
            </a:r>
            <a:r>
              <a:rPr lang="en-US" altLang="en-US" dirty="0" err="1">
                <a:ea typeface="ＭＳ Ｐゴシック" panose="020B0600070205080204" pitchFamily="34" charset="-128"/>
              </a:rPr>
              <a:t>superkeys</a:t>
            </a:r>
            <a:r>
              <a:rPr lang="en-US" altLang="en-US" dirty="0">
                <a:ea typeface="ＭＳ Ｐゴシック" panose="020B0600070205080204" pitchFamily="34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571742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Key of R</a:t>
            </a:r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1" y="2556931"/>
            <a:ext cx="9601196" cy="3595293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A key (or candidate key) is a minimal </a:t>
            </a:r>
            <a:r>
              <a:rPr lang="en-US" altLang="en-US" dirty="0" err="1">
                <a:ea typeface="ＭＳ Ｐゴシック" panose="020B0600070205080204" pitchFamily="34" charset="-128"/>
              </a:rPr>
              <a:t>superkey</a:t>
            </a:r>
            <a:r>
              <a:rPr lang="en-US" altLang="en-US" dirty="0">
                <a:ea typeface="ＭＳ Ｐゴシック" panose="020B0600070205080204" pitchFamily="34" charset="-128"/>
              </a:rPr>
              <a:t>, which means it is a </a:t>
            </a:r>
            <a:r>
              <a:rPr lang="en-US" altLang="en-US" dirty="0" err="1">
                <a:ea typeface="ＭＳ Ｐゴシック" panose="020B0600070205080204" pitchFamily="34" charset="-128"/>
              </a:rPr>
              <a:t>superkey</a:t>
            </a:r>
            <a:r>
              <a:rPr lang="en-US" altLang="en-US" dirty="0">
                <a:ea typeface="ＭＳ Ｐゴシック" panose="020B0600070205080204" pitchFamily="34" charset="-128"/>
              </a:rPr>
              <a:t> with no redundant attributes. If any attribute is removed from a key, it will no longer be a </a:t>
            </a:r>
            <a:r>
              <a:rPr lang="en-US" altLang="en-US" dirty="0" err="1">
                <a:ea typeface="ＭＳ Ｐゴシック" panose="020B0600070205080204" pitchFamily="34" charset="-128"/>
              </a:rPr>
              <a:t>superkey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.</a:t>
            </a:r>
          </a:p>
          <a:p>
            <a:pPr eaLnBrk="1" hangingPunct="1"/>
            <a:r>
              <a:rPr lang="en-US" altLang="en-US" b="1" dirty="0" err="1" smtClean="0">
                <a:ea typeface="ＭＳ Ｐゴシック" panose="020B0600070205080204" pitchFamily="34" charset="-128"/>
              </a:rPr>
              <a:t>Example</a:t>
            </a:r>
            <a:r>
              <a:rPr lang="en-US" altLang="en-US" dirty="0" err="1" smtClean="0">
                <a:ea typeface="ＭＳ Ｐゴシック" panose="020B0600070205080204" pitchFamily="34" charset="-128"/>
              </a:rPr>
              <a:t>:In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the Employee relation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: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{</a:t>
            </a:r>
            <a:r>
              <a:rPr lang="en-US" altLang="en-US" dirty="0" err="1">
                <a:ea typeface="ＭＳ Ｐゴシック" panose="020B0600070205080204" pitchFamily="34" charset="-128"/>
              </a:rPr>
              <a:t>EmployeeID</a:t>
            </a:r>
            <a:r>
              <a:rPr lang="en-US" altLang="en-US" dirty="0">
                <a:ea typeface="ＭＳ Ｐゴシック" panose="020B0600070205080204" pitchFamily="34" charset="-128"/>
              </a:rPr>
              <a:t>} is a key because it uniquely identifies each employee and is minimal (removing </a:t>
            </a:r>
            <a:r>
              <a:rPr lang="en-US" altLang="en-US" dirty="0" err="1">
                <a:ea typeface="ＭＳ Ｐゴシック" panose="020B0600070205080204" pitchFamily="34" charset="-128"/>
              </a:rPr>
              <a:t>EmployeeID</a:t>
            </a:r>
            <a:r>
              <a:rPr lang="en-US" altLang="en-US" dirty="0">
                <a:ea typeface="ＭＳ Ｐゴシック" panose="020B0600070205080204" pitchFamily="34" charset="-128"/>
              </a:rPr>
              <a:t> would result in no attributes, which cannot uniquely identify the tuples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).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{</a:t>
            </a:r>
            <a:r>
              <a:rPr lang="en-US" altLang="en-US" dirty="0">
                <a:ea typeface="ＭＳ Ｐゴシック" panose="020B0600070205080204" pitchFamily="34" charset="-128"/>
              </a:rPr>
              <a:t>Email} can also be a key if every email is unique for each employee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.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However</a:t>
            </a:r>
            <a:r>
              <a:rPr lang="en-US" altLang="en-US" dirty="0">
                <a:ea typeface="ＭＳ Ｐゴシック" panose="020B0600070205080204" pitchFamily="34" charset="-128"/>
              </a:rPr>
              <a:t>, {</a:t>
            </a:r>
            <a:r>
              <a:rPr lang="en-US" altLang="en-US" dirty="0" err="1">
                <a:ea typeface="ＭＳ Ｐゴシック" panose="020B0600070205080204" pitchFamily="34" charset="-128"/>
              </a:rPr>
              <a:t>EmployeeID</a:t>
            </a:r>
            <a:r>
              <a:rPr lang="en-US" altLang="en-US" dirty="0">
                <a:ea typeface="ＭＳ Ｐゴシック" panose="020B0600070205080204" pitchFamily="34" charset="-128"/>
              </a:rPr>
              <a:t>, Name} is not a key because it is not minimal — removing Name still leaves {</a:t>
            </a:r>
            <a:r>
              <a:rPr lang="en-US" altLang="en-US" dirty="0" err="1">
                <a:ea typeface="ＭＳ Ｐゴシック" panose="020B0600070205080204" pitchFamily="34" charset="-128"/>
              </a:rPr>
              <a:t>EmployeeID</a:t>
            </a:r>
            <a:r>
              <a:rPr lang="en-US" altLang="en-US" dirty="0">
                <a:ea typeface="ＭＳ Ｐゴシック" panose="020B0600070205080204" pitchFamily="34" charset="-128"/>
              </a:rPr>
              <a:t>}, which is already a </a:t>
            </a:r>
            <a:r>
              <a:rPr lang="en-US" altLang="en-US" dirty="0" err="1">
                <a:ea typeface="ＭＳ Ｐゴシック" panose="020B0600070205080204" pitchFamily="34" charset="-128"/>
              </a:rPr>
              <a:t>superkey</a:t>
            </a:r>
            <a:r>
              <a:rPr lang="en-US" altLang="en-US" dirty="0">
                <a:ea typeface="ＭＳ Ｐゴシック" panose="020B0600070205080204" pitchFamily="34" charset="-128"/>
              </a:rPr>
              <a:t>. Thus, {</a:t>
            </a:r>
            <a:r>
              <a:rPr lang="en-US" altLang="en-US" dirty="0" err="1">
                <a:ea typeface="ＭＳ Ｐゴシック" panose="020B0600070205080204" pitchFamily="34" charset="-128"/>
              </a:rPr>
              <a:t>EmployeeID</a:t>
            </a:r>
            <a:r>
              <a:rPr lang="en-US" altLang="en-US" dirty="0">
                <a:ea typeface="ＭＳ Ｐゴシック" panose="020B0600070205080204" pitchFamily="34" charset="-128"/>
              </a:rPr>
              <a:t>, Name} is a </a:t>
            </a:r>
            <a:r>
              <a:rPr lang="en-US" altLang="en-US" dirty="0" err="1">
                <a:ea typeface="ＭＳ Ｐゴシック" panose="020B0600070205080204" pitchFamily="34" charset="-128"/>
              </a:rPr>
              <a:t>superkey</a:t>
            </a:r>
            <a:r>
              <a:rPr lang="en-US" altLang="en-US" dirty="0">
                <a:ea typeface="ＭＳ Ｐゴシック" panose="020B0600070205080204" pitchFamily="34" charset="-128"/>
              </a:rPr>
              <a:t>, but not a key.</a:t>
            </a:r>
            <a:endParaRPr lang="en-US" altLang="en-US" sz="18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2604778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Key Constraints (continued)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If a relation has several </a:t>
            </a:r>
            <a:r>
              <a:rPr lang="en-US" altLang="en-US" b="1" dirty="0">
                <a:ea typeface="ＭＳ Ｐゴシック" panose="020B0600070205080204" pitchFamily="34" charset="-128"/>
              </a:rPr>
              <a:t>candidate keys</a:t>
            </a:r>
            <a:r>
              <a:rPr lang="en-US" altLang="en-US" dirty="0">
                <a:ea typeface="ＭＳ Ｐゴシック" panose="020B0600070205080204" pitchFamily="34" charset="-128"/>
              </a:rPr>
              <a:t>, one is chosen arbitrarily to be the </a:t>
            </a:r>
            <a:r>
              <a:rPr lang="en-US" altLang="en-US" b="1" dirty="0">
                <a:ea typeface="ＭＳ Ｐゴシック" panose="020B0600070205080204" pitchFamily="34" charset="-128"/>
              </a:rPr>
              <a:t>primary key</a:t>
            </a:r>
            <a:r>
              <a:rPr lang="en-US" altLang="en-US" dirty="0">
                <a:ea typeface="ＭＳ Ｐゴシック" panose="020B0600070205080204" pitchFamily="34" charset="-128"/>
              </a:rPr>
              <a:t>. 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The primary key attributes are </a:t>
            </a:r>
            <a:r>
              <a:rPr lang="en-US" altLang="en-US" sz="2200" u="sng" dirty="0">
                <a:ea typeface="ＭＳ Ｐゴシック" panose="020B0600070205080204" pitchFamily="34" charset="-128"/>
              </a:rPr>
              <a:t>underlined</a:t>
            </a:r>
            <a:r>
              <a:rPr lang="en-US" altLang="en-US" sz="2200" dirty="0">
                <a:ea typeface="ＭＳ Ｐゴシック" panose="020B0600070205080204" pitchFamily="34" charset="-128"/>
              </a:rPr>
              <a:t>.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US" dirty="0" smtClean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altLang="en-US" dirty="0" smtClean="0">
                <a:ea typeface="ＭＳ Ｐゴシック" panose="020B0600070205080204" pitchFamily="34" charset="-128"/>
              </a:rPr>
              <a:t>Example</a:t>
            </a:r>
            <a:r>
              <a:rPr lang="en-US" altLang="en-US" dirty="0">
                <a:ea typeface="ＭＳ Ｐゴシック" panose="020B0600070205080204" pitchFamily="34" charset="-128"/>
              </a:rPr>
              <a:t>: Consider the CAR relation schema: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CAR(State, </a:t>
            </a:r>
            <a:r>
              <a:rPr lang="en-US" altLang="en-US" sz="2200" dirty="0" err="1">
                <a:ea typeface="ＭＳ Ｐゴシック" panose="020B0600070205080204" pitchFamily="34" charset="-128"/>
              </a:rPr>
              <a:t>Reg</a:t>
            </a:r>
            <a:r>
              <a:rPr lang="en-US" altLang="en-US" sz="2200" dirty="0">
                <a:ea typeface="ＭＳ Ｐゴシック" panose="020B0600070205080204" pitchFamily="34" charset="-128"/>
              </a:rPr>
              <a:t>#, </a:t>
            </a:r>
            <a:r>
              <a:rPr lang="en-US" altLang="en-US" sz="2200" u="sng" dirty="0" err="1">
                <a:ea typeface="ＭＳ Ｐゴシック" panose="020B0600070205080204" pitchFamily="34" charset="-128"/>
              </a:rPr>
              <a:t>SerialNo</a:t>
            </a:r>
            <a:r>
              <a:rPr lang="en-US" altLang="en-US" sz="2200" dirty="0">
                <a:ea typeface="ＭＳ Ｐゴシック" panose="020B0600070205080204" pitchFamily="34" charset="-128"/>
              </a:rPr>
              <a:t>, Make, Model, Year)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We chose </a:t>
            </a:r>
            <a:r>
              <a:rPr lang="en-US" altLang="en-US" sz="2200" dirty="0" err="1">
                <a:ea typeface="ＭＳ Ｐゴシック" panose="020B0600070205080204" pitchFamily="34" charset="-128"/>
              </a:rPr>
              <a:t>SerialNo</a:t>
            </a:r>
            <a:r>
              <a:rPr lang="en-US" altLang="en-US" sz="2200" dirty="0">
                <a:ea typeface="ＭＳ Ｐゴシック" panose="020B0600070205080204" pitchFamily="34" charset="-128"/>
              </a:rPr>
              <a:t> as the primary key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US" dirty="0" smtClean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altLang="en-US" dirty="0" smtClean="0">
                <a:ea typeface="ＭＳ Ｐゴシック" panose="020B0600070205080204" pitchFamily="34" charset="-128"/>
              </a:rPr>
              <a:t>The </a:t>
            </a:r>
            <a:r>
              <a:rPr lang="en-US" altLang="en-US" dirty="0">
                <a:ea typeface="ＭＳ Ｐゴシック" panose="020B0600070205080204" pitchFamily="34" charset="-128"/>
              </a:rPr>
              <a:t>primary key value is used to </a:t>
            </a:r>
            <a:r>
              <a:rPr lang="en-US" altLang="en-US" i="1" dirty="0">
                <a:ea typeface="ＭＳ Ｐゴシック" panose="020B0600070205080204" pitchFamily="34" charset="-128"/>
              </a:rPr>
              <a:t>uniquely identify</a:t>
            </a:r>
            <a:r>
              <a:rPr lang="en-US" altLang="en-US" dirty="0">
                <a:ea typeface="ＭＳ Ｐゴシック" panose="020B0600070205080204" pitchFamily="34" charset="-128"/>
              </a:rPr>
              <a:t> each tuple in a relation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Provides the tuple identity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US" dirty="0" smtClean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altLang="en-US" dirty="0" smtClean="0">
                <a:ea typeface="ＭＳ Ｐゴシック" panose="020B0600070205080204" pitchFamily="34" charset="-128"/>
              </a:rPr>
              <a:t>Also </a:t>
            </a:r>
            <a:r>
              <a:rPr lang="en-US" altLang="en-US" dirty="0">
                <a:ea typeface="ＭＳ Ｐゴシック" panose="020B0600070205080204" pitchFamily="34" charset="-128"/>
              </a:rPr>
              <a:t>used to </a:t>
            </a:r>
            <a:r>
              <a:rPr lang="en-US" altLang="en-US" i="1" dirty="0">
                <a:ea typeface="ＭＳ Ｐゴシック" panose="020B0600070205080204" pitchFamily="34" charset="-128"/>
              </a:rPr>
              <a:t>reference</a:t>
            </a:r>
            <a:r>
              <a:rPr lang="en-US" altLang="en-US" dirty="0">
                <a:ea typeface="ＭＳ Ｐゴシック" panose="020B0600070205080204" pitchFamily="34" charset="-128"/>
              </a:rPr>
              <a:t> the tuple from another tuple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General rule: Choose as primary key the smallest of the candidate keys (in terms of size)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Not always applicable – choice is sometimes subjective</a:t>
            </a:r>
          </a:p>
        </p:txBody>
      </p:sp>
    </p:spTree>
    <p:extLst>
      <p:ext uri="{BB962C8B-B14F-4D97-AF65-F5344CB8AC3E}">
        <p14:creationId xmlns:p14="http://schemas.microsoft.com/office/powerpoint/2010/main" val="19303673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>
                <a:ea typeface="ＭＳ Ｐゴシック" panose="020B0600070205080204" pitchFamily="34" charset="-128"/>
              </a:rPr>
              <a:t>CAR table with two candidate keys – LicenseNumber chosen as Primary Key</a:t>
            </a:r>
          </a:p>
        </p:txBody>
      </p:sp>
      <p:pic>
        <p:nvPicPr>
          <p:cNvPr id="51204" name="Picture 9" descr="fig05_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559050"/>
            <a:ext cx="84137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15279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Relational Database Schema</a:t>
            </a:r>
          </a:p>
        </p:txBody>
      </p:sp>
      <p:sp>
        <p:nvSpPr>
          <p:cNvPr id="5325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ea typeface="ＭＳ Ｐゴシック" panose="020B0600070205080204" pitchFamily="34" charset="-128"/>
              </a:rPr>
              <a:t>Relational Database Schema: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A set S of relation schemas that belong to the same database.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S is the name of the whole </a:t>
            </a:r>
            <a:r>
              <a:rPr lang="en-US" altLang="en-US" b="1" smtClean="0">
                <a:ea typeface="ＭＳ Ｐゴシック" panose="020B0600070205080204" pitchFamily="34" charset="-128"/>
              </a:rPr>
              <a:t>database schema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S = {R1, R2, ..., Rn} and a set IC of Integrity Constraints.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R1, R2, …, Rn are the names of the individual </a:t>
            </a:r>
            <a:r>
              <a:rPr lang="en-US" altLang="en-US" b="1" smtClean="0">
                <a:ea typeface="ＭＳ Ｐゴシック" panose="020B0600070205080204" pitchFamily="34" charset="-128"/>
              </a:rPr>
              <a:t>relation schemas</a:t>
            </a:r>
            <a:r>
              <a:rPr lang="en-US" altLang="en-US" smtClean="0">
                <a:ea typeface="ＭＳ Ｐゴシック" panose="020B0600070205080204" pitchFamily="34" charset="-128"/>
              </a:rPr>
              <a:t> within the database S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Following slide shows a COMPANY database schema with 6 relation schemas</a:t>
            </a:r>
          </a:p>
        </p:txBody>
      </p:sp>
    </p:spTree>
    <p:extLst>
      <p:ext uri="{BB962C8B-B14F-4D97-AF65-F5344CB8AC3E}">
        <p14:creationId xmlns:p14="http://schemas.microsoft.com/office/powerpoint/2010/main" val="84215293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9" name="Picture 5" descr="fig05_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523753"/>
            <a:ext cx="7531963" cy="4573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0" name="Text Box 6" descr="Pink tissue paper"/>
          <p:cNvSpPr txBox="1">
            <a:spLocks noChangeArrowheads="1"/>
          </p:cNvSpPr>
          <p:nvPr/>
        </p:nvSpPr>
        <p:spPr bwMode="auto">
          <a:xfrm>
            <a:off x="1905000" y="762000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>
                <a:solidFill>
                  <a:srgbClr val="800000"/>
                </a:solidFill>
              </a:rPr>
              <a:t>COMPANY Database Schema</a:t>
            </a:r>
          </a:p>
        </p:txBody>
      </p:sp>
    </p:spTree>
    <p:extLst>
      <p:ext uri="{BB962C8B-B14F-4D97-AF65-F5344CB8AC3E}">
        <p14:creationId xmlns:p14="http://schemas.microsoft.com/office/powerpoint/2010/main" val="606475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 noChangeArrowheads="1"/>
          </p:cNvSpPr>
          <p:nvPr>
            <p:ph type="title"/>
          </p:nvPr>
        </p:nvSpPr>
        <p:spPr>
          <a:xfrm>
            <a:off x="1221461" y="689169"/>
            <a:ext cx="9601196" cy="1303867"/>
          </a:xfrm>
        </p:spPr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Relational Database State</a:t>
            </a:r>
          </a:p>
        </p:txBody>
      </p:sp>
      <p:sp>
        <p:nvSpPr>
          <p:cNvPr id="5734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1580226" y="1882066"/>
            <a:ext cx="9242431" cy="5126853"/>
          </a:xfrm>
        </p:spPr>
        <p:txBody>
          <a:bodyPr/>
          <a:lstStyle/>
          <a:p>
            <a:r>
              <a:rPr lang="en-US" altLang="en-US" sz="2600" dirty="0">
                <a:ea typeface="ＭＳ Ｐゴシック" panose="020B0600070205080204" pitchFamily="34" charset="-128"/>
              </a:rPr>
              <a:t>A </a:t>
            </a:r>
            <a:r>
              <a:rPr lang="en-US" altLang="en-US" sz="2600" b="1" dirty="0">
                <a:ea typeface="ＭＳ Ｐゴシック" panose="020B0600070205080204" pitchFamily="34" charset="-128"/>
              </a:rPr>
              <a:t>relational database state</a:t>
            </a:r>
            <a:r>
              <a:rPr lang="en-US" altLang="en-US" sz="2600" dirty="0">
                <a:ea typeface="ＭＳ Ｐゴシック" panose="020B0600070205080204" pitchFamily="34" charset="-128"/>
              </a:rPr>
              <a:t> DB of </a:t>
            </a:r>
            <a:r>
              <a:rPr lang="en-US" altLang="en-US" sz="2600" i="1" dirty="0">
                <a:ea typeface="ＭＳ Ｐゴシック" panose="020B0600070205080204" pitchFamily="34" charset="-128"/>
              </a:rPr>
              <a:t>S</a:t>
            </a:r>
            <a:r>
              <a:rPr lang="en-US" altLang="en-US" sz="2600" dirty="0">
                <a:ea typeface="ＭＳ Ｐゴシック" panose="020B0600070205080204" pitchFamily="34" charset="-128"/>
              </a:rPr>
              <a:t> is a set of relation states DB = {</a:t>
            </a:r>
            <a:r>
              <a:rPr lang="en-US" altLang="en-US" sz="2600" i="1" dirty="0">
                <a:ea typeface="ＭＳ Ｐゴシック" panose="020B0600070205080204" pitchFamily="34" charset="-128"/>
              </a:rPr>
              <a:t>r</a:t>
            </a:r>
            <a:r>
              <a:rPr lang="en-US" altLang="en-US" sz="2600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US" sz="2600" dirty="0">
                <a:ea typeface="ＭＳ Ｐゴシック" panose="020B0600070205080204" pitchFamily="34" charset="-128"/>
              </a:rPr>
              <a:t>, </a:t>
            </a:r>
            <a:r>
              <a:rPr lang="en-US" altLang="en-US" sz="2600" i="1" dirty="0">
                <a:ea typeface="ＭＳ Ｐゴシック" panose="020B0600070205080204" pitchFamily="34" charset="-128"/>
              </a:rPr>
              <a:t>r</a:t>
            </a:r>
            <a:r>
              <a:rPr lang="en-US" altLang="en-US" sz="2600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en-US" sz="2600" dirty="0">
                <a:ea typeface="ＭＳ Ｐゴシック" panose="020B0600070205080204" pitchFamily="34" charset="-128"/>
              </a:rPr>
              <a:t>, ..., </a:t>
            </a:r>
            <a:r>
              <a:rPr lang="en-US" altLang="en-US" sz="2600" i="1" dirty="0" err="1">
                <a:ea typeface="ＭＳ Ｐゴシック" panose="020B0600070205080204" pitchFamily="34" charset="-128"/>
              </a:rPr>
              <a:t>r</a:t>
            </a:r>
            <a:r>
              <a:rPr lang="en-US" altLang="en-US" sz="2600" i="1" baseline="-25000" dirty="0" err="1">
                <a:ea typeface="ＭＳ Ｐゴシック" panose="020B0600070205080204" pitchFamily="34" charset="-128"/>
              </a:rPr>
              <a:t>m</a:t>
            </a:r>
            <a:r>
              <a:rPr lang="en-US" altLang="en-US" sz="2600" dirty="0">
                <a:ea typeface="ＭＳ Ｐゴシック" panose="020B0600070205080204" pitchFamily="34" charset="-128"/>
              </a:rPr>
              <a:t>} such that each </a:t>
            </a:r>
            <a:r>
              <a:rPr lang="en-US" altLang="en-US" sz="2600" i="1" dirty="0" err="1">
                <a:ea typeface="ＭＳ Ｐゴシック" panose="020B0600070205080204" pitchFamily="34" charset="-128"/>
              </a:rPr>
              <a:t>r</a:t>
            </a:r>
            <a:r>
              <a:rPr lang="en-US" altLang="en-US" sz="2600" i="1" baseline="-25000" dirty="0" err="1">
                <a:ea typeface="ＭＳ Ｐゴシック" panose="020B0600070205080204" pitchFamily="34" charset="-128"/>
              </a:rPr>
              <a:t>i</a:t>
            </a:r>
            <a:r>
              <a:rPr lang="en-US" altLang="en-US" sz="2600" dirty="0">
                <a:ea typeface="ＭＳ Ｐゴシック" panose="020B0600070205080204" pitchFamily="34" charset="-128"/>
              </a:rPr>
              <a:t> is a state of </a:t>
            </a:r>
            <a:r>
              <a:rPr lang="en-US" altLang="en-US" sz="2600" i="1" dirty="0" err="1">
                <a:ea typeface="ＭＳ Ｐゴシック" panose="020B0600070205080204" pitchFamily="34" charset="-128"/>
              </a:rPr>
              <a:t>R</a:t>
            </a:r>
            <a:r>
              <a:rPr lang="en-US" altLang="en-US" sz="2600" i="1" baseline="-25000" dirty="0" err="1">
                <a:ea typeface="ＭＳ Ｐゴシック" panose="020B0600070205080204" pitchFamily="34" charset="-128"/>
              </a:rPr>
              <a:t>i</a:t>
            </a:r>
            <a:r>
              <a:rPr lang="en-US" altLang="en-US" sz="2600" dirty="0">
                <a:ea typeface="ＭＳ Ｐゴシック" panose="020B0600070205080204" pitchFamily="34" charset="-128"/>
              </a:rPr>
              <a:t> and such that the </a:t>
            </a:r>
            <a:r>
              <a:rPr lang="en-US" altLang="en-US" sz="2600" i="1" dirty="0" err="1">
                <a:ea typeface="ＭＳ Ｐゴシック" panose="020B0600070205080204" pitchFamily="34" charset="-128"/>
              </a:rPr>
              <a:t>r</a:t>
            </a:r>
            <a:r>
              <a:rPr lang="en-US" altLang="en-US" sz="2600" i="1" baseline="-25000" dirty="0" err="1">
                <a:ea typeface="ＭＳ Ｐゴシック" panose="020B0600070205080204" pitchFamily="34" charset="-128"/>
              </a:rPr>
              <a:t>i</a:t>
            </a:r>
            <a:r>
              <a:rPr lang="en-US" altLang="en-US" sz="2600" dirty="0">
                <a:ea typeface="ＭＳ Ｐゴシック" panose="020B0600070205080204" pitchFamily="34" charset="-128"/>
              </a:rPr>
              <a:t> relation states satisfy the integrity constraints specified in IC. </a:t>
            </a:r>
          </a:p>
          <a:p>
            <a:r>
              <a:rPr lang="en-US" altLang="en-US" sz="2600" dirty="0">
                <a:ea typeface="ＭＳ Ｐゴシック" panose="020B0600070205080204" pitchFamily="34" charset="-128"/>
              </a:rPr>
              <a:t>A relational database </a:t>
            </a:r>
            <a:r>
              <a:rPr lang="en-US" altLang="en-US" sz="2600" i="1" dirty="0">
                <a:ea typeface="ＭＳ Ｐゴシック" panose="020B0600070205080204" pitchFamily="34" charset="-128"/>
              </a:rPr>
              <a:t>state</a:t>
            </a:r>
            <a:r>
              <a:rPr lang="en-US" altLang="en-US" sz="2600" dirty="0">
                <a:ea typeface="ＭＳ Ｐゴシック" panose="020B0600070205080204" pitchFamily="34" charset="-128"/>
              </a:rPr>
              <a:t> is sometimes called a relational database </a:t>
            </a:r>
            <a:r>
              <a:rPr lang="en-US" altLang="en-US" sz="2600" i="1" dirty="0">
                <a:ea typeface="ＭＳ Ｐゴシック" panose="020B0600070205080204" pitchFamily="34" charset="-128"/>
              </a:rPr>
              <a:t>snapshot</a:t>
            </a:r>
            <a:r>
              <a:rPr lang="en-US" altLang="en-US" sz="2600" dirty="0">
                <a:ea typeface="ＭＳ Ｐゴシック" panose="020B0600070205080204" pitchFamily="34" charset="-128"/>
              </a:rPr>
              <a:t> or </a:t>
            </a:r>
            <a:r>
              <a:rPr lang="en-US" altLang="en-US" sz="2600" i="1" dirty="0">
                <a:ea typeface="ＭＳ Ｐゴシック" panose="020B0600070205080204" pitchFamily="34" charset="-128"/>
              </a:rPr>
              <a:t>instance</a:t>
            </a:r>
            <a:r>
              <a:rPr lang="en-US" altLang="en-US" sz="2600" dirty="0">
                <a:ea typeface="ＭＳ Ｐゴシック" panose="020B0600070205080204" pitchFamily="34" charset="-128"/>
              </a:rPr>
              <a:t>. </a:t>
            </a:r>
          </a:p>
          <a:p>
            <a:r>
              <a:rPr lang="en-US" altLang="en-US" sz="2600" dirty="0">
                <a:ea typeface="ＭＳ Ｐゴシック" panose="020B0600070205080204" pitchFamily="34" charset="-128"/>
              </a:rPr>
              <a:t>We will not use the term </a:t>
            </a:r>
            <a:r>
              <a:rPr lang="en-US" altLang="en-US" sz="2600" i="1" dirty="0">
                <a:ea typeface="ＭＳ Ｐゴシック" panose="020B0600070205080204" pitchFamily="34" charset="-128"/>
              </a:rPr>
              <a:t>instance</a:t>
            </a:r>
            <a:r>
              <a:rPr lang="en-US" altLang="en-US" sz="2600" dirty="0">
                <a:ea typeface="ＭＳ Ｐゴシック" panose="020B0600070205080204" pitchFamily="34" charset="-128"/>
              </a:rPr>
              <a:t> since it also applies to single tuples.</a:t>
            </a:r>
          </a:p>
          <a:p>
            <a:r>
              <a:rPr lang="en-US" altLang="en-US" sz="2600" dirty="0">
                <a:ea typeface="ＭＳ Ｐゴシック" panose="020B0600070205080204" pitchFamily="34" charset="-128"/>
              </a:rPr>
              <a:t>A database state that does not meet the constraints is an invalid state</a:t>
            </a:r>
          </a:p>
        </p:txBody>
      </p:sp>
    </p:spTree>
    <p:extLst>
      <p:ext uri="{BB962C8B-B14F-4D97-AF65-F5344CB8AC3E}">
        <p14:creationId xmlns:p14="http://schemas.microsoft.com/office/powerpoint/2010/main" val="10895222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Populated database state</a:t>
            </a:r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Each </a:t>
            </a:r>
            <a:r>
              <a:rPr lang="en-US" altLang="en-US" i="1">
                <a:ea typeface="ＭＳ Ｐゴシック" panose="020B0600070205080204" pitchFamily="34" charset="-128"/>
              </a:rPr>
              <a:t>relation</a:t>
            </a:r>
            <a:r>
              <a:rPr lang="en-US" altLang="en-US">
                <a:ea typeface="ＭＳ Ｐゴシック" panose="020B0600070205080204" pitchFamily="34" charset="-128"/>
              </a:rPr>
              <a:t> will have many tuples in its current relation state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 i="1">
                <a:ea typeface="ＭＳ Ｐゴシック" panose="020B0600070205080204" pitchFamily="34" charset="-128"/>
              </a:rPr>
              <a:t>relational database state</a:t>
            </a:r>
            <a:r>
              <a:rPr lang="en-US" altLang="en-US">
                <a:ea typeface="ＭＳ Ｐゴシック" panose="020B0600070205080204" pitchFamily="34" charset="-128"/>
              </a:rPr>
              <a:t> is a union of all the individual relation states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Whenever the database is changed, a new state arises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Basic operations for changing the database:</a:t>
            </a:r>
          </a:p>
          <a:p>
            <a:pPr lvl="1" eaLnBrk="1" hangingPunct="1"/>
            <a:r>
              <a:rPr lang="en-US" altLang="en-US" sz="2200">
                <a:ea typeface="ＭＳ Ｐゴシック" panose="020B0600070205080204" pitchFamily="34" charset="-128"/>
              </a:rPr>
              <a:t>INSERT a new tuple in a relation</a:t>
            </a:r>
          </a:p>
          <a:p>
            <a:pPr lvl="1" eaLnBrk="1" hangingPunct="1"/>
            <a:r>
              <a:rPr lang="en-US" altLang="en-US" sz="2200">
                <a:ea typeface="ＭＳ Ｐゴシック" panose="020B0600070205080204" pitchFamily="34" charset="-128"/>
              </a:rPr>
              <a:t>DELETE an existing tuple from a relation</a:t>
            </a:r>
          </a:p>
          <a:p>
            <a:pPr lvl="1" eaLnBrk="1" hangingPunct="1"/>
            <a:r>
              <a:rPr lang="en-US" altLang="en-US" sz="2200">
                <a:ea typeface="ＭＳ Ｐゴシック" panose="020B0600070205080204" pitchFamily="34" charset="-128"/>
              </a:rPr>
              <a:t>MODIFY an attribute of an existing tuple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Next slide (Fig. 5.6) shows an example state for the COMPANY database schema shown in Fig. 5.5.</a:t>
            </a:r>
          </a:p>
        </p:txBody>
      </p:sp>
    </p:spTree>
    <p:extLst>
      <p:ext uri="{BB962C8B-B14F-4D97-AF65-F5344CB8AC3E}">
        <p14:creationId xmlns:p14="http://schemas.microsoft.com/office/powerpoint/2010/main" val="8255581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9" descr="fig05_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118" y="652895"/>
            <a:ext cx="4345109" cy="553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Text Box 10" descr="Pink tissue paper"/>
          <p:cNvSpPr txBox="1">
            <a:spLocks noChangeArrowheads="1"/>
          </p:cNvSpPr>
          <p:nvPr/>
        </p:nvSpPr>
        <p:spPr bwMode="auto">
          <a:xfrm>
            <a:off x="1905001" y="2438400"/>
            <a:ext cx="1966913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800000"/>
                </a:solidFill>
              </a:rPr>
              <a:t>Populated database state for COMPANY</a:t>
            </a:r>
          </a:p>
        </p:txBody>
      </p:sp>
    </p:spTree>
    <p:extLst>
      <p:ext uri="{BB962C8B-B14F-4D97-AF65-F5344CB8AC3E}">
        <p14:creationId xmlns:p14="http://schemas.microsoft.com/office/powerpoint/2010/main" val="86208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Entity Integrity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Entity Integrity: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</a:rPr>
              <a:t>The </a:t>
            </a:r>
            <a:r>
              <a:rPr lang="en-US" altLang="en-US" sz="2400" i="1">
                <a:ea typeface="ＭＳ Ｐゴシック" panose="020B0600070205080204" pitchFamily="34" charset="-128"/>
              </a:rPr>
              <a:t>primary key attributes</a:t>
            </a:r>
            <a:r>
              <a:rPr lang="en-US" altLang="en-US" sz="2400">
                <a:ea typeface="ＭＳ Ｐゴシック" panose="020B0600070205080204" pitchFamily="34" charset="-128"/>
              </a:rPr>
              <a:t> PK of each relation schema R in S cannot have null values in any tuple of r(R).</a:t>
            </a:r>
          </a:p>
          <a:p>
            <a:pPr lvl="2" eaLnBrk="1" hangingPunct="1"/>
            <a:r>
              <a:rPr lang="en-US" altLang="en-US" sz="2000">
                <a:ea typeface="ＭＳ Ｐゴシック" panose="020B0600070205080204" pitchFamily="34" charset="-128"/>
              </a:rPr>
              <a:t>This is because primary key values are used to </a:t>
            </a:r>
            <a:r>
              <a:rPr lang="en-US" altLang="en-US" sz="2000" i="1">
                <a:ea typeface="ＭＳ Ｐゴシック" panose="020B0600070205080204" pitchFamily="34" charset="-128"/>
              </a:rPr>
              <a:t>identify</a:t>
            </a:r>
            <a:r>
              <a:rPr lang="en-US" altLang="en-US" sz="2000">
                <a:ea typeface="ＭＳ Ｐゴシック" panose="020B0600070205080204" pitchFamily="34" charset="-128"/>
              </a:rPr>
              <a:t> the individual tuples.</a:t>
            </a:r>
          </a:p>
          <a:p>
            <a:pPr lvl="2" eaLnBrk="1" hangingPunct="1"/>
            <a:r>
              <a:rPr lang="en-US" altLang="en-US" sz="2000">
                <a:ea typeface="ＭＳ Ｐゴシック" panose="020B0600070205080204" pitchFamily="34" charset="-128"/>
              </a:rPr>
              <a:t>t[PK] </a:t>
            </a:r>
            <a:r>
              <a:rPr lang="en-US" altLang="en-US" sz="2000">
                <a:ea typeface="ＭＳ Ｐゴシック" panose="020B0600070205080204" pitchFamily="34" charset="-128"/>
                <a:sym typeface="Symbol" panose="05050102010706020507" pitchFamily="18" charset="2"/>
              </a:rPr>
              <a:t></a:t>
            </a:r>
            <a:r>
              <a:rPr lang="en-US" altLang="en-US" sz="2000">
                <a:ea typeface="ＭＳ Ｐゴシック" panose="020B0600070205080204" pitchFamily="34" charset="-128"/>
              </a:rPr>
              <a:t> null for any tuple t in r(R)</a:t>
            </a:r>
          </a:p>
          <a:p>
            <a:pPr lvl="2" eaLnBrk="1" hangingPunct="1"/>
            <a:r>
              <a:rPr lang="en-US" altLang="en-US" sz="2000">
                <a:ea typeface="ＭＳ Ｐゴシック" panose="020B0600070205080204" pitchFamily="34" charset="-128"/>
              </a:rPr>
              <a:t>If PK has several attributes, null is not allowed in any of these attributes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</a:rPr>
              <a:t>Note: Other attributes of R may be constrained  to disallow null values, even though they are not members of the primary key.</a:t>
            </a:r>
          </a:p>
        </p:txBody>
      </p:sp>
    </p:spTree>
    <p:extLst>
      <p:ext uri="{BB962C8B-B14F-4D97-AF65-F5344CB8AC3E}">
        <p14:creationId xmlns:p14="http://schemas.microsoft.com/office/powerpoint/2010/main" val="114043050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Referential Integrity</a:t>
            </a:r>
          </a:p>
        </p:txBody>
      </p:sp>
      <p:sp>
        <p:nvSpPr>
          <p:cNvPr id="6349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A constraint involving 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two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relations</a:t>
            </a:r>
          </a:p>
          <a:p>
            <a:pPr lvl="1"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The previous constraints involve a single  relation.</a:t>
            </a:r>
          </a:p>
          <a:p>
            <a:pPr eaLnBrk="1" hangingPunct="1"/>
            <a:endParaRPr lang="en-US" altLang="en-US" dirty="0" smtClean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Used to specify a 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relationship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among tuples in two relations: </a:t>
            </a:r>
          </a:p>
          <a:p>
            <a:pPr lvl="1"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The 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referencing relation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and the 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referenced relation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944393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Referential Integrity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2" y="2650064"/>
            <a:ext cx="9601196" cy="3318936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Tuples in the 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referencing relation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R1 have attributes FK (called 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foreign key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attributes) that reference the primary key attributes PK of the 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referenced relation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R2.</a:t>
            </a:r>
          </a:p>
          <a:p>
            <a:pPr lvl="1"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A tuple t1 in R1 is said to 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reference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a tuple t2 in R2 if t1[FK] = t2[PK].</a:t>
            </a:r>
          </a:p>
          <a:p>
            <a:pPr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A referential integrity constraint can be displayed in a relational database schema as a directed arc from R1.FK to R2. </a:t>
            </a:r>
          </a:p>
        </p:txBody>
      </p:sp>
    </p:spTree>
    <p:extLst>
      <p:ext uri="{BB962C8B-B14F-4D97-AF65-F5344CB8AC3E}">
        <p14:creationId xmlns:p14="http://schemas.microsoft.com/office/powerpoint/2010/main" val="90613292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B12ED1FD-4AE2-4EB4-AA8B-4CD48D76C8FF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67587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Referential Integrity (or foreign key) </a:t>
            </a:r>
            <a:br>
              <a:rPr lang="en-US" altLang="en-US" smtClean="0">
                <a:ea typeface="ＭＳ Ｐゴシック" panose="020B0600070205080204" pitchFamily="34" charset="-128"/>
              </a:rPr>
            </a:br>
            <a:r>
              <a:rPr lang="en-US" altLang="en-US" smtClean="0">
                <a:ea typeface="ＭＳ Ｐゴシック" panose="020B0600070205080204" pitchFamily="34" charset="-128"/>
              </a:rPr>
              <a:t>Constraint</a:t>
            </a:r>
          </a:p>
        </p:txBody>
      </p:sp>
      <p:sp>
        <p:nvSpPr>
          <p:cNvPr id="6758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Statement of the constraint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The value in the foreign key column (or columns) FK of the </a:t>
            </a:r>
            <a:r>
              <a:rPr lang="en-US" altLang="en-US" b="1" smtClean="0">
                <a:ea typeface="ＭＳ Ｐゴシック" panose="020B0600070205080204" pitchFamily="34" charset="-128"/>
              </a:rPr>
              <a:t>referencing relation</a:t>
            </a:r>
            <a:r>
              <a:rPr lang="en-US" altLang="en-US" smtClean="0">
                <a:ea typeface="ＭＳ Ｐゴシック" panose="020B0600070205080204" pitchFamily="34" charset="-128"/>
              </a:rPr>
              <a:t> R1 can be </a:t>
            </a:r>
            <a:r>
              <a:rPr lang="en-US" altLang="en-US" b="1" smtClean="0">
                <a:ea typeface="ＭＳ Ｐゴシック" panose="020B0600070205080204" pitchFamily="34" charset="-128"/>
              </a:rPr>
              <a:t>either</a:t>
            </a:r>
            <a:r>
              <a:rPr lang="en-US" altLang="en-US" smtClean="0">
                <a:ea typeface="ＭＳ Ｐゴシック" panose="020B0600070205080204" pitchFamily="34" charset="-128"/>
              </a:rPr>
              <a:t>:</a:t>
            </a:r>
          </a:p>
          <a:p>
            <a:pPr lvl="2" eaLnBrk="1" hangingPunct="1"/>
            <a:r>
              <a:rPr lang="en-US" altLang="en-US" smtClean="0">
                <a:ea typeface="ＭＳ Ｐゴシック" panose="020B0600070205080204" pitchFamily="34" charset="-128"/>
              </a:rPr>
              <a:t>(1) a value of an existing primary key value of a corresponding primary key PK in the </a:t>
            </a:r>
            <a:r>
              <a:rPr lang="en-US" altLang="en-US" b="1" smtClean="0">
                <a:ea typeface="ＭＳ Ｐゴシック" panose="020B0600070205080204" pitchFamily="34" charset="-128"/>
              </a:rPr>
              <a:t>referenced relation</a:t>
            </a:r>
            <a:r>
              <a:rPr lang="en-US" altLang="en-US" smtClean="0">
                <a:ea typeface="ＭＳ Ｐゴシック" panose="020B0600070205080204" pitchFamily="34" charset="-128"/>
              </a:rPr>
              <a:t> R2, </a:t>
            </a:r>
            <a:r>
              <a:rPr lang="en-US" altLang="en-US" u="sng" smtClean="0">
                <a:ea typeface="ＭＳ Ｐゴシック" panose="020B0600070205080204" pitchFamily="34" charset="-128"/>
              </a:rPr>
              <a:t>or</a:t>
            </a:r>
          </a:p>
          <a:p>
            <a:pPr lvl="2" eaLnBrk="1" hangingPunct="1"/>
            <a:r>
              <a:rPr lang="en-US" altLang="en-US" smtClean="0">
                <a:ea typeface="ＭＳ Ｐゴシック" panose="020B0600070205080204" pitchFamily="34" charset="-128"/>
              </a:rPr>
              <a:t>(2) a </a:t>
            </a:r>
            <a:r>
              <a:rPr lang="en-US" altLang="en-US" b="1" smtClean="0">
                <a:ea typeface="ＭＳ Ｐゴシック" panose="020B0600070205080204" pitchFamily="34" charset="-128"/>
              </a:rPr>
              <a:t>null</a:t>
            </a:r>
            <a:r>
              <a:rPr lang="en-US" altLang="en-US" smtClean="0">
                <a:ea typeface="ＭＳ Ｐゴシック" panose="020B0600070205080204" pitchFamily="34" charset="-128"/>
              </a:rPr>
              <a:t>.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In case (2), the FK in R1 should </a:t>
            </a:r>
            <a:r>
              <a:rPr lang="en-US" altLang="en-US" b="1" smtClean="0">
                <a:ea typeface="ＭＳ Ｐゴシック" panose="020B0600070205080204" pitchFamily="34" charset="-128"/>
              </a:rPr>
              <a:t>not</a:t>
            </a:r>
            <a:r>
              <a:rPr lang="en-US" altLang="en-US" smtClean="0">
                <a:ea typeface="ＭＳ Ｐゴシック" panose="020B0600070205080204" pitchFamily="34" charset="-128"/>
              </a:rPr>
              <a:t> be a part of its own primary key.</a:t>
            </a:r>
          </a:p>
        </p:txBody>
      </p:sp>
    </p:spTree>
    <p:extLst>
      <p:ext uri="{BB962C8B-B14F-4D97-AF65-F5344CB8AC3E}">
        <p14:creationId xmlns:p14="http://schemas.microsoft.com/office/powerpoint/2010/main" val="24836403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Displaying a relational database schema and its constraints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Each relation schema can be displayed as a row of attribute names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The name of the relation is written above the attribute names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The primary key attribute (or attributes) will be underlined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A foreign key (referential integrity) constraints is displayed as a directed arc (arrow) from the foreign key attributes to the referenced table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Can also point to the primary key of the referenced relation for clarity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Next slide shows the COMPANY </a:t>
            </a:r>
            <a:r>
              <a:rPr lang="en-US" altLang="en-US" b="1">
                <a:ea typeface="ＭＳ Ｐゴシック" panose="020B0600070205080204" pitchFamily="34" charset="-128"/>
              </a:rPr>
              <a:t>relational schema diagram with referential integrity constraints </a:t>
            </a:r>
          </a:p>
        </p:txBody>
      </p:sp>
    </p:spTree>
    <p:extLst>
      <p:ext uri="{BB962C8B-B14F-4D97-AF65-F5344CB8AC3E}">
        <p14:creationId xmlns:p14="http://schemas.microsoft.com/office/powerpoint/2010/main" val="203556827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3" name="Picture 5" descr="fig05_0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5631" y="847818"/>
            <a:ext cx="7065724" cy="5245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4" name="Text Box 6" descr="Pink tissue paper"/>
          <p:cNvSpPr txBox="1">
            <a:spLocks noChangeArrowheads="1"/>
          </p:cNvSpPr>
          <p:nvPr/>
        </p:nvSpPr>
        <p:spPr bwMode="auto">
          <a:xfrm>
            <a:off x="778225" y="847818"/>
            <a:ext cx="23622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800000"/>
                </a:solidFill>
              </a:rPr>
              <a:t>Referential Integrity Constraints for COMPANY database </a:t>
            </a:r>
          </a:p>
        </p:txBody>
      </p:sp>
    </p:spTree>
    <p:extLst>
      <p:ext uri="{BB962C8B-B14F-4D97-AF65-F5344CB8AC3E}">
        <p14:creationId xmlns:p14="http://schemas.microsoft.com/office/powerpoint/2010/main" val="613443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4"/>
          <p:cNvSpPr>
            <a:spLocks noGrp="1" noChangeArrowheads="1"/>
          </p:cNvSpPr>
          <p:nvPr>
            <p:ph type="title"/>
          </p:nvPr>
        </p:nvSpPr>
        <p:spPr>
          <a:xfrm>
            <a:off x="1304279" y="635903"/>
            <a:ext cx="9601196" cy="1303867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Other Types of Constraints</a:t>
            </a:r>
          </a:p>
        </p:txBody>
      </p:sp>
      <p:sp>
        <p:nvSpPr>
          <p:cNvPr id="7373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065320" y="1939770"/>
            <a:ext cx="10058400" cy="3866226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Semantic Integrity Constraints:</a:t>
            </a:r>
          </a:p>
          <a:p>
            <a:pPr lvl="1" eaLnBrk="1" hangingPunct="1"/>
            <a:r>
              <a:rPr lang="en-US" altLang="en-US" sz="2400" dirty="0">
                <a:ea typeface="ＭＳ Ｐゴシック" panose="020B0600070205080204" pitchFamily="34" charset="-128"/>
              </a:rPr>
              <a:t>based on application semantics and cannot be expressed by the model per se</a:t>
            </a:r>
          </a:p>
          <a:p>
            <a:pPr lvl="1" eaLnBrk="1" hangingPunct="1"/>
            <a:r>
              <a:rPr lang="en-US" altLang="en-US" sz="2400" dirty="0">
                <a:ea typeface="ＭＳ Ｐゴシック" panose="020B0600070205080204" pitchFamily="34" charset="-128"/>
              </a:rPr>
              <a:t>Example: “the max. no. of hours per employee for all projects he or she works on is 56 </a:t>
            </a:r>
            <a:r>
              <a:rPr lang="en-US" altLang="en-US" sz="2400" dirty="0" err="1">
                <a:ea typeface="ＭＳ Ｐゴシック" panose="020B0600070205080204" pitchFamily="34" charset="-128"/>
              </a:rPr>
              <a:t>hrs</a:t>
            </a:r>
            <a:r>
              <a:rPr lang="en-US" altLang="en-US" sz="2400" dirty="0">
                <a:ea typeface="ＭＳ Ｐゴシック" panose="020B0600070205080204" pitchFamily="34" charset="-128"/>
              </a:rPr>
              <a:t> per week”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A </a:t>
            </a:r>
            <a:r>
              <a:rPr lang="en-US" altLang="en-US" b="1" dirty="0">
                <a:ea typeface="ＭＳ Ｐゴシック" panose="020B0600070205080204" pitchFamily="34" charset="-128"/>
              </a:rPr>
              <a:t>constraint specification</a:t>
            </a:r>
            <a:r>
              <a:rPr lang="en-US" altLang="en-US" dirty="0">
                <a:ea typeface="ＭＳ Ｐゴシック" panose="020B0600070205080204" pitchFamily="34" charset="-128"/>
              </a:rPr>
              <a:t> language may have to be used to express these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SQL-99 allows </a:t>
            </a:r>
            <a:r>
              <a:rPr lang="en-US" altLang="en-US" b="1" dirty="0">
                <a:ea typeface="ＭＳ Ｐゴシック" panose="020B0600070205080204" pitchFamily="34" charset="-128"/>
              </a:rPr>
              <a:t>CREATE TRIGGER </a:t>
            </a:r>
            <a:r>
              <a:rPr lang="en-US" altLang="en-US" dirty="0">
                <a:ea typeface="ＭＳ Ｐゴシック" panose="020B0600070205080204" pitchFamily="34" charset="-128"/>
              </a:rPr>
              <a:t>and </a:t>
            </a:r>
            <a:r>
              <a:rPr lang="en-US" altLang="en-US" b="1" dirty="0">
                <a:ea typeface="ＭＳ Ｐゴシック" panose="020B0600070205080204" pitchFamily="34" charset="-128"/>
              </a:rPr>
              <a:t>CREATE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b="1" dirty="0">
                <a:ea typeface="ＭＳ Ｐゴシック" panose="020B0600070205080204" pitchFamily="34" charset="-128"/>
              </a:rPr>
              <a:t>ASSERTION</a:t>
            </a:r>
            <a:r>
              <a:rPr lang="en-US" altLang="en-US" dirty="0">
                <a:ea typeface="ＭＳ Ｐゴシック" panose="020B0600070205080204" pitchFamily="34" charset="-128"/>
              </a:rPr>
              <a:t> to express some of these semantic constraints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Keys, Permissibility of Null values, Candidate Keys (Unique in SQL), Foreign Keys, Referential Integrity etc. are expressed by the </a:t>
            </a:r>
            <a:r>
              <a:rPr lang="en-US" altLang="en-US" b="1" dirty="0">
                <a:ea typeface="ＭＳ Ｐゴシック" panose="020B0600070205080204" pitchFamily="34" charset="-128"/>
              </a:rPr>
              <a:t>CREATE TABLE </a:t>
            </a:r>
            <a:r>
              <a:rPr lang="en-US" altLang="en-US" dirty="0">
                <a:ea typeface="ＭＳ Ｐゴシック" panose="020B0600070205080204" pitchFamily="34" charset="-128"/>
              </a:rPr>
              <a:t>statement in SQL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240515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Update Operations on Relations</a:t>
            </a:r>
          </a:p>
        </p:txBody>
      </p:sp>
      <p:sp>
        <p:nvSpPr>
          <p:cNvPr id="75780" name="Rectangle 102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INSERT a tuple.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DELETE a tuple.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MODIFY a tuple.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Integrity constraints should not be violated by the update operations.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Several update operations may have to be grouped together.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Updates may </a:t>
            </a:r>
            <a:r>
              <a:rPr lang="en-US" altLang="en-US" b="1" smtClean="0">
                <a:ea typeface="ＭＳ Ｐゴシック" panose="020B0600070205080204" pitchFamily="34" charset="-128"/>
              </a:rPr>
              <a:t>propagate</a:t>
            </a:r>
            <a:r>
              <a:rPr lang="en-US" altLang="en-US" smtClean="0">
                <a:ea typeface="ＭＳ Ｐゴシック" panose="020B0600070205080204" pitchFamily="34" charset="-128"/>
              </a:rPr>
              <a:t>  to cause other updates automatically. This may be necessary to maintain integrity constraints.</a:t>
            </a:r>
          </a:p>
        </p:txBody>
      </p:sp>
    </p:spTree>
    <p:extLst>
      <p:ext uri="{BB962C8B-B14F-4D97-AF65-F5344CB8AC3E}">
        <p14:creationId xmlns:p14="http://schemas.microsoft.com/office/powerpoint/2010/main" val="273821437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Update Operations on Relations</a:t>
            </a:r>
          </a:p>
        </p:txBody>
      </p:sp>
      <p:sp>
        <p:nvSpPr>
          <p:cNvPr id="7782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In case of integrity violation, several actions can be taken: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Cancel the operation that causes the violation (RESTRICT or REJECT option)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Perform the operation but inform the user of the violation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Trigger additional updates so the violation is corrected (CASCADE option, SET NULL option)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Execute a user-specified error-correction routine </a:t>
            </a:r>
          </a:p>
        </p:txBody>
      </p:sp>
    </p:spTree>
    <p:extLst>
      <p:ext uri="{BB962C8B-B14F-4D97-AF65-F5344CB8AC3E}">
        <p14:creationId xmlns:p14="http://schemas.microsoft.com/office/powerpoint/2010/main" val="31238434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Possible violations for each operation</a:t>
            </a:r>
          </a:p>
        </p:txBody>
      </p:sp>
      <p:sp>
        <p:nvSpPr>
          <p:cNvPr id="79876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INSERT may violate any of the constraints:</a:t>
            </a:r>
          </a:p>
          <a:p>
            <a:pPr lvl="1" eaLnBrk="1" hangingPunct="1"/>
            <a:r>
              <a:rPr lang="en-US" altLang="en-US" sz="2200">
                <a:ea typeface="ＭＳ Ｐゴシック" panose="020B0600070205080204" pitchFamily="34" charset="-128"/>
              </a:rPr>
              <a:t>Domain constraint:</a:t>
            </a:r>
          </a:p>
          <a:p>
            <a:pPr lvl="2" eaLnBrk="1" hangingPunct="1"/>
            <a:r>
              <a:rPr lang="en-US" altLang="en-US" sz="2000">
                <a:ea typeface="ＭＳ Ｐゴシック" panose="020B0600070205080204" pitchFamily="34" charset="-128"/>
              </a:rPr>
              <a:t>if one of the attribute values provided for the new tuple is not of the specified attribute domain</a:t>
            </a:r>
          </a:p>
          <a:p>
            <a:pPr lvl="1" eaLnBrk="1" hangingPunct="1"/>
            <a:r>
              <a:rPr lang="en-US" altLang="en-US" sz="2200">
                <a:ea typeface="ＭＳ Ｐゴシック" panose="020B0600070205080204" pitchFamily="34" charset="-128"/>
              </a:rPr>
              <a:t>Key constraint:</a:t>
            </a:r>
          </a:p>
          <a:p>
            <a:pPr lvl="2" eaLnBrk="1" hangingPunct="1"/>
            <a:r>
              <a:rPr lang="en-US" altLang="en-US" sz="2000">
                <a:ea typeface="ＭＳ Ｐゴシック" panose="020B0600070205080204" pitchFamily="34" charset="-128"/>
              </a:rPr>
              <a:t>if the value of a key attribute in the new tuple already exists in another tuple in the relation</a:t>
            </a:r>
          </a:p>
          <a:p>
            <a:pPr lvl="1" eaLnBrk="1" hangingPunct="1"/>
            <a:r>
              <a:rPr lang="en-US" altLang="en-US" sz="2200">
                <a:ea typeface="ＭＳ Ｐゴシック" panose="020B0600070205080204" pitchFamily="34" charset="-128"/>
              </a:rPr>
              <a:t>Referential integrity:</a:t>
            </a:r>
          </a:p>
          <a:p>
            <a:pPr lvl="2" eaLnBrk="1" hangingPunct="1"/>
            <a:r>
              <a:rPr lang="en-US" altLang="en-US" sz="2000">
                <a:ea typeface="ＭＳ Ｐゴシック" panose="020B0600070205080204" pitchFamily="34" charset="-128"/>
              </a:rPr>
              <a:t>if a foreign key value in the new tuple references a primary key value that does not exist in the referenced relation</a:t>
            </a:r>
          </a:p>
          <a:p>
            <a:pPr lvl="1" eaLnBrk="1" hangingPunct="1"/>
            <a:r>
              <a:rPr lang="en-US" altLang="en-US" sz="2200">
                <a:ea typeface="ＭＳ Ｐゴシック" panose="020B0600070205080204" pitchFamily="34" charset="-128"/>
              </a:rPr>
              <a:t>Entity integrity:</a:t>
            </a:r>
          </a:p>
          <a:p>
            <a:pPr lvl="2" eaLnBrk="1" hangingPunct="1"/>
            <a:r>
              <a:rPr lang="en-US" altLang="en-US" sz="2000">
                <a:ea typeface="ＭＳ Ｐゴシック" panose="020B0600070205080204" pitchFamily="34" charset="-128"/>
              </a:rPr>
              <a:t>if the primary key value is null in the new tuple</a:t>
            </a:r>
          </a:p>
        </p:txBody>
      </p:sp>
    </p:spTree>
    <p:extLst>
      <p:ext uri="{BB962C8B-B14F-4D97-AF65-F5344CB8AC3E}">
        <p14:creationId xmlns:p14="http://schemas.microsoft.com/office/powerpoint/2010/main" val="356975063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Possible violations for each operation</a:t>
            </a:r>
          </a:p>
        </p:txBody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DELETE may violate only referential integrity:</a:t>
            </a:r>
          </a:p>
          <a:p>
            <a:pPr lvl="1" eaLnBrk="1" hangingPunct="1"/>
            <a:r>
              <a:rPr lang="en-US" altLang="en-US" sz="2200">
                <a:ea typeface="ＭＳ Ｐゴシック" panose="020B0600070205080204" pitchFamily="34" charset="-128"/>
              </a:rPr>
              <a:t>If the primary key value of the tuple being deleted is referenced from other tuples in the database</a:t>
            </a:r>
          </a:p>
          <a:p>
            <a:pPr lvl="2" eaLnBrk="1" hangingPunct="1"/>
            <a:r>
              <a:rPr lang="en-US" altLang="en-US" sz="2000">
                <a:ea typeface="ＭＳ Ｐゴシック" panose="020B0600070205080204" pitchFamily="34" charset="-128"/>
              </a:rPr>
              <a:t>Can be remedied by several actions: RESTRICT, CASCADE, SET NULL (see Chapter 6 for more details)</a:t>
            </a:r>
          </a:p>
          <a:p>
            <a:pPr lvl="3" eaLnBrk="1" hangingPunct="1"/>
            <a:r>
              <a:rPr lang="en-US" altLang="en-US" sz="1800">
                <a:ea typeface="ＭＳ Ｐゴシック" panose="020B0600070205080204" pitchFamily="34" charset="-128"/>
              </a:rPr>
              <a:t>RESTRICT option: reject the deletion</a:t>
            </a:r>
          </a:p>
          <a:p>
            <a:pPr lvl="3" eaLnBrk="1" hangingPunct="1"/>
            <a:r>
              <a:rPr lang="en-US" altLang="en-US" sz="1800">
                <a:ea typeface="ＭＳ Ｐゴシック" panose="020B0600070205080204" pitchFamily="34" charset="-128"/>
              </a:rPr>
              <a:t>CASCADE option: propagate the new primary key value into the foreign keys of the referencing tuples</a:t>
            </a:r>
          </a:p>
          <a:p>
            <a:pPr lvl="3" eaLnBrk="1" hangingPunct="1"/>
            <a:r>
              <a:rPr lang="en-US" altLang="en-US" sz="1800">
                <a:ea typeface="ＭＳ Ｐゴシック" panose="020B0600070205080204" pitchFamily="34" charset="-128"/>
              </a:rPr>
              <a:t>SET NULL option: set the foreign keys of the referencing tuples to NULL</a:t>
            </a:r>
          </a:p>
          <a:p>
            <a:pPr lvl="1" eaLnBrk="1" hangingPunct="1"/>
            <a:r>
              <a:rPr lang="en-US" altLang="en-US" sz="2200">
                <a:ea typeface="ＭＳ Ｐゴシック" panose="020B0600070205080204" pitchFamily="34" charset="-128"/>
              </a:rPr>
              <a:t>One of the above options must be specified during database design for each foreign key constraint</a:t>
            </a:r>
          </a:p>
        </p:txBody>
      </p:sp>
    </p:spTree>
    <p:extLst>
      <p:ext uri="{BB962C8B-B14F-4D97-AF65-F5344CB8AC3E}">
        <p14:creationId xmlns:p14="http://schemas.microsoft.com/office/powerpoint/2010/main" val="43796511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Possible violations for each operation</a:t>
            </a:r>
          </a:p>
        </p:txBody>
      </p:sp>
      <p:sp>
        <p:nvSpPr>
          <p:cNvPr id="8192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UPDATE may violate domain constraint and NOT NULL constraint on an attribute being modified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Any of the other constraints may also be violated, depending on the attribute being updated:</a:t>
            </a:r>
          </a:p>
          <a:p>
            <a:pPr lvl="1" eaLnBrk="1" hangingPunct="1"/>
            <a:r>
              <a:rPr lang="en-US" altLang="en-US" sz="2200">
                <a:ea typeface="ＭＳ Ｐゴシック" panose="020B0600070205080204" pitchFamily="34" charset="-128"/>
              </a:rPr>
              <a:t>Updating the primary key (PK):</a:t>
            </a:r>
          </a:p>
          <a:p>
            <a:pPr lvl="2" eaLnBrk="1" hangingPunct="1"/>
            <a:r>
              <a:rPr lang="en-US" altLang="en-US" sz="2000">
                <a:ea typeface="ＭＳ Ｐゴシック" panose="020B0600070205080204" pitchFamily="34" charset="-128"/>
              </a:rPr>
              <a:t>Similar to a DELETE followed by an INSERT</a:t>
            </a:r>
          </a:p>
          <a:p>
            <a:pPr lvl="2" eaLnBrk="1" hangingPunct="1"/>
            <a:r>
              <a:rPr lang="en-US" altLang="en-US" sz="2000">
                <a:ea typeface="ＭＳ Ｐゴシック" panose="020B0600070205080204" pitchFamily="34" charset="-128"/>
              </a:rPr>
              <a:t>Need to specify similar options to DELETE</a:t>
            </a:r>
          </a:p>
          <a:p>
            <a:pPr lvl="1" eaLnBrk="1" hangingPunct="1"/>
            <a:r>
              <a:rPr lang="en-US" altLang="en-US" sz="2200">
                <a:ea typeface="ＭＳ Ｐゴシック" panose="020B0600070205080204" pitchFamily="34" charset="-128"/>
              </a:rPr>
              <a:t>Updating a foreign key (FK):</a:t>
            </a:r>
          </a:p>
          <a:p>
            <a:pPr lvl="2" eaLnBrk="1" hangingPunct="1"/>
            <a:r>
              <a:rPr lang="en-US" altLang="en-US" sz="2000">
                <a:ea typeface="ＭＳ Ｐゴシック" panose="020B0600070205080204" pitchFamily="34" charset="-128"/>
              </a:rPr>
              <a:t>May violate referential integrity</a:t>
            </a:r>
          </a:p>
          <a:p>
            <a:pPr lvl="1" eaLnBrk="1" hangingPunct="1"/>
            <a:r>
              <a:rPr lang="en-US" altLang="en-US" sz="2200">
                <a:ea typeface="ＭＳ Ｐゴシック" panose="020B0600070205080204" pitchFamily="34" charset="-128"/>
              </a:rPr>
              <a:t>Updating an ordinary attribute (neither PK nor FK):</a:t>
            </a:r>
          </a:p>
          <a:p>
            <a:pPr lvl="2" eaLnBrk="1" hangingPunct="1"/>
            <a:r>
              <a:rPr lang="en-US" altLang="en-US" sz="2000">
                <a:ea typeface="ＭＳ Ｐゴシック" panose="020B0600070205080204" pitchFamily="34" charset="-128"/>
              </a:rPr>
              <a:t>Can only violate domain constraints</a:t>
            </a:r>
          </a:p>
        </p:txBody>
      </p:sp>
    </p:spTree>
    <p:extLst>
      <p:ext uri="{BB962C8B-B14F-4D97-AF65-F5344CB8AC3E}">
        <p14:creationId xmlns:p14="http://schemas.microsoft.com/office/powerpoint/2010/main" val="174123211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5"/>
          <p:cNvSpPr>
            <a:spLocks noGrp="1" noChangeArrowheads="1"/>
          </p:cNvSpPr>
          <p:nvPr>
            <p:ph type="title"/>
          </p:nvPr>
        </p:nvSpPr>
        <p:spPr>
          <a:xfrm>
            <a:off x="1219202" y="631464"/>
            <a:ext cx="9601196" cy="1303867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In-Class Exercise</a:t>
            </a:r>
          </a:p>
        </p:txBody>
      </p:sp>
      <p:sp>
        <p:nvSpPr>
          <p:cNvPr id="82948" name="Text Box 3"/>
          <p:cNvSpPr txBox="1">
            <a:spLocks noChangeArrowheads="1"/>
          </p:cNvSpPr>
          <p:nvPr/>
        </p:nvSpPr>
        <p:spPr bwMode="auto">
          <a:xfrm>
            <a:off x="1384917" y="1935331"/>
            <a:ext cx="9880846" cy="3939540"/>
          </a:xfrm>
          <a:prstGeom prst="rect">
            <a:avLst/>
          </a:prstGeom>
          <a:noFill/>
          <a:ln w="9525">
            <a:solidFill>
              <a:srgbClr val="9900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(Taken from Exercise 5.15)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Consider the following relations for a database that keeps track of student enrollment in courses and the books adopted for each course: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STUDENT(</a:t>
            </a:r>
            <a:r>
              <a:rPr lang="en-US" altLang="en-US" sz="2000" u="sng" dirty="0">
                <a:solidFill>
                  <a:schemeClr val="bg2"/>
                </a:solidFill>
                <a:latin typeface="Times New Roman" panose="02020603050405020304" pitchFamily="18" charset="0"/>
              </a:rPr>
              <a:t>SSN</a:t>
            </a:r>
            <a:r>
              <a:rPr lang="en-US" altLang="en-US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, Name, Major, </a:t>
            </a:r>
            <a:r>
              <a:rPr lang="en-US" altLang="en-US" sz="20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Bdate</a:t>
            </a:r>
            <a:r>
              <a:rPr lang="en-US" altLang="en-US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COURSE(</a:t>
            </a:r>
            <a:r>
              <a:rPr lang="en-US" altLang="en-US" sz="2000" u="sng" dirty="0">
                <a:solidFill>
                  <a:schemeClr val="bg2"/>
                </a:solidFill>
                <a:latin typeface="Times New Roman" panose="02020603050405020304" pitchFamily="18" charset="0"/>
              </a:rPr>
              <a:t>Course#</a:t>
            </a:r>
            <a:r>
              <a:rPr lang="en-US" altLang="en-US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0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Cname</a:t>
            </a:r>
            <a:r>
              <a:rPr lang="en-US" altLang="en-US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0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Dept</a:t>
            </a:r>
            <a:r>
              <a:rPr lang="en-US" altLang="en-US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ENROLL(</a:t>
            </a:r>
            <a:r>
              <a:rPr lang="en-US" altLang="en-US" sz="2000" u="sng" dirty="0">
                <a:solidFill>
                  <a:schemeClr val="bg2"/>
                </a:solidFill>
                <a:latin typeface="Times New Roman" panose="02020603050405020304" pitchFamily="18" charset="0"/>
              </a:rPr>
              <a:t>SSN</a:t>
            </a:r>
            <a:r>
              <a:rPr lang="en-US" altLang="en-US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000" u="sng" dirty="0">
                <a:solidFill>
                  <a:schemeClr val="bg2"/>
                </a:solidFill>
                <a:latin typeface="Times New Roman" panose="02020603050405020304" pitchFamily="18" charset="0"/>
              </a:rPr>
              <a:t>Course#</a:t>
            </a:r>
            <a:r>
              <a:rPr lang="en-US" altLang="en-US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000" u="sng" dirty="0">
                <a:solidFill>
                  <a:schemeClr val="bg2"/>
                </a:solidFill>
                <a:latin typeface="Times New Roman" panose="02020603050405020304" pitchFamily="18" charset="0"/>
              </a:rPr>
              <a:t>Quarter</a:t>
            </a:r>
            <a:r>
              <a:rPr lang="en-US" altLang="en-US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, Grade)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BOOK_ADOPTION(</a:t>
            </a:r>
            <a:r>
              <a:rPr lang="en-US" altLang="en-US" sz="2000" u="sng" dirty="0">
                <a:solidFill>
                  <a:schemeClr val="bg2"/>
                </a:solidFill>
                <a:latin typeface="Times New Roman" panose="02020603050405020304" pitchFamily="18" charset="0"/>
              </a:rPr>
              <a:t>Course#</a:t>
            </a:r>
            <a:r>
              <a:rPr lang="en-US" altLang="en-US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000" u="sng" dirty="0">
                <a:solidFill>
                  <a:schemeClr val="bg2"/>
                </a:solidFill>
                <a:latin typeface="Times New Roman" panose="02020603050405020304" pitchFamily="18" charset="0"/>
              </a:rPr>
              <a:t>Quarter</a:t>
            </a:r>
            <a:r>
              <a:rPr lang="en-US" altLang="en-US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0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Book_ISBN</a:t>
            </a:r>
            <a:r>
              <a:rPr lang="en-US" altLang="en-US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TEXT(</a:t>
            </a:r>
            <a:r>
              <a:rPr lang="en-US" altLang="en-US" sz="2000" u="sng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Book_ISBN</a:t>
            </a:r>
            <a:r>
              <a:rPr lang="en-US" altLang="en-US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000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Book_Title</a:t>
            </a:r>
            <a:r>
              <a:rPr lang="en-US" altLang="en-US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, Publisher, Author)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Draw a relational schema diagram specifying the foreign keys for this schema.</a:t>
            </a:r>
          </a:p>
        </p:txBody>
      </p:sp>
    </p:spTree>
    <p:extLst>
      <p:ext uri="{BB962C8B-B14F-4D97-AF65-F5344CB8AC3E}">
        <p14:creationId xmlns:p14="http://schemas.microsoft.com/office/powerpoint/2010/main" val="424842644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rganic">
  <a:themeElements>
    <a:clrScheme name="Organic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1311</TotalTime>
  <Words>3237</Words>
  <Application>Microsoft Office PowerPoint</Application>
  <PresentationFormat>Widescreen</PresentationFormat>
  <Paragraphs>334</Paragraphs>
  <Slides>44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Garamond</vt:lpstr>
      <vt:lpstr>Tahoma</vt:lpstr>
      <vt:lpstr>ＭＳ Ｐゴシック</vt:lpstr>
      <vt:lpstr>Arial</vt:lpstr>
      <vt:lpstr>Symbol</vt:lpstr>
      <vt:lpstr>Wingdings</vt:lpstr>
      <vt:lpstr>Times New Roman</vt:lpstr>
      <vt:lpstr>Organic</vt:lpstr>
      <vt:lpstr>Database Systems (CS2005)</vt:lpstr>
      <vt:lpstr> </vt:lpstr>
      <vt:lpstr>Relational Model Concepts</vt:lpstr>
      <vt:lpstr>Informal Definitions</vt:lpstr>
      <vt:lpstr>Example of a Relation</vt:lpstr>
      <vt:lpstr>Informal Definitions</vt:lpstr>
      <vt:lpstr>Formal Definitions - Schema</vt:lpstr>
      <vt:lpstr>Formal Definitions - Tuple</vt:lpstr>
      <vt:lpstr>Formal Definitions - Domain</vt:lpstr>
      <vt:lpstr>Formal Definitions - State</vt:lpstr>
      <vt:lpstr>Formal Definitions - Summary</vt:lpstr>
      <vt:lpstr>Formal Definitions - Example</vt:lpstr>
      <vt:lpstr>Definition Summary</vt:lpstr>
      <vt:lpstr>Example – A relation STUDENT</vt:lpstr>
      <vt:lpstr>Characteristics Of Relations</vt:lpstr>
      <vt:lpstr>Same state as previous Figure (but with different order of tuples)</vt:lpstr>
      <vt:lpstr>Characteristics Of Relations</vt:lpstr>
      <vt:lpstr>CONSTRAINTS</vt:lpstr>
      <vt:lpstr>1. Inherent or Implicit Constraints</vt:lpstr>
      <vt:lpstr>2. Schema-based or Explicit Constraints</vt:lpstr>
      <vt:lpstr>3. Application-based or Semantic Constraints</vt:lpstr>
      <vt:lpstr>Relational Integrity Constraints</vt:lpstr>
      <vt:lpstr>Superkey of R</vt:lpstr>
      <vt:lpstr>Key of R</vt:lpstr>
      <vt:lpstr>Key Constraints (continued)</vt:lpstr>
      <vt:lpstr>CAR table with two candidate keys – LicenseNumber chosen as Primary Key</vt:lpstr>
      <vt:lpstr>Relational Database Schema</vt:lpstr>
      <vt:lpstr>PowerPoint Presentation</vt:lpstr>
      <vt:lpstr>Relational Database State</vt:lpstr>
      <vt:lpstr>Populated database state</vt:lpstr>
      <vt:lpstr>PowerPoint Presentation</vt:lpstr>
      <vt:lpstr>Entity Integrity</vt:lpstr>
      <vt:lpstr>Referential Integrity</vt:lpstr>
      <vt:lpstr>Referential Integrity</vt:lpstr>
      <vt:lpstr>Referential Integrity (or foreign key)  Constraint</vt:lpstr>
      <vt:lpstr>Displaying a relational database schema and its constraints</vt:lpstr>
      <vt:lpstr>PowerPoint Presentation</vt:lpstr>
      <vt:lpstr>Other Types of Constraints</vt:lpstr>
      <vt:lpstr>Update Operations on Relations</vt:lpstr>
      <vt:lpstr>Update Operations on Relations</vt:lpstr>
      <vt:lpstr>Possible violations for each operation</vt:lpstr>
      <vt:lpstr>Possible violations for each operation</vt:lpstr>
      <vt:lpstr>Possible violations for each operation</vt:lpstr>
      <vt:lpstr>In-Class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 (CS2005)</dc:title>
  <cp:lastModifiedBy>Fast</cp:lastModifiedBy>
  <cp:revision>72</cp:revision>
  <dcterms:modified xsi:type="dcterms:W3CDTF">2024-09-04T03:40:34Z</dcterms:modified>
</cp:coreProperties>
</file>