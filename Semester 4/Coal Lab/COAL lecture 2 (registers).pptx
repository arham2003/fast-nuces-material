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8"/>
  </p:notesMasterIdLst>
  <p:sldIdLst>
    <p:sldId id="256" r:id="rId2"/>
    <p:sldId id="277" r:id="rId3"/>
    <p:sldId id="258" r:id="rId4"/>
    <p:sldId id="301" r:id="rId5"/>
    <p:sldId id="278" r:id="rId6"/>
    <p:sldId id="286" r:id="rId7"/>
    <p:sldId id="279" r:id="rId8"/>
    <p:sldId id="280" r:id="rId9"/>
    <p:sldId id="291" r:id="rId10"/>
    <p:sldId id="281" r:id="rId11"/>
    <p:sldId id="305" r:id="rId12"/>
    <p:sldId id="292" r:id="rId13"/>
    <p:sldId id="283" r:id="rId14"/>
    <p:sldId id="304" r:id="rId15"/>
    <p:sldId id="306" r:id="rId16"/>
    <p:sldId id="294" r:id="rId17"/>
    <p:sldId id="284" r:id="rId18"/>
    <p:sldId id="293" r:id="rId19"/>
    <p:sldId id="302" r:id="rId20"/>
    <p:sldId id="303" r:id="rId21"/>
    <p:sldId id="308" r:id="rId22"/>
    <p:sldId id="307" r:id="rId23"/>
    <p:sldId id="310" r:id="rId24"/>
    <p:sldId id="309" r:id="rId25"/>
    <p:sldId id="311" r:id="rId26"/>
    <p:sldId id="31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09" autoAdjust="0"/>
    <p:restoredTop sz="94434" autoAdjust="0"/>
  </p:normalViewPr>
  <p:slideViewPr>
    <p:cSldViewPr snapToGrid="0">
      <p:cViewPr varScale="1">
        <p:scale>
          <a:sx n="63" d="100"/>
          <a:sy n="63" d="100"/>
        </p:scale>
        <p:origin x="564" y="64"/>
      </p:cViewPr>
      <p:guideLst/>
    </p:cSldViewPr>
  </p:slideViewPr>
  <p:outlineViewPr>
    <p:cViewPr>
      <p:scale>
        <a:sx n="33" d="100"/>
        <a:sy n="33" d="100"/>
      </p:scale>
      <p:origin x="0" y="-1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DE2E2-4382-47B0-99EA-56611D0B7D4C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72A98-6ECA-49E9-86B1-D8AABA811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82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272A98-6ECA-49E9-86B1-D8AABA811C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12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9947-8138-4DE3-836D-6CE18F664EC7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2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18BE7-4789-48F6-B484-F7D42889FFA7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51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DCA12-9880-4D3F-97A9-B7067FDDD503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590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2AEC-2881-488C-9754-30EEBC3705AA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8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6E0A-F93E-44E5-BC0F-3128B464252D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24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ED737-65D3-48FC-842E-86055D2350C2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3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28FB-DABA-4FC9-BE22-617C04D2C4BC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12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218CA-9424-4F41-9CF4-90F51F4E98C3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34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5420-D1C5-4C42-BC2A-68E1D36EC1F2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03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9A2A-4208-4AA5-BB90-0E55305A9857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92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0FEF7-2598-4BAA-8BFA-0F27AA3B5800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778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8B0C-F5F7-427E-B21E-AA425A9A37BD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65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C0D24-AD0A-4942-BA26-C80A29265C92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1311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1A138-AB4C-4B63-A2DA-7D626BDC217A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78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8CBD-44C1-4118-B3D7-AC1BB7262421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486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A5DB2-7037-495D-BCE4-CE8D004ED358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90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35F7A-0A9A-4E9C-9E1B-5FCC64CF028F}" type="datetime1">
              <a:rPr lang="en-US" smtClean="0"/>
              <a:t>1/11/2022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39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8000" y="527351"/>
            <a:ext cx="8915399" cy="2305318"/>
          </a:xfrm>
        </p:spPr>
        <p:txBody>
          <a:bodyPr>
            <a:normAutofit fontScale="90000"/>
          </a:bodyPr>
          <a:lstStyle/>
          <a:p>
            <a:pPr algn="r"/>
            <a:r>
              <a:rPr lang="en-US" sz="6000" b="1" dirty="0"/>
              <a:t>University of </a:t>
            </a:r>
            <a:r>
              <a:rPr lang="en-US" sz="6000" b="1" dirty="0" err="1"/>
              <a:t>Gujrat</a:t>
            </a:r>
            <a:br>
              <a:rPr lang="en-US" sz="6000" b="1" dirty="0"/>
            </a:br>
            <a:r>
              <a:rPr lang="en-US" sz="4400" b="1" dirty="0"/>
              <a:t>Department of Computer Science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8002" y="2832669"/>
            <a:ext cx="8915399" cy="1126283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 Rounded MT Bold" panose="020F0704030504030204" pitchFamily="34" charset="0"/>
              </a:rPr>
              <a:t>Course Code : CS-252 </a:t>
            </a:r>
          </a:p>
          <a:p>
            <a:pPr algn="ctr"/>
            <a:r>
              <a:rPr lang="en-US" sz="2800" dirty="0">
                <a:latin typeface="Arial Rounded MT Bold" panose="020F0704030504030204" pitchFamily="34" charset="0"/>
              </a:rPr>
              <a:t>Computer Organization and Assembly Language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718000" y="4427502"/>
            <a:ext cx="8915399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dirty="0">
                <a:latin typeface="Arial Rounded MT Bold" panose="020F0704030504030204" pitchFamily="34" charset="0"/>
              </a:rPr>
              <a:t>Lecture # 4</a:t>
            </a:r>
          </a:p>
          <a:p>
            <a:pPr algn="ctr"/>
            <a:r>
              <a:rPr lang="en-US" sz="3400" dirty="0">
                <a:latin typeface="Arial Rounded MT Bold" panose="020F0704030504030204" pitchFamily="34" charset="0"/>
              </a:rPr>
              <a:t>Registers, Memory Segmentation</a:t>
            </a:r>
          </a:p>
          <a:p>
            <a:pPr algn="ctr"/>
            <a:r>
              <a:rPr lang="en-US" sz="2800" dirty="0">
                <a:latin typeface="Arial Rounded MT Bold" panose="020F0704030504030204" pitchFamily="34" charset="0"/>
              </a:rPr>
              <a:t>Intel 8086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9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</a:rPr>
              <a:t>Organization of the 8086/8088 Microprocessors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8086/8088 had a simplest structure and provided the basic instruction set for the other Intel processors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226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13371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History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89212" y="1524000"/>
            <a:ext cx="8915400" cy="445546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Intel did release some 4-bit microprocessors but the first meaningful processor was Intel 8080 – an 8-bit processor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Intel introduced its 16-bit microprocessor Intel 8086 in 1978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Intel introduced its 8088 microprocessor in 1979 which has a slower clock rate than Intel 8086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IBM chose Intel 8088 for original PC because it was less expensive to build a computer around Intel 8088 than Intel 8086 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IBM PC became very popular due to its open architecture and easily available information</a:t>
            </a:r>
          </a:p>
          <a:p>
            <a:endParaRPr 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589212" y="1778759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Font typeface="Wingdings 3" charset="2"/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867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1"/>
                </a:solidFill>
              </a:rPr>
              <a:t>Introduction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133600"/>
            <a:ext cx="9523412" cy="377762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Had a better performance than earlier processors</a:t>
            </a:r>
          </a:p>
          <a:p>
            <a:endParaRPr lang="en-US" sz="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28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Assigns a 20 bit address to its memory locations, so 2</a:t>
            </a:r>
            <a:r>
              <a:rPr lang="en-US" sz="2800" baseline="30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20 </a:t>
            </a:r>
            <a:r>
              <a:rPr lang="en-US" sz="28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bytes of memory can be accessed.</a:t>
            </a:r>
          </a:p>
          <a:p>
            <a:endParaRPr lang="en-US" sz="600" baseline="300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28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Intel 8086 microprocessors has total </a:t>
            </a:r>
            <a:r>
              <a:rPr lang="en-US" sz="2800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fourteen</a:t>
            </a:r>
            <a:r>
              <a:rPr lang="en-US" sz="28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16 bit-registers which include General Data Registers, Address Registers and the Status Register</a:t>
            </a:r>
          </a:p>
          <a:p>
            <a:endParaRPr lang="en-US" sz="28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7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b="1" dirty="0">
                <a:solidFill>
                  <a:schemeClr val="accent1"/>
                </a:solidFill>
              </a:rPr>
              <a:t>Registers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7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843" y="692349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Intel 8086/8088 Registers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74" y="1555845"/>
            <a:ext cx="8830907" cy="464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2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412952"/>
            <a:ext cx="8911687" cy="1280890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Data Registers</a:t>
            </a:r>
            <a:br>
              <a:rPr lang="en-US" sz="4400" b="1" dirty="0">
                <a:solidFill>
                  <a:schemeClr val="accent1"/>
                </a:solidFill>
              </a:rPr>
            </a:br>
            <a:r>
              <a:rPr lang="en-US" sz="4400" b="1" dirty="0">
                <a:solidFill>
                  <a:schemeClr val="accent1"/>
                </a:solidFill>
              </a:rPr>
              <a:t>						</a:t>
            </a:r>
            <a:r>
              <a:rPr lang="en-US" sz="3200" b="1" dirty="0">
                <a:solidFill>
                  <a:schemeClr val="accent1"/>
                </a:solidFill>
              </a:rPr>
              <a:t>AX, BX, CX, DX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877021"/>
            <a:ext cx="8915400" cy="3777622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These four 16-bit registers are available to programmers for general data manipulations. (also called General Purpose Registers)</a:t>
            </a:r>
          </a:p>
          <a:p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Instructions are processed faster if data is stored in registers</a:t>
            </a:r>
          </a:p>
          <a:p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high and low bytes of the data registers can be accessed separately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20" name="Group 16"/>
          <p:cNvGrpSpPr>
            <a:grpSpLocks/>
          </p:cNvGrpSpPr>
          <p:nvPr/>
        </p:nvGrpSpPr>
        <p:grpSpPr bwMode="auto">
          <a:xfrm>
            <a:off x="5157156" y="5071198"/>
            <a:ext cx="2946400" cy="508000"/>
            <a:chOff x="1272" y="2400"/>
            <a:chExt cx="1856" cy="320"/>
          </a:xfrm>
        </p:grpSpPr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1272" y="2400"/>
              <a:ext cx="928" cy="3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AH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2200" y="2400"/>
              <a:ext cx="928" cy="32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AL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3" name="AutoShape 19"/>
          <p:cNvSpPr>
            <a:spLocks/>
          </p:cNvSpPr>
          <p:nvPr/>
        </p:nvSpPr>
        <p:spPr bwMode="auto">
          <a:xfrm rot="5400000">
            <a:off x="6363656" y="2979139"/>
            <a:ext cx="482600" cy="3321050"/>
          </a:xfrm>
          <a:prstGeom prst="leftBrace">
            <a:avLst>
              <a:gd name="adj1" fmla="val 5734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20"/>
          <p:cNvSpPr>
            <a:spLocks/>
          </p:cNvSpPr>
          <p:nvPr/>
        </p:nvSpPr>
        <p:spPr bwMode="auto">
          <a:xfrm rot="16200000">
            <a:off x="5582606" y="5201353"/>
            <a:ext cx="482600" cy="1657350"/>
          </a:xfrm>
          <a:prstGeom prst="leftBrace">
            <a:avLst>
              <a:gd name="adj1" fmla="val 2861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AutoShape 21"/>
          <p:cNvSpPr>
            <a:spLocks/>
          </p:cNvSpPr>
          <p:nvPr/>
        </p:nvSpPr>
        <p:spPr bwMode="auto">
          <a:xfrm rot="16200000">
            <a:off x="7259006" y="5201353"/>
            <a:ext cx="482600" cy="1657350"/>
          </a:xfrm>
          <a:prstGeom prst="leftBrace">
            <a:avLst>
              <a:gd name="adj1" fmla="val 2861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5792156" y="4682240"/>
            <a:ext cx="168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AX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5560712" y="3999284"/>
            <a:ext cx="207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16-bit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5207956" y="5660140"/>
            <a:ext cx="1231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8-bit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6833556" y="5622040"/>
            <a:ext cx="1231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8-bit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42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3238" y="624110"/>
            <a:ext cx="10891063" cy="128089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Special Attributes of General Purpose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7892" y="1683223"/>
            <a:ext cx="8915400" cy="447988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AX (Accumulator Register)</a:t>
            </a:r>
            <a:endParaRPr lang="en-US" sz="2000" b="1" dirty="0">
              <a:solidFill>
                <a:schemeClr val="accent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Fastest for arithmetic operations. Some math instructions only use AX.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BX (Base Register)</a:t>
            </a:r>
          </a:p>
          <a:p>
            <a:pPr marL="0" indent="0">
              <a:buNone/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This register can hold an address of a procedure or variable. BX can also    	perform arithmetic and data movement.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CX (Counter Register) </a:t>
            </a:r>
          </a:p>
          <a:p>
            <a:pPr marL="0" indent="0">
              <a:buNone/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This register acts as a counter for repeating or looping instructions 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DX (Destination</a:t>
            </a:r>
            <a:r>
              <a:rPr lang="en-US" sz="2400" b="1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/data </a:t>
            </a:r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Register)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This register has a special role in multiply and divide operations. In 		multiplication it holds the high 16 bits of the product. In division it holds 	the 	remainder. Its also used in I/O operations.</a:t>
            </a:r>
          </a:p>
          <a:p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39084" y="6422413"/>
            <a:ext cx="7619999" cy="365125"/>
          </a:xfrm>
        </p:spPr>
        <p:txBody>
          <a:bodyPr/>
          <a:lstStyle/>
          <a:p>
            <a:r>
              <a:rPr lang="en-US" dirty="0"/>
              <a:t>University of </a:t>
            </a:r>
            <a:r>
              <a:rPr lang="en-US" dirty="0" err="1"/>
              <a:t>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00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960" y="1483060"/>
            <a:ext cx="8915399" cy="2488442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Segment Registers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1" y="3244139"/>
            <a:ext cx="8915399" cy="155586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Segment registers are used as base locations for program instructions, data, and the stack.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043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0909" y="692350"/>
            <a:ext cx="8911687" cy="86349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Segment Registers</a:t>
            </a:r>
            <a:br>
              <a:rPr lang="en-US" sz="4000" b="1" dirty="0">
                <a:solidFill>
                  <a:schemeClr val="accent1"/>
                </a:solidFill>
              </a:rPr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9903" y="1869744"/>
            <a:ext cx="8915400" cy="432808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CS (Code Segment)</a:t>
            </a:r>
            <a:r>
              <a:rPr 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lang="en-US" sz="20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Holds the base location of all instructions in a program  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DS (Data Segment) 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Holds the default base location for variables. It is used by the CPU to 	calculate the variable location. 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SS (Stack Segment)</a:t>
            </a:r>
            <a:r>
              <a:rPr lang="en-US" sz="2400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Contains the base location of the stack. 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ES  (Extra Segment) </a:t>
            </a:r>
            <a:endParaRPr lang="en-US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This is an additional base location for memory variables.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56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accent1"/>
                </a:solidFill>
              </a:rPr>
              <a:t>Segment Registers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79"/>
          <a:stretch/>
        </p:blipFill>
        <p:spPr>
          <a:xfrm>
            <a:off x="3353068" y="1905000"/>
            <a:ext cx="7391399" cy="4404359"/>
          </a:xfrm>
        </p:spPr>
      </p:pic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67292" y="6126796"/>
            <a:ext cx="7619999" cy="365125"/>
          </a:xfrm>
        </p:spPr>
        <p:txBody>
          <a:bodyPr/>
          <a:lstStyle/>
          <a:p>
            <a:r>
              <a:rPr lang="en-US" dirty="0"/>
              <a:t>University of </a:t>
            </a:r>
            <a:r>
              <a:rPr lang="en-US" dirty="0" err="1"/>
              <a:t>Gujrat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47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589211" y="1011108"/>
            <a:ext cx="8915399" cy="3117040"/>
          </a:xfrm>
        </p:spPr>
        <p:txBody>
          <a:bodyPr/>
          <a:lstStyle/>
          <a:p>
            <a:r>
              <a:rPr lang="en-US" sz="5400" b="1" dirty="0">
                <a:solidFill>
                  <a:schemeClr val="accent1"/>
                </a:solidFill>
              </a:rPr>
              <a:t>Index Registers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589210" y="3077261"/>
            <a:ext cx="8915399" cy="155586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Index registers contain the offsets of data and instructions. 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57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sz="4000" b="1" dirty="0">
                <a:solidFill>
                  <a:schemeClr val="accent1"/>
                </a:solidFill>
              </a:rPr>
              <a:t>Index Registers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230808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 (Stack Pointer) </a:t>
            </a:r>
            <a:endParaRPr lang="en-US" sz="24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Contains the offset from the top of the stack. The complete top of 	stack address is calculated using the SP and SS registers.</a:t>
            </a:r>
            <a:endParaRPr lang="en-US" sz="2100" b="1" dirty="0">
              <a:solidFill>
                <a:schemeClr val="accent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26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BP (Base Pointer)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	</a:t>
            </a:r>
            <a:r>
              <a:rPr lang="en-US" sz="26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Used to access data on stack. However, unlike SP, we can also 	use BP to access data in the other segments.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r>
              <a:rPr lang="en-US" sz="26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SI (Source Index)</a:t>
            </a:r>
            <a:r>
              <a:rPr lang="en-US" sz="2200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sz="26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Used to point to data in memory.  Named because this is the index 	register commonly used as the source in string operations</a:t>
            </a:r>
          </a:p>
          <a:p>
            <a:r>
              <a:rPr lang="en-US" sz="2600" b="1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 (Destination Index) </a:t>
            </a:r>
            <a:endParaRPr lang="en-US" sz="22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sz="26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Commonly used as the destination in string operations</a:t>
            </a:r>
          </a:p>
          <a:p>
            <a:endParaRPr lang="en-US" sz="26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602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1"/>
                </a:solidFill>
              </a:rPr>
              <a:t>Data Pointers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304" y="1916226"/>
            <a:ext cx="7754432" cy="42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13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1"/>
                </a:solidFill>
              </a:rPr>
              <a:t>Stack Pointer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532" y="1813560"/>
            <a:ext cx="8139748" cy="4373879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en-US" dirty="0"/>
              <a:t>University of </a:t>
            </a:r>
            <a:r>
              <a:rPr lang="en-US" dirty="0" err="1"/>
              <a:t>Gujrat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384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534620" y="1237399"/>
            <a:ext cx="8915399" cy="3117040"/>
          </a:xfrm>
        </p:spPr>
        <p:txBody>
          <a:bodyPr/>
          <a:lstStyle/>
          <a:p>
            <a:r>
              <a:rPr lang="en-US" sz="6000" b="1" dirty="0">
                <a:solidFill>
                  <a:schemeClr val="accent1"/>
                </a:solidFill>
              </a:rPr>
              <a:t>Instruction Pointer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589211" y="3084804"/>
            <a:ext cx="8915399" cy="155586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Contains the offset of the next instruction. The IP and CS registers combine to form the complete address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840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743528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Instruction Pointer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713" y="1546888"/>
            <a:ext cx="6448739" cy="5066451"/>
          </a:xfrm>
          <a:prstGeom prst="rect">
            <a:avLst/>
          </a:prstGeom>
        </p:spPr>
      </p:pic>
      <p:sp>
        <p:nvSpPr>
          <p:cNvPr id="3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99266" y="6248214"/>
            <a:ext cx="7619999" cy="365125"/>
          </a:xfrm>
        </p:spPr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332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/>
                </a:solidFill>
              </a:rPr>
              <a:t>Instruction Pointer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708" y="1447471"/>
            <a:ext cx="8945223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64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7073" y="2924034"/>
            <a:ext cx="9602787" cy="226278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Segmented Memory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622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Background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64372" y="1874520"/>
            <a:ext cx="8915400" cy="423080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earlier processors like 8080 and 8085 the linear memory model was used to access memory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8080 and 8085 could access a total memory of 64K using the 16 lines of their address bus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Now, designing for the new processor, designers wanted to remain compatible with 8080 and 8085 however 64K was too small !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There are three logical parts of our program, the code data and the stack. These three logical parts of a program should appear as three distinct units in memory.</a:t>
            </a:r>
          </a:p>
        </p:txBody>
      </p:sp>
    </p:spTree>
    <p:extLst>
      <p:ext uri="{BB962C8B-B14F-4D97-AF65-F5344CB8AC3E}">
        <p14:creationId xmlns:p14="http://schemas.microsoft.com/office/powerpoint/2010/main" val="585571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111" y="787782"/>
            <a:ext cx="4669137" cy="590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68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accent1"/>
                </a:solidFill>
              </a:rPr>
              <a:t>Memory Segment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memory segment is a block of 2</a:t>
            </a:r>
            <a:r>
              <a:rPr lang="en-US" sz="2400" baseline="30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16</a:t>
            </a:r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consecutive memory byte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Each segment is identified by a segment numbers</a:t>
            </a:r>
          </a:p>
          <a:p>
            <a:r>
              <a:rPr lang="en-US" sz="24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Within a segment the memory location is specified by given offset (16-bit)</a:t>
            </a:r>
          </a:p>
          <a:p>
            <a:pPr marL="0" indent="0" algn="ctr">
              <a:buNone/>
            </a:pPr>
            <a:endParaRPr lang="en-US" sz="700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memory location is specified by </a:t>
            </a:r>
          </a:p>
          <a:p>
            <a:pPr marL="457200" lvl="1" indent="0" algn="ctr">
              <a:buNone/>
            </a:pPr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Segment : Offset</a:t>
            </a:r>
            <a:endParaRPr lang="en-US" sz="20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05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605" y="562786"/>
            <a:ext cx="8911687" cy="1280890"/>
          </a:xfrm>
        </p:spPr>
        <p:txBody>
          <a:bodyPr/>
          <a:lstStyle/>
          <a:p>
            <a:r>
              <a:rPr lang="en-US" sz="4000" b="1" dirty="0">
                <a:solidFill>
                  <a:schemeClr val="accent1"/>
                </a:solidFill>
              </a:rPr>
              <a:t>	Physical Address Calculation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275320" y="1371600"/>
            <a:ext cx="2971800" cy="49834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75320" y="1371600"/>
            <a:ext cx="2971800" cy="7010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275320" y="3779520"/>
            <a:ext cx="2971800" cy="7010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496978" y="1798320"/>
            <a:ext cx="2636520" cy="441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Segment Register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166360" y="2072640"/>
            <a:ext cx="31089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39978" y="3118288"/>
            <a:ext cx="2636520" cy="441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Offset Register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cxnSp>
        <p:nvCxnSpPr>
          <p:cNvPr id="16" name="Straight Connector 15"/>
          <p:cNvCxnSpPr>
            <a:stCxn id="11" idx="2"/>
            <a:endCxn id="14" idx="0"/>
          </p:cNvCxnSpPr>
          <p:nvPr/>
        </p:nvCxnSpPr>
        <p:spPr>
          <a:xfrm>
            <a:off x="3815238" y="2240280"/>
            <a:ext cx="1143000" cy="8780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09203" y="2516308"/>
            <a:ext cx="555069" cy="3352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+</a:t>
            </a:r>
            <a:endParaRPr lang="en-US" b="1" dirty="0"/>
          </a:p>
        </p:txBody>
      </p:sp>
      <p:cxnSp>
        <p:nvCxnSpPr>
          <p:cNvPr id="19" name="Straight Arrow Connector 18"/>
          <p:cNvCxnSpPr>
            <a:stCxn id="14" idx="3"/>
          </p:cNvCxnSpPr>
          <p:nvPr/>
        </p:nvCxnSpPr>
        <p:spPr>
          <a:xfrm>
            <a:off x="6276498" y="3339268"/>
            <a:ext cx="19659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18220" y="2337732"/>
            <a:ext cx="22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Memory</a:t>
            </a:r>
          </a:p>
          <a:p>
            <a:pPr algn="ctr"/>
            <a:r>
              <a:rPr lang="en-US" sz="2800" b="1" dirty="0"/>
              <a:t>Segment</a:t>
            </a:r>
          </a:p>
        </p:txBody>
      </p:sp>
    </p:spTree>
    <p:extLst>
      <p:ext uri="{BB962C8B-B14F-4D97-AF65-F5344CB8AC3E}">
        <p14:creationId xmlns:p14="http://schemas.microsoft.com/office/powerpoint/2010/main" val="537106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1"/>
                </a:solidFill>
              </a:rPr>
              <a:t>Physical Address Calculation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434398" y="2265998"/>
            <a:ext cx="24892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45998" y="2278698"/>
            <a:ext cx="24892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894898" y="5606098"/>
            <a:ext cx="3340100" cy="546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193098" y="1821498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16-bit segment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6990398" y="1859598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16-bit offset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888298" y="4628198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20-bit segment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4983798" y="6088698"/>
            <a:ext cx="321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20-bit Physical Address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7168198" y="4628198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20-bit offset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1"/>
          <p:cNvGrpSpPr>
            <a:grpSpLocks/>
          </p:cNvGrpSpPr>
          <p:nvPr/>
        </p:nvGrpSpPr>
        <p:grpSpPr bwMode="auto">
          <a:xfrm>
            <a:off x="2812098" y="4145598"/>
            <a:ext cx="3340100" cy="558800"/>
            <a:chOff x="496" y="2560"/>
            <a:chExt cx="2104" cy="352"/>
          </a:xfrm>
        </p:grpSpPr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496" y="2568"/>
              <a:ext cx="2104" cy="3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		     0 0 0 0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928" y="2560"/>
              <a:ext cx="0" cy="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14"/>
          <p:cNvGrpSpPr>
            <a:grpSpLocks/>
          </p:cNvGrpSpPr>
          <p:nvPr/>
        </p:nvGrpSpPr>
        <p:grpSpPr bwMode="auto">
          <a:xfrm>
            <a:off x="7027862" y="4158297"/>
            <a:ext cx="3340100" cy="549275"/>
            <a:chOff x="3128" y="2558"/>
            <a:chExt cx="2104" cy="346"/>
          </a:xfrm>
        </p:grpSpPr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3128" y="2560"/>
              <a:ext cx="2104" cy="3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3791" y="2558"/>
              <a:ext cx="0" cy="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utoShape 17"/>
          <p:cNvSpPr>
            <a:spLocks/>
          </p:cNvSpPr>
          <p:nvPr/>
        </p:nvSpPr>
        <p:spPr bwMode="auto">
          <a:xfrm rot="5400000">
            <a:off x="4558348" y="1815148"/>
            <a:ext cx="177800" cy="2286000"/>
          </a:xfrm>
          <a:prstGeom prst="rightBracket">
            <a:avLst>
              <a:gd name="adj" fmla="val 107143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AutoShape 18"/>
          <p:cNvSpPr>
            <a:spLocks/>
          </p:cNvSpPr>
          <p:nvPr/>
        </p:nvSpPr>
        <p:spPr bwMode="auto">
          <a:xfrm rot="5400000">
            <a:off x="8495348" y="1815148"/>
            <a:ext cx="177800" cy="2286000"/>
          </a:xfrm>
          <a:prstGeom prst="rightBracket">
            <a:avLst>
              <a:gd name="adj" fmla="val 107143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utoShape 19"/>
          <p:cNvSpPr>
            <a:spLocks/>
          </p:cNvSpPr>
          <p:nvPr/>
        </p:nvSpPr>
        <p:spPr bwMode="auto">
          <a:xfrm rot="5400000">
            <a:off x="3885248" y="2907347"/>
            <a:ext cx="101600" cy="2200275"/>
          </a:xfrm>
          <a:prstGeom prst="leftBracket">
            <a:avLst>
              <a:gd name="adj" fmla="val 180469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20"/>
          <p:cNvSpPr>
            <a:spLocks/>
          </p:cNvSpPr>
          <p:nvPr/>
        </p:nvSpPr>
        <p:spPr bwMode="auto">
          <a:xfrm rot="5400000">
            <a:off x="9130348" y="2932747"/>
            <a:ext cx="101600" cy="2200275"/>
          </a:xfrm>
          <a:prstGeom prst="leftBracket">
            <a:avLst>
              <a:gd name="adj" fmla="val 180469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 flipH="1">
            <a:off x="3916998" y="3091498"/>
            <a:ext cx="736600" cy="73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8615998" y="3078798"/>
            <a:ext cx="546100" cy="812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 flipH="1">
            <a:off x="3955098" y="5161598"/>
            <a:ext cx="5143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6418898" y="4145598"/>
            <a:ext cx="393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+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76122" y="4233982"/>
            <a:ext cx="1064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0 0 0 0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256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1"/>
                </a:solidFill>
              </a:rPr>
              <a:t>Example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33600"/>
            <a:ext cx="11551920" cy="377762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Calculate physical address for </a:t>
            </a:r>
            <a:endParaRPr lang="en-US" sz="3600" b="1" dirty="0">
              <a:solidFill>
                <a:schemeClr val="accent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A4FB : 4872</a:t>
            </a:r>
          </a:p>
          <a:p>
            <a:pPr marL="0" indent="0">
              <a:buNone/>
            </a:pPr>
            <a:r>
              <a:rPr lang="en-US" sz="30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Formula:</a:t>
            </a:r>
            <a:r>
              <a:rPr lang="en-US" sz="3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Physical Address = Segment x 10h + offset</a:t>
            </a:r>
          </a:p>
          <a:p>
            <a:pPr marL="0" indent="0" algn="ctr">
              <a:buNone/>
            </a:pPr>
            <a:endParaRPr lang="en-US" sz="9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4 F B 0 h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 4 8 7 2 h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9 8 2 2 h</a:t>
            </a:r>
          </a:p>
          <a:p>
            <a:pPr marL="0" indent="0" algn="ctr">
              <a:buNone/>
            </a:pPr>
            <a:endParaRPr lang="en-US" sz="3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 algn="ctr">
              <a:buNone/>
            </a:pPr>
            <a:endParaRPr lang="en-US" sz="3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 algn="ctr">
              <a:buNone/>
            </a:pPr>
            <a:endParaRPr lang="en-US" sz="3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074920" y="5120640"/>
            <a:ext cx="3032760" cy="152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07280" y="4495800"/>
            <a:ext cx="594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+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099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b="1" dirty="0">
                <a:solidFill>
                  <a:schemeClr val="accent1"/>
                </a:solidFill>
              </a:rPr>
              <a:t>THE END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Gujrat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8431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2352</TotalTime>
  <Words>933</Words>
  <Application>Microsoft Office PowerPoint</Application>
  <PresentationFormat>Widescreen</PresentationFormat>
  <Paragraphs>162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Rounded MT Bold</vt:lpstr>
      <vt:lpstr>Arial Unicode MS</vt:lpstr>
      <vt:lpstr>Calibri</vt:lpstr>
      <vt:lpstr>Century Gothic</vt:lpstr>
      <vt:lpstr>Times New Roman</vt:lpstr>
      <vt:lpstr>Wingdings 3</vt:lpstr>
      <vt:lpstr>Wisp</vt:lpstr>
      <vt:lpstr>University of Gujrat Department of Computer Science </vt:lpstr>
      <vt:lpstr>Organization of the 8086/8088 Microprocessors</vt:lpstr>
      <vt:lpstr>History</vt:lpstr>
      <vt:lpstr>Introduction</vt:lpstr>
      <vt:lpstr>Registers</vt:lpstr>
      <vt:lpstr>Intel 8086/8088 Registers</vt:lpstr>
      <vt:lpstr>Data Registers       AX, BX, CX, DX</vt:lpstr>
      <vt:lpstr>Special Attributes of General Purpose Registers</vt:lpstr>
      <vt:lpstr>Segment Registers</vt:lpstr>
      <vt:lpstr>Segment Registers </vt:lpstr>
      <vt:lpstr>Segment Registers</vt:lpstr>
      <vt:lpstr>Index Registers</vt:lpstr>
      <vt:lpstr>Index Registers</vt:lpstr>
      <vt:lpstr>Data Pointers</vt:lpstr>
      <vt:lpstr>Stack Pointer</vt:lpstr>
      <vt:lpstr>Instruction Pointer</vt:lpstr>
      <vt:lpstr>Instruction Pointer</vt:lpstr>
      <vt:lpstr>Instruction Pointer</vt:lpstr>
      <vt:lpstr>Segmented Memory Model</vt:lpstr>
      <vt:lpstr>Background</vt:lpstr>
      <vt:lpstr>PowerPoint Presentation</vt:lpstr>
      <vt:lpstr>Memory Segment</vt:lpstr>
      <vt:lpstr> Physical Address Calculation</vt:lpstr>
      <vt:lpstr>Physical Address Calculation</vt:lpstr>
      <vt:lpstr>Example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Gujrat Department of Computer Science</dc:title>
  <dc:creator>Hafsa Himayat</dc:creator>
  <cp:lastModifiedBy>20021519-063</cp:lastModifiedBy>
  <cp:revision>527</cp:revision>
  <dcterms:created xsi:type="dcterms:W3CDTF">2013-10-23T08:03:45Z</dcterms:created>
  <dcterms:modified xsi:type="dcterms:W3CDTF">2022-01-11T18:57:15Z</dcterms:modified>
</cp:coreProperties>
</file>