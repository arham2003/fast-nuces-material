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</p:sldIdLst>
  <p:sldSz cy="6858000" cx="12192000"/>
  <p:notesSz cx="6858000" cy="9144000"/>
  <p:embeddedFontLst>
    <p:embeddedFont>
      <p:font typeface="Century Gothic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7" roundtripDataSignature="AMtx7mgogryZ0WlY7KdilNnBftkWnT/t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font" Target="fonts/CenturyGothic-regular.fntdata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font" Target="fonts/CenturyGothic-italic.fntdata"/><Relationship Id="rId10" Type="http://schemas.openxmlformats.org/officeDocument/2006/relationships/slide" Target="slides/slide6.xml"/><Relationship Id="rId54" Type="http://schemas.openxmlformats.org/officeDocument/2006/relationships/font" Target="fonts/CenturyGothic-bold.fntdata"/><Relationship Id="rId13" Type="http://schemas.openxmlformats.org/officeDocument/2006/relationships/slide" Target="slides/slide9.xml"/><Relationship Id="rId57" Type="http://customschemas.google.com/relationships/presentationmetadata" Target="metadata"/><Relationship Id="rId12" Type="http://schemas.openxmlformats.org/officeDocument/2006/relationships/slide" Target="slides/slide8.xml"/><Relationship Id="rId56" Type="http://schemas.openxmlformats.org/officeDocument/2006/relationships/font" Target="fonts/CenturyGothic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0"/>
          <p:cNvSpPr txBox="1"/>
          <p:nvPr>
            <p:ph type="ctrTitle"/>
          </p:nvPr>
        </p:nvSpPr>
        <p:spPr>
          <a:xfrm>
            <a:off x="1154955" y="1447800"/>
            <a:ext cx="8825658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  <a:defRPr sz="7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0"/>
          <p:cNvSpPr txBox="1"/>
          <p:nvPr>
            <p:ph idx="1" type="subTitle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cap="none">
                <a:solidFill>
                  <a:schemeClr val="accent1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50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0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1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1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30" name="Google Shape;30;p51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1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2"/>
          <p:cNvSpPr txBox="1"/>
          <p:nvPr>
            <p:ph type="title"/>
          </p:nvPr>
        </p:nvSpPr>
        <p:spPr>
          <a:xfrm>
            <a:off x="1154956" y="2861733"/>
            <a:ext cx="8825657" cy="1915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2"/>
          <p:cNvSpPr txBox="1"/>
          <p:nvPr>
            <p:ph idx="1" type="body"/>
          </p:nvPr>
        </p:nvSpPr>
        <p:spPr>
          <a:xfrm>
            <a:off x="1154955" y="4777381"/>
            <a:ext cx="882565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52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2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3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3"/>
          <p:cNvSpPr txBox="1"/>
          <p:nvPr>
            <p:ph idx="1" type="body"/>
          </p:nvPr>
        </p:nvSpPr>
        <p:spPr>
          <a:xfrm>
            <a:off x="1103312" y="2060575"/>
            <a:ext cx="4396339" cy="419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2" name="Google Shape;42;p53"/>
          <p:cNvSpPr txBox="1"/>
          <p:nvPr>
            <p:ph idx="2" type="body"/>
          </p:nvPr>
        </p:nvSpPr>
        <p:spPr>
          <a:xfrm>
            <a:off x="5654493" y="2056092"/>
            <a:ext cx="4396341" cy="4200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3" name="Google Shape;43;p53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3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4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4"/>
          <p:cNvSpPr txBox="1"/>
          <p:nvPr>
            <p:ph idx="1" type="body"/>
          </p:nvPr>
        </p:nvSpPr>
        <p:spPr>
          <a:xfrm>
            <a:off x="1103313" y="1905000"/>
            <a:ext cx="439633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9" name="Google Shape;49;p54"/>
          <p:cNvSpPr txBox="1"/>
          <p:nvPr>
            <p:ph idx="2" type="body"/>
          </p:nvPr>
        </p:nvSpPr>
        <p:spPr>
          <a:xfrm>
            <a:off x="1103312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50" name="Google Shape;50;p54"/>
          <p:cNvSpPr txBox="1"/>
          <p:nvPr>
            <p:ph idx="3" type="body"/>
          </p:nvPr>
        </p:nvSpPr>
        <p:spPr>
          <a:xfrm>
            <a:off x="5654495" y="1905000"/>
            <a:ext cx="439633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51" name="Google Shape;51;p54"/>
          <p:cNvSpPr txBox="1"/>
          <p:nvPr>
            <p:ph idx="4" type="body"/>
          </p:nvPr>
        </p:nvSpPr>
        <p:spPr>
          <a:xfrm>
            <a:off x="5654495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52" name="Google Shape;52;p54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4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5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5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5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6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6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7"/>
          <p:cNvSpPr txBox="1"/>
          <p:nvPr>
            <p:ph type="title"/>
          </p:nvPr>
        </p:nvSpPr>
        <p:spPr>
          <a:xfrm>
            <a:off x="1154954" y="1447800"/>
            <a:ext cx="3401064" cy="144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7"/>
          <p:cNvSpPr txBox="1"/>
          <p:nvPr>
            <p:ph idx="1" type="body"/>
          </p:nvPr>
        </p:nvSpPr>
        <p:spPr>
          <a:xfrm>
            <a:off x="4784616" y="1447800"/>
            <a:ext cx="519599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3pPr>
            <a:lvl4pPr indent="-299719" lvl="3" marL="1828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4pPr>
            <a:lvl5pPr indent="-299720" lvl="4" marL="22860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5pPr>
            <a:lvl6pPr indent="-299720" lvl="5" marL="27432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6pPr>
            <a:lvl7pPr indent="-299720" lvl="6" marL="32004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7pPr>
            <a:lvl8pPr indent="-299720" lvl="7" marL="3657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8pPr>
            <a:lvl9pPr indent="-299720" lvl="8" marL="4114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9pPr>
          </a:lstStyle>
          <a:p/>
        </p:txBody>
      </p:sp>
      <p:sp>
        <p:nvSpPr>
          <p:cNvPr id="67" name="Google Shape;67;p57"/>
          <p:cNvSpPr txBox="1"/>
          <p:nvPr>
            <p:ph idx="2" type="body"/>
          </p:nvPr>
        </p:nvSpPr>
        <p:spPr>
          <a:xfrm>
            <a:off x="1154954" y="3129280"/>
            <a:ext cx="3401063" cy="2895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68" name="Google Shape;68;p57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7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8"/>
          <p:cNvSpPr txBox="1"/>
          <p:nvPr>
            <p:ph type="title"/>
          </p:nvPr>
        </p:nvSpPr>
        <p:spPr>
          <a:xfrm>
            <a:off x="1153907" y="1854192"/>
            <a:ext cx="5092906" cy="15748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8"/>
          <p:cNvSpPr/>
          <p:nvPr>
            <p:ph idx="2" type="pic"/>
          </p:nvPr>
        </p:nvSpPr>
        <p:spPr>
          <a:xfrm>
            <a:off x="6949546" y="1143000"/>
            <a:ext cx="3200400" cy="4572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4" name="Google Shape;74;p58"/>
          <p:cNvSpPr txBox="1"/>
          <p:nvPr>
            <p:ph idx="1" type="body"/>
          </p:nvPr>
        </p:nvSpPr>
        <p:spPr>
          <a:xfrm>
            <a:off x="1154954" y="3657600"/>
            <a:ext cx="508497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5" name="Google Shape;75;p58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8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9"/>
          <p:cNvSpPr txBox="1"/>
          <p:nvPr>
            <p:ph type="title"/>
          </p:nvPr>
        </p:nvSpPr>
        <p:spPr>
          <a:xfrm>
            <a:off x="1154956" y="4800587"/>
            <a:ext cx="882565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9"/>
          <p:cNvSpPr/>
          <p:nvPr>
            <p:ph idx="2" type="pic"/>
          </p:nvPr>
        </p:nvSpPr>
        <p:spPr>
          <a:xfrm>
            <a:off x="1154955" y="685800"/>
            <a:ext cx="8825658" cy="3640666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81" name="Google Shape;81;p59"/>
          <p:cNvSpPr txBox="1"/>
          <p:nvPr>
            <p:ph idx="1" type="body"/>
          </p:nvPr>
        </p:nvSpPr>
        <p:spPr>
          <a:xfrm>
            <a:off x="1154956" y="5367325"/>
            <a:ext cx="8825656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2" name="Google Shape;82;p59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9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0"/>
          <p:cNvSpPr txBox="1"/>
          <p:nvPr>
            <p:ph type="title"/>
          </p:nvPr>
        </p:nvSpPr>
        <p:spPr>
          <a:xfrm>
            <a:off x="1154954" y="1447800"/>
            <a:ext cx="8825659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60"/>
          <p:cNvSpPr txBox="1"/>
          <p:nvPr>
            <p:ph idx="1" type="body"/>
          </p:nvPr>
        </p:nvSpPr>
        <p:spPr>
          <a:xfrm>
            <a:off x="1154954" y="3657600"/>
            <a:ext cx="8825659" cy="23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8" name="Google Shape;88;p60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60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6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1"/>
          <p:cNvSpPr txBox="1"/>
          <p:nvPr>
            <p:ph type="title"/>
          </p:nvPr>
        </p:nvSpPr>
        <p:spPr>
          <a:xfrm>
            <a:off x="1574801" y="1447800"/>
            <a:ext cx="7999315" cy="2323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61"/>
          <p:cNvSpPr txBox="1"/>
          <p:nvPr>
            <p:ph idx="1" type="body"/>
          </p:nvPr>
        </p:nvSpPr>
        <p:spPr>
          <a:xfrm>
            <a:off x="1930400" y="3771174"/>
            <a:ext cx="7279649" cy="342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b="0" i="0" sz="1400" cap="small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4" name="Google Shape;94;p61"/>
          <p:cNvSpPr txBox="1"/>
          <p:nvPr>
            <p:ph idx="2" type="body"/>
          </p:nvPr>
        </p:nvSpPr>
        <p:spPr>
          <a:xfrm>
            <a:off x="1154954" y="4350657"/>
            <a:ext cx="8825659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5" name="Google Shape;95;p61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61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6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p6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99" name="Google Shape;99;p61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2"/>
          <p:cNvSpPr txBox="1"/>
          <p:nvPr>
            <p:ph type="title"/>
          </p:nvPr>
        </p:nvSpPr>
        <p:spPr>
          <a:xfrm>
            <a:off x="1154954" y="3124201"/>
            <a:ext cx="8825660" cy="1653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62"/>
          <p:cNvSpPr txBox="1"/>
          <p:nvPr>
            <p:ph idx="1" type="body"/>
          </p:nvPr>
        </p:nvSpPr>
        <p:spPr>
          <a:xfrm>
            <a:off x="1154954" y="4777381"/>
            <a:ext cx="882565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62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62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6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3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63"/>
          <p:cNvSpPr txBox="1"/>
          <p:nvPr>
            <p:ph idx="1" type="body"/>
          </p:nvPr>
        </p:nvSpPr>
        <p:spPr>
          <a:xfrm>
            <a:off x="632947" y="1981200"/>
            <a:ext cx="294686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9" name="Google Shape;109;p63"/>
          <p:cNvSpPr txBox="1"/>
          <p:nvPr>
            <p:ph idx="2" type="body"/>
          </p:nvPr>
        </p:nvSpPr>
        <p:spPr>
          <a:xfrm>
            <a:off x="652463" y="2667000"/>
            <a:ext cx="2927350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10" name="Google Shape;110;p63"/>
          <p:cNvSpPr txBox="1"/>
          <p:nvPr>
            <p:ph idx="3" type="body"/>
          </p:nvPr>
        </p:nvSpPr>
        <p:spPr>
          <a:xfrm>
            <a:off x="3883659" y="1981200"/>
            <a:ext cx="293624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1" name="Google Shape;111;p63"/>
          <p:cNvSpPr txBox="1"/>
          <p:nvPr>
            <p:ph idx="4" type="body"/>
          </p:nvPr>
        </p:nvSpPr>
        <p:spPr>
          <a:xfrm>
            <a:off x="3873106" y="2667000"/>
            <a:ext cx="2946794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12" name="Google Shape;112;p63"/>
          <p:cNvSpPr txBox="1"/>
          <p:nvPr>
            <p:ph idx="5" type="body"/>
          </p:nvPr>
        </p:nvSpPr>
        <p:spPr>
          <a:xfrm>
            <a:off x="7124700" y="1981200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3" name="Google Shape;113;p63"/>
          <p:cNvSpPr txBox="1"/>
          <p:nvPr>
            <p:ph idx="6" type="body"/>
          </p:nvPr>
        </p:nvSpPr>
        <p:spPr>
          <a:xfrm>
            <a:off x="7124700" y="2667000"/>
            <a:ext cx="2932113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14" name="Google Shape;114;p63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chemeClr val="accen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63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chemeClr val="accen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63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63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6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4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64"/>
          <p:cNvSpPr txBox="1"/>
          <p:nvPr>
            <p:ph idx="1" type="body"/>
          </p:nvPr>
        </p:nvSpPr>
        <p:spPr>
          <a:xfrm>
            <a:off x="652463" y="4250949"/>
            <a:ext cx="29400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2" name="Google Shape;122;p64"/>
          <p:cNvSpPr/>
          <p:nvPr>
            <p:ph idx="2" type="pic"/>
          </p:nvPr>
        </p:nvSpPr>
        <p:spPr>
          <a:xfrm>
            <a:off x="652463" y="2209800"/>
            <a:ext cx="2940050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3" name="Google Shape;123;p64"/>
          <p:cNvSpPr txBox="1"/>
          <p:nvPr>
            <p:ph idx="3" type="body"/>
          </p:nvPr>
        </p:nvSpPr>
        <p:spPr>
          <a:xfrm>
            <a:off x="652463" y="4827211"/>
            <a:ext cx="2940050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4" name="Google Shape;124;p64"/>
          <p:cNvSpPr txBox="1"/>
          <p:nvPr>
            <p:ph idx="4" type="body"/>
          </p:nvPr>
        </p:nvSpPr>
        <p:spPr>
          <a:xfrm>
            <a:off x="3889375" y="4250949"/>
            <a:ext cx="29305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5" name="Google Shape;125;p64"/>
          <p:cNvSpPr/>
          <p:nvPr>
            <p:ph idx="5" type="pic"/>
          </p:nvPr>
        </p:nvSpPr>
        <p:spPr>
          <a:xfrm>
            <a:off x="3889374" y="2209800"/>
            <a:ext cx="2930525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6" name="Google Shape;126;p64"/>
          <p:cNvSpPr txBox="1"/>
          <p:nvPr>
            <p:ph idx="6" type="body"/>
          </p:nvPr>
        </p:nvSpPr>
        <p:spPr>
          <a:xfrm>
            <a:off x="3888022" y="4827210"/>
            <a:ext cx="2934406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7" name="Google Shape;127;p64"/>
          <p:cNvSpPr txBox="1"/>
          <p:nvPr>
            <p:ph idx="7" type="body"/>
          </p:nvPr>
        </p:nvSpPr>
        <p:spPr>
          <a:xfrm>
            <a:off x="7124700" y="4250949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8" name="Google Shape;128;p64"/>
          <p:cNvSpPr/>
          <p:nvPr>
            <p:ph idx="8" type="pic"/>
          </p:nvPr>
        </p:nvSpPr>
        <p:spPr>
          <a:xfrm>
            <a:off x="7124699" y="2209800"/>
            <a:ext cx="2932113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9" name="Google Shape;129;p64"/>
          <p:cNvSpPr txBox="1"/>
          <p:nvPr>
            <p:ph idx="9" type="body"/>
          </p:nvPr>
        </p:nvSpPr>
        <p:spPr>
          <a:xfrm>
            <a:off x="7124575" y="4827208"/>
            <a:ext cx="2935997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30" name="Google Shape;130;p64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chemeClr val="accen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" name="Google Shape;131;p64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chemeClr val="accen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64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64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6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5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65"/>
          <p:cNvSpPr txBox="1"/>
          <p:nvPr>
            <p:ph idx="1" type="body"/>
          </p:nvPr>
        </p:nvSpPr>
        <p:spPr>
          <a:xfrm rot="5400000">
            <a:off x="3478842" y="-322612"/>
            <a:ext cx="4195481" cy="8946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8" name="Google Shape;138;p65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65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6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6"/>
          <p:cNvSpPr txBox="1"/>
          <p:nvPr>
            <p:ph type="title"/>
          </p:nvPr>
        </p:nvSpPr>
        <p:spPr>
          <a:xfrm rot="5400000">
            <a:off x="6267450" y="2466975"/>
            <a:ext cx="5826125" cy="1752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66"/>
          <p:cNvSpPr txBox="1"/>
          <p:nvPr>
            <p:ph idx="1" type="body"/>
          </p:nvPr>
        </p:nvSpPr>
        <p:spPr>
          <a:xfrm rot="5400000">
            <a:off x="1679576" y="-139699"/>
            <a:ext cx="5368924" cy="7423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4" name="Google Shape;144;p66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66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6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6.xml"/><Relationship Id="rId22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5.xml"/><Relationship Id="rId21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8.xml"/><Relationship Id="rId12" Type="http://schemas.openxmlformats.org/officeDocument/2006/relationships/slideLayout" Target="../slideLayouts/slideLayout7.xml"/><Relationship Id="rId23" Type="http://schemas.openxmlformats.org/officeDocument/2006/relationships/theme" Target="../theme/theme1.xml"/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slideLayout" Target="../slideLayouts/slideLayout4.xml"/><Relationship Id="rId15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9.xml"/><Relationship Id="rId17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19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.xml"/><Relationship Id="rId1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49"/>
          <p:cNvPicPr preferRelativeResize="0"/>
          <p:nvPr/>
        </p:nvPicPr>
        <p:blipFill rotWithShape="1">
          <a:blip r:embed="rId2">
            <a:alphaModFix/>
          </a:blip>
          <a:srcRect b="0" l="3613" r="0" t="0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49"/>
          <p:cNvPicPr preferRelativeResize="0"/>
          <p:nvPr/>
        </p:nvPicPr>
        <p:blipFill rotWithShape="1">
          <a:blip r:embed="rId3">
            <a:alphaModFix/>
          </a:blip>
          <a:srcRect b="0" l="35640" r="0" t="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49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>
            <a:gsLst>
              <a:gs pos="0">
                <a:srgbClr val="78C4F1">
                  <a:alpha val="6666"/>
                </a:srgbClr>
              </a:gs>
              <a:gs pos="36000">
                <a:srgbClr val="78C4F1">
                  <a:alpha val="5882"/>
                </a:srgbClr>
              </a:gs>
              <a:gs pos="69000">
                <a:srgbClr val="78C4F1">
                  <a:alpha val="0"/>
                </a:srgbClr>
              </a:gs>
              <a:gs pos="100000">
                <a:srgbClr val="78C4F1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" name="Google Shape;13;p49"/>
          <p:cNvPicPr preferRelativeResize="0"/>
          <p:nvPr/>
        </p:nvPicPr>
        <p:blipFill rotWithShape="1">
          <a:blip r:embed="rId4">
            <a:alphaModFix/>
          </a:blip>
          <a:srcRect b="0" l="0" r="0" t="28812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49"/>
          <p:cNvPicPr preferRelativeResize="0"/>
          <p:nvPr/>
        </p:nvPicPr>
        <p:blipFill rotWithShape="1">
          <a:blip r:embed="rId5">
            <a:alphaModFix/>
          </a:blip>
          <a:srcRect b="23320" l="0" r="0" t="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4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49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b="0" i="0" sz="42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" name="Google Shape;17;p49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2004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0988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99719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9972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9972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9972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9972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9972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8" name="Google Shape;18;p49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9" name="Google Shape;19;p49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0" name="Google Shape;20;p4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  <p:sldLayoutId id="2147483661" r:id="rId18"/>
    <p:sldLayoutId id="2147483662" r:id="rId19"/>
    <p:sldLayoutId id="2147483663" r:id="rId20"/>
    <p:sldLayoutId id="2147483664" r:id="rId21"/>
    <p:sldLayoutId id="2147483665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2.png"/><Relationship Id="rId4" Type="http://schemas.openxmlformats.org/officeDocument/2006/relationships/image" Target="../media/image1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image" Target="../media/image2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"/>
          <p:cNvSpPr txBox="1"/>
          <p:nvPr>
            <p:ph type="ctrTitle"/>
          </p:nvPr>
        </p:nvSpPr>
        <p:spPr>
          <a:xfrm>
            <a:off x="1304596" y="298715"/>
            <a:ext cx="8637073" cy="25414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Century Gothic"/>
              <a:buNone/>
            </a:pPr>
            <a:r>
              <a:rPr b="1" lang="en-US" sz="5400"/>
              <a:t>EE-2003 </a:t>
            </a:r>
            <a:br>
              <a:rPr b="1" lang="en-US" sz="5400"/>
            </a:br>
            <a:r>
              <a:rPr b="1" lang="en-US" sz="5400"/>
              <a:t>Computer Organization &amp; Assembly Language</a:t>
            </a:r>
            <a:endParaRPr b="1" sz="5400"/>
          </a:p>
        </p:txBody>
      </p:sp>
      <p:sp>
        <p:nvSpPr>
          <p:cNvPr id="152" name="Google Shape;152;p1"/>
          <p:cNvSpPr/>
          <p:nvPr/>
        </p:nvSpPr>
        <p:spPr>
          <a:xfrm>
            <a:off x="1755807" y="3429000"/>
            <a:ext cx="7734650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INSTRUCTOR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Engr. Aashir Mahboob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Lecturer, Department of Computer Science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FAST NUCES (Karachi)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Aashir.mahboob@nu.edu.pk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"/>
          <p:cNvSpPr txBox="1"/>
          <p:nvPr>
            <p:ph idx="1" type="body"/>
          </p:nvPr>
        </p:nvSpPr>
        <p:spPr>
          <a:xfrm>
            <a:off x="1622729" y="2198614"/>
            <a:ext cx="8946541" cy="2460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US"/>
              <a:t> </a:t>
            </a:r>
            <a:r>
              <a:rPr b="1" lang="en-US" sz="13800" cap="small"/>
              <a:t>Chapter 9: Strings &amp; Arrays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 b="1" cap="smal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"/>
          <p:cNvSpPr txBox="1"/>
          <p:nvPr>
            <p:ph type="title"/>
          </p:nvPr>
        </p:nvSpPr>
        <p:spPr>
          <a:xfrm>
            <a:off x="646111" y="452718"/>
            <a:ext cx="9404723" cy="801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b="1" lang="en-US" sz="3200" cap="small"/>
              <a:t>Strings &amp; Arrays</a:t>
            </a:r>
            <a:endParaRPr cap="small"/>
          </a:p>
        </p:txBody>
      </p:sp>
      <p:sp>
        <p:nvSpPr>
          <p:cNvPr id="163" name="Google Shape;163;p3"/>
          <p:cNvSpPr txBox="1"/>
          <p:nvPr>
            <p:ph idx="1" type="body"/>
          </p:nvPr>
        </p:nvSpPr>
        <p:spPr>
          <a:xfrm>
            <a:off x="318977" y="1331259"/>
            <a:ext cx="11164186" cy="5074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String Primitive Instructions</a:t>
            </a:r>
            <a:endParaRPr/>
          </a:p>
          <a:p>
            <a:pPr indent="-2413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Selected String Procedures</a:t>
            </a:r>
            <a:endParaRPr/>
          </a:p>
          <a:p>
            <a:pPr indent="-2413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Two-Dimensional Arrays</a:t>
            </a:r>
            <a:endParaRPr/>
          </a:p>
          <a:p>
            <a:pPr indent="-2413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Searching and Sorting Integer Arrays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"/>
          <p:cNvSpPr txBox="1"/>
          <p:nvPr>
            <p:ph idx="1" type="body"/>
          </p:nvPr>
        </p:nvSpPr>
        <p:spPr>
          <a:xfrm>
            <a:off x="1622729" y="2198614"/>
            <a:ext cx="8946541" cy="2460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US"/>
              <a:t> </a:t>
            </a:r>
            <a:r>
              <a:rPr b="1" lang="en-US" sz="13800" cap="small"/>
              <a:t>String Primitive Instructions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 b="1" cap="smal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"/>
          <p:cNvSpPr txBox="1"/>
          <p:nvPr>
            <p:ph type="title"/>
          </p:nvPr>
        </p:nvSpPr>
        <p:spPr>
          <a:xfrm>
            <a:off x="646111" y="452718"/>
            <a:ext cx="9404723" cy="801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b="1" lang="en-US" sz="3200" cap="small"/>
              <a:t>String Primitive Instructions</a:t>
            </a:r>
            <a:endParaRPr/>
          </a:p>
        </p:txBody>
      </p:sp>
      <p:sp>
        <p:nvSpPr>
          <p:cNvPr id="174" name="Google Shape;174;p5"/>
          <p:cNvSpPr txBox="1"/>
          <p:nvPr>
            <p:ph idx="1" type="body"/>
          </p:nvPr>
        </p:nvSpPr>
        <p:spPr>
          <a:xfrm>
            <a:off x="318977" y="1331259"/>
            <a:ext cx="11164186" cy="5074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MOVSB, MOVSW, and MOVSD</a:t>
            </a:r>
            <a:endParaRPr/>
          </a:p>
          <a:p>
            <a:pPr indent="-2413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CMPSB, CMPSW, and CMPSD</a:t>
            </a:r>
            <a:endParaRPr/>
          </a:p>
          <a:p>
            <a:pPr indent="-2413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SCASB, SCASW, and SCASD</a:t>
            </a:r>
            <a:endParaRPr/>
          </a:p>
          <a:p>
            <a:pPr indent="-2413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STOSB, STOSW, and STOSD</a:t>
            </a:r>
            <a:endParaRPr/>
          </a:p>
          <a:p>
            <a:pPr indent="-2413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LODSB, LODSW, and LODSD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"/>
          <p:cNvSpPr txBox="1"/>
          <p:nvPr>
            <p:ph type="title"/>
          </p:nvPr>
        </p:nvSpPr>
        <p:spPr>
          <a:xfrm>
            <a:off x="646111" y="452718"/>
            <a:ext cx="9404723" cy="801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b="1" lang="en-US" sz="3200" cap="small"/>
              <a:t>MOVSB, MOVSW, &amp; MOVSD</a:t>
            </a:r>
            <a:endParaRPr cap="small"/>
          </a:p>
        </p:txBody>
      </p:sp>
      <p:sp>
        <p:nvSpPr>
          <p:cNvPr id="180" name="Google Shape;180;p6"/>
          <p:cNvSpPr txBox="1"/>
          <p:nvPr>
            <p:ph idx="1" type="body"/>
          </p:nvPr>
        </p:nvSpPr>
        <p:spPr>
          <a:xfrm>
            <a:off x="318977" y="1331259"/>
            <a:ext cx="11164186" cy="5074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The MOVSB, MOVSW, and MOVSD instructions copy data from the memory location pointed to by ESI to the memory location pointed to by EDI.</a:t>
            </a:r>
            <a:endParaRPr/>
          </a:p>
          <a:p>
            <a:pPr indent="-2413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1" lang="en-US"/>
              <a:t>Example: 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.data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source DWORD 0FFFFFFFFh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target DWORD ?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.code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mov esi, OFFSET source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mov edi, OFFSET target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movsd</a:t>
            </a:r>
            <a:endParaRPr>
              <a:solidFill>
                <a:srgbClr val="F0D98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 txBox="1"/>
          <p:nvPr>
            <p:ph type="title"/>
          </p:nvPr>
        </p:nvSpPr>
        <p:spPr>
          <a:xfrm>
            <a:off x="646111" y="452718"/>
            <a:ext cx="9404723" cy="801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b="1" lang="en-US" sz="3200" cap="small"/>
              <a:t>MOVSB, MOVSW, &amp; MOVSD</a:t>
            </a:r>
            <a:endParaRPr cap="small"/>
          </a:p>
        </p:txBody>
      </p:sp>
      <p:sp>
        <p:nvSpPr>
          <p:cNvPr id="186" name="Google Shape;186;p7"/>
          <p:cNvSpPr txBox="1"/>
          <p:nvPr>
            <p:ph idx="1" type="body"/>
          </p:nvPr>
        </p:nvSpPr>
        <p:spPr>
          <a:xfrm>
            <a:off x="318977" y="1331259"/>
            <a:ext cx="11164186" cy="5074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ESI and EDI are automatically incremented or decremented:</a:t>
            </a:r>
            <a:endParaRPr/>
          </a:p>
          <a:p>
            <a:pPr indent="-285750" lvl="1" marL="742950" rtl="0" algn="just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MOVSB increments/decrements by 1</a:t>
            </a:r>
            <a:endParaRPr/>
          </a:p>
          <a:p>
            <a:pPr indent="-285750" lvl="1" marL="742950" rtl="0" algn="just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MOVSW increments/decrements by 2</a:t>
            </a:r>
            <a:endParaRPr/>
          </a:p>
          <a:p>
            <a:pPr indent="-285750" lvl="1" marL="742950" rtl="0" algn="just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MOVSD increments/decrements by 4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"/>
          <p:cNvSpPr txBox="1"/>
          <p:nvPr>
            <p:ph type="title"/>
          </p:nvPr>
        </p:nvSpPr>
        <p:spPr>
          <a:xfrm>
            <a:off x="646111" y="452718"/>
            <a:ext cx="9404723" cy="801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b="1" lang="en-US" sz="3200" cap="small"/>
              <a:t>Direction Flag</a:t>
            </a:r>
            <a:endParaRPr cap="small"/>
          </a:p>
        </p:txBody>
      </p:sp>
      <p:sp>
        <p:nvSpPr>
          <p:cNvPr id="192" name="Google Shape;192;p8"/>
          <p:cNvSpPr txBox="1"/>
          <p:nvPr>
            <p:ph idx="1" type="body"/>
          </p:nvPr>
        </p:nvSpPr>
        <p:spPr>
          <a:xfrm>
            <a:off x="318977" y="1331259"/>
            <a:ext cx="11164186" cy="5074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The Direction flag controls the incrementing or decrementing of ESI and EDI.</a:t>
            </a:r>
            <a:endParaRPr/>
          </a:p>
          <a:p>
            <a:pPr indent="-285750" lvl="1" marL="742950" rtl="0" algn="just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DF = clear (0): increment ESI and EDI</a:t>
            </a:r>
            <a:endParaRPr/>
          </a:p>
          <a:p>
            <a:pPr indent="-285750" lvl="1" marL="742950" rtl="0" algn="just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DF = set (1): decrement ESI and EDI</a:t>
            </a:r>
            <a:endParaRPr/>
          </a:p>
          <a:p>
            <a:pPr indent="-2413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2413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The Direction flag can be explicitly changed using the CLD and STD instructions: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CLD 	; clear Direction flag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STD 	; set Direction flag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"/>
          <p:cNvSpPr txBox="1"/>
          <p:nvPr>
            <p:ph type="title"/>
          </p:nvPr>
        </p:nvSpPr>
        <p:spPr>
          <a:xfrm>
            <a:off x="646111" y="452718"/>
            <a:ext cx="9404723" cy="801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b="1" lang="en-US" sz="3200" cap="small"/>
              <a:t>Using a Repeat Prefix</a:t>
            </a:r>
            <a:endParaRPr cap="small"/>
          </a:p>
        </p:txBody>
      </p:sp>
      <p:sp>
        <p:nvSpPr>
          <p:cNvPr id="198" name="Google Shape;198;p9"/>
          <p:cNvSpPr txBox="1"/>
          <p:nvPr>
            <p:ph idx="1" type="body"/>
          </p:nvPr>
        </p:nvSpPr>
        <p:spPr>
          <a:xfrm>
            <a:off x="318977" y="1331259"/>
            <a:ext cx="11164186" cy="5074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By itself, a string primitive instruction processes only a single memory value or pair of values.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REP (a repeat prefix) can be inserted just before MOVSB, MOVSW, or MOVSD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ECX controls the number of repetitions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Example: Copy 20 doublewords from source to target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.data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source DWORD 20 DUP(?)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target DWORD 20 DUP(?)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.code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cld		; direction = forward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mov ecx,LENGTHOF source	; set REP counter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mov esi,OFFSET source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mov edi,OFFSET target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rep movsd</a:t>
            </a:r>
            <a:endParaRPr>
              <a:solidFill>
                <a:srgbClr val="F0D98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 txBox="1"/>
          <p:nvPr>
            <p:ph type="title"/>
          </p:nvPr>
        </p:nvSpPr>
        <p:spPr>
          <a:xfrm>
            <a:off x="646111" y="452718"/>
            <a:ext cx="9404723" cy="801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b="1" lang="en-US" sz="3200" cap="small"/>
              <a:t>Example</a:t>
            </a:r>
            <a:endParaRPr cap="small"/>
          </a:p>
        </p:txBody>
      </p:sp>
      <p:sp>
        <p:nvSpPr>
          <p:cNvPr id="204" name="Google Shape;204;p10"/>
          <p:cNvSpPr txBox="1"/>
          <p:nvPr>
            <p:ph idx="1" type="body"/>
          </p:nvPr>
        </p:nvSpPr>
        <p:spPr>
          <a:xfrm>
            <a:off x="318977" y="1331259"/>
            <a:ext cx="11164186" cy="5074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Use MOVSD to delete the first element of the following doubleword array. All subsequent array values must be moved one position forward toward the beginning of the array: array DWORD 1,1,2,3,4,5,6,7,8,9,10</a:t>
            </a:r>
            <a:endParaRPr/>
          </a:p>
          <a:p>
            <a:pPr indent="-2413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1" lang="en-US"/>
              <a:t>Solution: 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.data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array DWORD 1,1,2,3,4,5,6,7,8,9,10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.code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cld	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mov ecx,(LENGTHOF array) - 1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mov esi,OFFSET array+4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mov edi,OFFSET array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rep movsd</a:t>
            </a:r>
            <a:endParaRPr>
              <a:solidFill>
                <a:srgbClr val="F0D98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"/>
          <p:cNvSpPr txBox="1"/>
          <p:nvPr>
            <p:ph type="title"/>
          </p:nvPr>
        </p:nvSpPr>
        <p:spPr>
          <a:xfrm>
            <a:off x="646111" y="452718"/>
            <a:ext cx="9404723" cy="801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b="1" lang="en-US" sz="3200" cap="small"/>
              <a:t>CMPSB, CMPSW, &amp; CMPSD</a:t>
            </a:r>
            <a:endParaRPr cap="small"/>
          </a:p>
        </p:txBody>
      </p:sp>
      <p:sp>
        <p:nvSpPr>
          <p:cNvPr id="210" name="Google Shape;210;p11"/>
          <p:cNvSpPr txBox="1"/>
          <p:nvPr>
            <p:ph idx="1" type="body"/>
          </p:nvPr>
        </p:nvSpPr>
        <p:spPr>
          <a:xfrm>
            <a:off x="318977" y="1331259"/>
            <a:ext cx="11164186" cy="5074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The CMPSB, CMPSW, and CMPSD instructions each compare a memory operand pointed to by ESI to a memory operand pointed to by EDI</a:t>
            </a:r>
            <a:endParaRPr/>
          </a:p>
          <a:p>
            <a:pPr indent="-285750" lvl="1" marL="742950" rtl="0" algn="just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CMPSB compares bytes</a:t>
            </a:r>
            <a:endParaRPr/>
          </a:p>
          <a:p>
            <a:pPr indent="-285750" lvl="1" marL="742950" rtl="0" algn="just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CMPSW compares words</a:t>
            </a:r>
            <a:endParaRPr/>
          </a:p>
          <a:p>
            <a:pPr indent="-285750" lvl="1" marL="742950" rtl="0" algn="just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CMPSD compares doublewords</a:t>
            </a:r>
            <a:endParaRPr/>
          </a:p>
          <a:p>
            <a:pPr indent="-2413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Repeat prefix often used</a:t>
            </a:r>
            <a:endParaRPr/>
          </a:p>
          <a:p>
            <a:pPr indent="-285750" lvl="1" marL="742950" rtl="0" algn="just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REPE (REPZ)</a:t>
            </a:r>
            <a:endParaRPr/>
          </a:p>
          <a:p>
            <a:pPr indent="-285750" lvl="1" marL="742950" rtl="0" algn="just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REPNE (REPNZ)</a:t>
            </a:r>
            <a:endParaRPr/>
          </a:p>
        </p:txBody>
      </p:sp>
      <p:pic>
        <p:nvPicPr>
          <p:cNvPr id="211" name="Google Shape;21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0250" y="4023360"/>
            <a:ext cx="6652913" cy="50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0251" y="4777451"/>
            <a:ext cx="6652912" cy="634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"/>
          <p:cNvSpPr txBox="1"/>
          <p:nvPr>
            <p:ph type="title"/>
          </p:nvPr>
        </p:nvSpPr>
        <p:spPr>
          <a:xfrm>
            <a:off x="646111" y="452718"/>
            <a:ext cx="9404723" cy="801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b="1" lang="en-US" sz="3200" cap="small"/>
              <a:t>Comparing a Pair of Doublewords</a:t>
            </a:r>
            <a:endParaRPr cap="small"/>
          </a:p>
        </p:txBody>
      </p:sp>
      <p:sp>
        <p:nvSpPr>
          <p:cNvPr id="218" name="Google Shape;218;p12"/>
          <p:cNvSpPr txBox="1"/>
          <p:nvPr>
            <p:ph idx="1" type="body"/>
          </p:nvPr>
        </p:nvSpPr>
        <p:spPr>
          <a:xfrm>
            <a:off x="318977" y="1331259"/>
            <a:ext cx="11164186" cy="5074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If source &gt; target, the code jumps to label L1; otherwise, it jumps to label L2</a:t>
            </a:r>
            <a:endParaRPr/>
          </a:p>
          <a:p>
            <a:pPr indent="-2413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1" lang="en-US"/>
              <a:t>Solution: 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.data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source DWORD 1234h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target DWORD 5678h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.code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mov esi, OFFSET source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mov edi, OFFSET target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cmpsd				; compare doublewords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ja L1				; jump if source &gt; target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jmp L2				; jump if source &lt;= target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"/>
          <p:cNvSpPr txBox="1"/>
          <p:nvPr>
            <p:ph type="title"/>
          </p:nvPr>
        </p:nvSpPr>
        <p:spPr>
          <a:xfrm>
            <a:off x="646111" y="452718"/>
            <a:ext cx="9404723" cy="801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b="1" lang="en-US" sz="3200" cap="small"/>
              <a:t>Comparing a Pair of Doublewords</a:t>
            </a:r>
            <a:endParaRPr cap="small"/>
          </a:p>
        </p:txBody>
      </p:sp>
      <p:sp>
        <p:nvSpPr>
          <p:cNvPr id="224" name="Google Shape;224;p13"/>
          <p:cNvSpPr txBox="1"/>
          <p:nvPr>
            <p:ph idx="1" type="body"/>
          </p:nvPr>
        </p:nvSpPr>
        <p:spPr>
          <a:xfrm>
            <a:off x="318977" y="1331259"/>
            <a:ext cx="11164186" cy="5074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Modify the program in the previous slide by declaring both source and target as WORD variables. Make any other necessary changes.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1" lang="en-US"/>
              <a:t>Solution: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4"/>
          <p:cNvSpPr txBox="1"/>
          <p:nvPr>
            <p:ph type="title"/>
          </p:nvPr>
        </p:nvSpPr>
        <p:spPr>
          <a:xfrm>
            <a:off x="646111" y="452718"/>
            <a:ext cx="9404723" cy="801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b="1" lang="en-US" sz="3200" cap="small"/>
              <a:t>Comparing a Pair of Doublewords</a:t>
            </a:r>
            <a:endParaRPr cap="small"/>
          </a:p>
        </p:txBody>
      </p:sp>
      <p:sp>
        <p:nvSpPr>
          <p:cNvPr id="230" name="Google Shape;230;p14"/>
          <p:cNvSpPr txBox="1"/>
          <p:nvPr>
            <p:ph idx="1" type="body"/>
          </p:nvPr>
        </p:nvSpPr>
        <p:spPr>
          <a:xfrm>
            <a:off x="318977" y="1331259"/>
            <a:ext cx="11164186" cy="5074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Use a REPE (repeat while equal) prefix to compare corresponding elements of two arrays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1" lang="en-US"/>
              <a:t>Solution: 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.data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COUNT = 20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source DWORD COUNT DUP(?)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target DWORD COUNT DUP(?)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.code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mov ecx, COUNT				; repetition count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mov esi, OFFSET source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mov edi, OFFSET target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cld							; direction = forward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repe cmpsd					; repeat while equal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5"/>
          <p:cNvSpPr txBox="1"/>
          <p:nvPr>
            <p:ph type="title"/>
          </p:nvPr>
        </p:nvSpPr>
        <p:spPr>
          <a:xfrm>
            <a:off x="646111" y="452718"/>
            <a:ext cx="9404723" cy="801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b="1" lang="en-US" sz="3200" cap="small"/>
              <a:t>Example: Comparing Two Strings</a:t>
            </a:r>
            <a:endParaRPr cap="small"/>
          </a:p>
        </p:txBody>
      </p:sp>
      <p:sp>
        <p:nvSpPr>
          <p:cNvPr id="236" name="Google Shape;236;p15"/>
          <p:cNvSpPr txBox="1"/>
          <p:nvPr>
            <p:ph idx="1" type="body"/>
          </p:nvPr>
        </p:nvSpPr>
        <p:spPr>
          <a:xfrm>
            <a:off x="318977" y="1331259"/>
            <a:ext cx="11164186" cy="5074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This program compares two strings (source and destination). It displays a message indicating whether the lexical value of the source string is less than the destination string.</a:t>
            </a:r>
            <a:endParaRPr/>
          </a:p>
          <a:p>
            <a:pPr indent="-2413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1" lang="en-US"/>
              <a:t>Solution: 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.data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source BYTE "MARTIN  "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dest   BYTE "MARTINEZ"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str1 BYTE "Source is smaller",0dh,0ah,0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str2 BYTE "Source is not smaller",0dh,0ah,0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"/>
          <p:cNvSpPr txBox="1"/>
          <p:nvPr>
            <p:ph type="title"/>
          </p:nvPr>
        </p:nvSpPr>
        <p:spPr>
          <a:xfrm>
            <a:off x="646111" y="452718"/>
            <a:ext cx="9404723" cy="801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b="1" lang="en-US" sz="3200" cap="small"/>
              <a:t>Example: Comparing Two Strings</a:t>
            </a:r>
            <a:endParaRPr cap="small"/>
          </a:p>
        </p:txBody>
      </p:sp>
      <p:sp>
        <p:nvSpPr>
          <p:cNvPr id="242" name="Google Shape;242;p16"/>
          <p:cNvSpPr txBox="1"/>
          <p:nvPr>
            <p:ph idx="1" type="body"/>
          </p:nvPr>
        </p:nvSpPr>
        <p:spPr>
          <a:xfrm>
            <a:off x="318977" y="1331259"/>
            <a:ext cx="11164186" cy="5074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1120775" lvl="1" marL="400050" rtl="0" algn="just"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.code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main PROC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cld 					; direction = forward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mov  esi, OFFSET source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mov  edi, OFFSET dest</a:t>
            </a:r>
            <a:endParaRPr>
              <a:solidFill>
                <a:srgbClr val="F0D983"/>
              </a:solidFill>
            </a:endParaRPr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mov  ecx, LENGTHOF source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repe cmpsb</a:t>
            </a:r>
            <a:endParaRPr>
              <a:solidFill>
                <a:srgbClr val="F0D983"/>
              </a:solidFill>
            </a:endParaRPr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jb   source_smaller</a:t>
            </a:r>
            <a:endParaRPr>
              <a:solidFill>
                <a:srgbClr val="F0D983"/>
              </a:solidFill>
            </a:endParaRPr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mov  edx,OFFSET str2		; "source is not smaller"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jmp  done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source_smaller: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mov  edx,OFFSET str1		; "source is smaller"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done: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call WriteString</a:t>
            </a:r>
            <a:endParaRPr>
              <a:solidFill>
                <a:srgbClr val="F0D983"/>
              </a:solidFill>
            </a:endParaRPr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exit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main ENDP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END main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7"/>
          <p:cNvSpPr txBox="1"/>
          <p:nvPr>
            <p:ph type="title"/>
          </p:nvPr>
        </p:nvSpPr>
        <p:spPr>
          <a:xfrm>
            <a:off x="646111" y="452718"/>
            <a:ext cx="9404723" cy="801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b="1" lang="en-US" sz="3200" cap="small"/>
              <a:t>Example: Comparing Two Strings </a:t>
            </a:r>
            <a:endParaRPr cap="small"/>
          </a:p>
        </p:txBody>
      </p:sp>
      <p:sp>
        <p:nvSpPr>
          <p:cNvPr id="248" name="Google Shape;248;p17"/>
          <p:cNvSpPr txBox="1"/>
          <p:nvPr>
            <p:ph idx="1" type="body"/>
          </p:nvPr>
        </p:nvSpPr>
        <p:spPr>
          <a:xfrm>
            <a:off x="318977" y="1331259"/>
            <a:ext cx="11164186" cy="5074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The following diagram shows the final values of ESI and EDI after comparing the strings: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249" name="Google Shape;24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366" y="2345240"/>
            <a:ext cx="9831407" cy="30460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"/>
          <p:cNvSpPr txBox="1"/>
          <p:nvPr>
            <p:ph type="title"/>
          </p:nvPr>
        </p:nvSpPr>
        <p:spPr>
          <a:xfrm>
            <a:off x="646111" y="452718"/>
            <a:ext cx="9404723" cy="801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b="1" lang="en-US" sz="3200" cap="small"/>
              <a:t>SCASB, SCASW, &amp; SCASD</a:t>
            </a:r>
            <a:endParaRPr cap="small"/>
          </a:p>
        </p:txBody>
      </p:sp>
      <p:sp>
        <p:nvSpPr>
          <p:cNvPr id="255" name="Google Shape;255;p18"/>
          <p:cNvSpPr txBox="1"/>
          <p:nvPr>
            <p:ph idx="1" type="body"/>
          </p:nvPr>
        </p:nvSpPr>
        <p:spPr>
          <a:xfrm>
            <a:off x="318977" y="1331259"/>
            <a:ext cx="11164186" cy="5074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The SCASB, SCASW, and SCASD instructions compare a value in AL/AX/EAX to a byte, word, or doubleword, respectively, addressed by EDI</a:t>
            </a:r>
            <a:endParaRPr/>
          </a:p>
          <a:p>
            <a:pPr indent="-2413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2413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Useful types of searches:</a:t>
            </a:r>
            <a:endParaRPr/>
          </a:p>
          <a:p>
            <a:pPr indent="-285750" lvl="1" marL="742950" rtl="0" algn="just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Search for a specific element in a long string or array</a:t>
            </a:r>
            <a:endParaRPr/>
          </a:p>
          <a:p>
            <a:pPr indent="-285750" lvl="1" marL="742950" rtl="0" algn="just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Search for the first element that does not match a given value</a:t>
            </a:r>
            <a:endParaRPr/>
          </a:p>
          <a:p>
            <a:pPr indent="-2413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>
              <a:solidFill>
                <a:srgbClr val="F0D983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9"/>
          <p:cNvSpPr txBox="1"/>
          <p:nvPr>
            <p:ph type="title"/>
          </p:nvPr>
        </p:nvSpPr>
        <p:spPr>
          <a:xfrm>
            <a:off x="646111" y="452718"/>
            <a:ext cx="9404723" cy="801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b="1" lang="en-US" sz="3200" cap="small"/>
              <a:t>SCASB, SCASW, &amp; SCASD</a:t>
            </a:r>
            <a:endParaRPr cap="small"/>
          </a:p>
        </p:txBody>
      </p:sp>
      <p:sp>
        <p:nvSpPr>
          <p:cNvPr id="261" name="Google Shape;261;p19"/>
          <p:cNvSpPr txBox="1"/>
          <p:nvPr>
            <p:ph idx="1" type="body"/>
          </p:nvPr>
        </p:nvSpPr>
        <p:spPr>
          <a:xfrm>
            <a:off x="318977" y="1331259"/>
            <a:ext cx="11164186" cy="5074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Search for the letter 'F' in a string named alpha: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1" lang="en-US"/>
              <a:t>Solution: 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>
              <a:solidFill>
                <a:srgbClr val="F0D983"/>
              </a:solidFill>
            </a:endParaRPr>
          </a:p>
        </p:txBody>
      </p:sp>
      <p:pic>
        <p:nvPicPr>
          <p:cNvPr id="262" name="Google Shape;26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2760" y="2204858"/>
            <a:ext cx="8328074" cy="4329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0"/>
          <p:cNvSpPr txBox="1"/>
          <p:nvPr>
            <p:ph type="title"/>
          </p:nvPr>
        </p:nvSpPr>
        <p:spPr>
          <a:xfrm>
            <a:off x="646111" y="452718"/>
            <a:ext cx="9404723" cy="801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b="1" lang="en-US" sz="3200" cap="small"/>
              <a:t>STOSB, STOSW, &amp; STOSD</a:t>
            </a:r>
            <a:endParaRPr cap="small"/>
          </a:p>
        </p:txBody>
      </p:sp>
      <p:sp>
        <p:nvSpPr>
          <p:cNvPr id="268" name="Google Shape;268;p20"/>
          <p:cNvSpPr txBox="1"/>
          <p:nvPr>
            <p:ph idx="1" type="body"/>
          </p:nvPr>
        </p:nvSpPr>
        <p:spPr>
          <a:xfrm>
            <a:off x="318977" y="1331259"/>
            <a:ext cx="11164186" cy="5074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The STOSB, STOSW, and STOSD instructions store the contents of AL/AX/EAX, respectively, in memory at the offset pointed to by EDI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When used with the REP prefix, these instructions are useful for filling all elements of a string or array with a single value 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1" lang="en-US"/>
              <a:t>Example</a:t>
            </a:r>
            <a:r>
              <a:rPr lang="en-US"/>
              <a:t>: fill an array with 0FFh</a:t>
            </a:r>
            <a:endParaRPr/>
          </a:p>
        </p:txBody>
      </p:sp>
      <p:pic>
        <p:nvPicPr>
          <p:cNvPr id="269" name="Google Shape;26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7193" y="3429000"/>
            <a:ext cx="7810500" cy="309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1"/>
          <p:cNvSpPr txBox="1"/>
          <p:nvPr>
            <p:ph type="title"/>
          </p:nvPr>
        </p:nvSpPr>
        <p:spPr>
          <a:xfrm>
            <a:off x="646111" y="452718"/>
            <a:ext cx="9404723" cy="801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b="1" lang="en-US" sz="3200" cap="small"/>
              <a:t>LODSB, LODSW &amp; LODSD</a:t>
            </a:r>
            <a:endParaRPr cap="small"/>
          </a:p>
        </p:txBody>
      </p:sp>
      <p:sp>
        <p:nvSpPr>
          <p:cNvPr id="275" name="Google Shape;275;p21"/>
          <p:cNvSpPr txBox="1"/>
          <p:nvPr>
            <p:ph idx="1" type="body"/>
          </p:nvPr>
        </p:nvSpPr>
        <p:spPr>
          <a:xfrm>
            <a:off x="318977" y="1331259"/>
            <a:ext cx="11164186" cy="5074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 sz="1800"/>
              <a:t>LODSB, LODSW, and LODSD load a byte or word from memory at ESI into AL/AX/EAX, respectively. 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sz="1800"/>
              <a:t>•The REP prefix is rarely used with LODS because each new value loaded into the accumulator overwrites its previous contents. 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sz="1800"/>
              <a:t>• Instead, LODS is used to load a single value. 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1" lang="en-US"/>
              <a:t>Example</a:t>
            </a:r>
            <a:r>
              <a:rPr lang="en-US"/>
              <a:t>:</a:t>
            </a:r>
            <a:endParaRPr/>
          </a:p>
          <a:p>
            <a:pPr indent="-2413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276" name="Google Shape;27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1784" y="3019290"/>
            <a:ext cx="7668431" cy="369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2"/>
          <p:cNvSpPr txBox="1"/>
          <p:nvPr>
            <p:ph type="title"/>
          </p:nvPr>
        </p:nvSpPr>
        <p:spPr>
          <a:xfrm>
            <a:off x="646111" y="452718"/>
            <a:ext cx="9404723" cy="801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b="1" lang="en-US" sz="3200" cap="small"/>
              <a:t>Exercixe</a:t>
            </a:r>
            <a:endParaRPr cap="small"/>
          </a:p>
        </p:txBody>
      </p:sp>
      <p:sp>
        <p:nvSpPr>
          <p:cNvPr id="282" name="Google Shape;282;p22"/>
          <p:cNvSpPr txBox="1"/>
          <p:nvPr>
            <p:ph idx="1" type="body"/>
          </p:nvPr>
        </p:nvSpPr>
        <p:spPr>
          <a:xfrm>
            <a:off x="318977" y="1331259"/>
            <a:ext cx="11164186" cy="5074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Write a program that converts each unpacked binary-coded decimal byte belonging to an array into an ASCII decimal byte and copies it to a new array.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.data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array BYTE 1,2,3,4,5,6,7,8,9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dest  BYTE (LENGTHOF array) DUP(?)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1" lang="en-US"/>
              <a:t>Solution</a:t>
            </a:r>
            <a:r>
              <a:rPr lang="en-US"/>
              <a:t>: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.code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	mov esi,OFFSET array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	mov edi,OFFSET dest</a:t>
            </a:r>
            <a:endParaRPr>
              <a:solidFill>
                <a:srgbClr val="F0D983"/>
              </a:solidFill>
            </a:endParaRPr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	mov ecx,LENGTHOF array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	 cld 							; direction = up 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L1:	lodsb						; load into AL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	or al,30h						; convert to ASCII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	stosb						; store into memory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	loop L1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t/>
            </a:r>
            <a:endParaRPr>
              <a:solidFill>
                <a:srgbClr val="F0D983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2874" y="363480"/>
            <a:ext cx="9720775" cy="306552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3"/>
          <p:cNvSpPr/>
          <p:nvPr/>
        </p:nvSpPr>
        <p:spPr>
          <a:xfrm>
            <a:off x="694006" y="3738881"/>
            <a:ext cx="108039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•Although they are called string primitives, they are not limited to character arrays</a:t>
            </a: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9" name="Google Shape;289;p23"/>
          <p:cNvSpPr/>
          <p:nvPr/>
        </p:nvSpPr>
        <p:spPr>
          <a:xfrm>
            <a:off x="694006" y="4442321"/>
            <a:ext cx="110525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•Each instruction implicitly uses ESI, EDI, or both registers to address memory.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0" name="Google Shape;290;p23"/>
          <p:cNvSpPr/>
          <p:nvPr/>
        </p:nvSpPr>
        <p:spPr>
          <a:xfrm>
            <a:off x="776067" y="5145761"/>
            <a:ext cx="1063986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•String primitives execute efficiently because they automatically repeat and increment array indexes. 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4"/>
          <p:cNvSpPr txBox="1"/>
          <p:nvPr>
            <p:ph idx="1" type="body"/>
          </p:nvPr>
        </p:nvSpPr>
        <p:spPr>
          <a:xfrm>
            <a:off x="1622729" y="2198614"/>
            <a:ext cx="8946541" cy="2460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US"/>
              <a:t> </a:t>
            </a:r>
            <a:r>
              <a:rPr b="1" lang="en-US" sz="13800" cap="small"/>
              <a:t>Selected String Procedures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 b="1" sz="13800" cap="small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 b="1" cap="small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5"/>
          <p:cNvSpPr txBox="1"/>
          <p:nvPr>
            <p:ph type="title"/>
          </p:nvPr>
        </p:nvSpPr>
        <p:spPr>
          <a:xfrm>
            <a:off x="646111" y="452718"/>
            <a:ext cx="9404723" cy="801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b="1" lang="en-US" sz="3200" cap="small"/>
              <a:t>Selected String Procedures</a:t>
            </a:r>
            <a:endParaRPr cap="small"/>
          </a:p>
        </p:txBody>
      </p:sp>
      <p:sp>
        <p:nvSpPr>
          <p:cNvPr id="301" name="Google Shape;301;p25"/>
          <p:cNvSpPr txBox="1"/>
          <p:nvPr>
            <p:ph idx="1" type="body"/>
          </p:nvPr>
        </p:nvSpPr>
        <p:spPr>
          <a:xfrm>
            <a:off x="318977" y="1331259"/>
            <a:ext cx="11164186" cy="5074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The following string procedures may be found in the Irvine32 and Irvine16 libraries:</a:t>
            </a:r>
            <a:endParaRPr/>
          </a:p>
          <a:p>
            <a:pPr indent="-285750" lvl="1" marL="742950" rtl="0" algn="just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Str_compare Procedure</a:t>
            </a:r>
            <a:endParaRPr/>
          </a:p>
          <a:p>
            <a:pPr indent="-285750" lvl="1" marL="742950" rtl="0" algn="just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Str_length Procedure</a:t>
            </a:r>
            <a:endParaRPr/>
          </a:p>
          <a:p>
            <a:pPr indent="-285750" lvl="1" marL="742950" rtl="0" algn="just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Str_copy Procedure</a:t>
            </a:r>
            <a:endParaRPr/>
          </a:p>
          <a:p>
            <a:pPr indent="-285750" lvl="1" marL="742950" rtl="0" algn="just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Str_trim Procedure</a:t>
            </a:r>
            <a:endParaRPr/>
          </a:p>
          <a:p>
            <a:pPr indent="-285750" lvl="1" marL="742950" rtl="0" algn="just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Str_ucase Procedure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6"/>
          <p:cNvSpPr txBox="1"/>
          <p:nvPr>
            <p:ph type="title"/>
          </p:nvPr>
        </p:nvSpPr>
        <p:spPr>
          <a:xfrm>
            <a:off x="645130" y="452718"/>
            <a:ext cx="9404723" cy="872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b="1" lang="en-US"/>
              <a:t>PROTO DIRECTIVE</a:t>
            </a:r>
            <a:endParaRPr b="1"/>
          </a:p>
        </p:txBody>
      </p:sp>
      <p:sp>
        <p:nvSpPr>
          <p:cNvPr id="307" name="Google Shape;307;p26"/>
          <p:cNvSpPr/>
          <p:nvPr/>
        </p:nvSpPr>
        <p:spPr>
          <a:xfrm>
            <a:off x="503582" y="1555331"/>
            <a:ext cx="1046921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•Creates a procedure prototype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C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label PROTO paramList</a:t>
            </a:r>
            <a:endParaRPr b="1" sz="2000">
              <a:solidFill>
                <a:srgbClr val="FFC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8" name="Google Shape;308;p26"/>
          <p:cNvSpPr/>
          <p:nvPr/>
        </p:nvSpPr>
        <p:spPr>
          <a:xfrm>
            <a:off x="503582" y="2695018"/>
            <a:ext cx="99523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•Every procedure called by the INVOKE directive must have a prototype.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9" name="Google Shape;309;p26"/>
          <p:cNvSpPr/>
          <p:nvPr/>
        </p:nvSpPr>
        <p:spPr>
          <a:xfrm>
            <a:off x="503582" y="3429000"/>
            <a:ext cx="100493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•A complete procedure definition can also serve as its own prototype.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0" name="Google Shape;310;p26"/>
          <p:cNvSpPr/>
          <p:nvPr/>
        </p:nvSpPr>
        <p:spPr>
          <a:xfrm>
            <a:off x="503582" y="4246457"/>
            <a:ext cx="1091979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•Standard configuration: PROTO appears at top of the program listing, INVOKE appears in the code segment, and the procedure implementation occurs later in the program</a:t>
            </a: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7"/>
          <p:cNvSpPr txBox="1"/>
          <p:nvPr>
            <p:ph type="title"/>
          </p:nvPr>
        </p:nvSpPr>
        <p:spPr>
          <a:xfrm>
            <a:off x="646111" y="452718"/>
            <a:ext cx="9404723" cy="700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b="1" lang="en-US"/>
              <a:t>EXAMPLE</a:t>
            </a:r>
            <a:endParaRPr b="1"/>
          </a:p>
        </p:txBody>
      </p:sp>
      <p:pic>
        <p:nvPicPr>
          <p:cNvPr id="316" name="Google Shape;31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334" y="1293536"/>
            <a:ext cx="6337232" cy="2864229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7"/>
          <p:cNvSpPr/>
          <p:nvPr/>
        </p:nvSpPr>
        <p:spPr>
          <a:xfrm>
            <a:off x="6665844" y="1293536"/>
            <a:ext cx="475753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 Prototype for the ArraySum procedure, showing its parameter list: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18" name="Google Shape;31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2746" y="4159342"/>
            <a:ext cx="6343650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72746" y="5314048"/>
            <a:ext cx="6372225" cy="111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8"/>
          <p:cNvSpPr txBox="1"/>
          <p:nvPr>
            <p:ph type="title"/>
          </p:nvPr>
        </p:nvSpPr>
        <p:spPr>
          <a:xfrm>
            <a:off x="646111" y="452718"/>
            <a:ext cx="9404723" cy="801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b="1" lang="en-US" sz="3200" cap="small"/>
              <a:t>Str_compare Procedure</a:t>
            </a:r>
            <a:endParaRPr cap="small"/>
          </a:p>
        </p:txBody>
      </p:sp>
      <p:sp>
        <p:nvSpPr>
          <p:cNvPr id="325" name="Google Shape;325;p28"/>
          <p:cNvSpPr txBox="1"/>
          <p:nvPr>
            <p:ph idx="1" type="body"/>
          </p:nvPr>
        </p:nvSpPr>
        <p:spPr>
          <a:xfrm>
            <a:off x="318977" y="1331259"/>
            <a:ext cx="11164186" cy="5074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Compares string1 to string2, setting the Carry and Zero flags accordingly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1" lang="en-US"/>
              <a:t>PROTOTYPE (PROTO)</a:t>
            </a:r>
            <a:r>
              <a:rPr lang="en-US"/>
              <a:t>: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Str_compare PROTO,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  string1:PTR BYTE,			; pointer to string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  string2:PTR BYTE			; pointer to string</a:t>
            </a:r>
            <a:endParaRPr/>
          </a:p>
        </p:txBody>
      </p:sp>
      <p:pic>
        <p:nvPicPr>
          <p:cNvPr id="326" name="Google Shape;32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2599" y="4416391"/>
            <a:ext cx="7396942" cy="1988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9"/>
          <p:cNvSpPr txBox="1"/>
          <p:nvPr>
            <p:ph type="title"/>
          </p:nvPr>
        </p:nvSpPr>
        <p:spPr>
          <a:xfrm>
            <a:off x="646111" y="452718"/>
            <a:ext cx="9404723" cy="801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b="1" lang="en-US" sz="3200" cap="small"/>
              <a:t>Str_compare Procedure Source Code</a:t>
            </a:r>
            <a:endParaRPr cap="small"/>
          </a:p>
        </p:txBody>
      </p:sp>
      <p:sp>
        <p:nvSpPr>
          <p:cNvPr id="332" name="Google Shape;332;p29"/>
          <p:cNvSpPr txBox="1"/>
          <p:nvPr>
            <p:ph idx="1" type="body"/>
          </p:nvPr>
        </p:nvSpPr>
        <p:spPr>
          <a:xfrm>
            <a:off x="318977" y="1254641"/>
            <a:ext cx="11164186" cy="5362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1120775" lvl="1" marL="400050" rtl="0" algn="just"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Str_compare PROC USES eax edx esi edi,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	string1:PTR BYTE, string2:PTR BYTE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    mov esi,string1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    mov edi,string2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L1: mov  al,[esi]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    mov  dl,[edi]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    cmp  al,0    		; end of string1?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    jne  L2      			; no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    cmp  dl,0    		; yes: end of string2?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    jne  L2      			; no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    jmp  L3      			; yes, exit with ZF = 1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L2: inc  esi      		; point to next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    inc  edi</a:t>
            </a:r>
            <a:endParaRPr>
              <a:solidFill>
                <a:srgbClr val="F0D983"/>
              </a:solidFill>
            </a:endParaRPr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    cmp  al,dl   		; chars equal?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    je   L1      			; yes: continue loop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L3: ret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Str_compare ENDP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0"/>
          <p:cNvSpPr txBox="1"/>
          <p:nvPr>
            <p:ph type="title"/>
          </p:nvPr>
        </p:nvSpPr>
        <p:spPr>
          <a:xfrm>
            <a:off x="646111" y="452718"/>
            <a:ext cx="9404723" cy="801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b="1" lang="en-US" sz="3200" cap="small"/>
              <a:t>Str_length Procedure</a:t>
            </a:r>
            <a:endParaRPr cap="small"/>
          </a:p>
        </p:txBody>
      </p:sp>
      <p:sp>
        <p:nvSpPr>
          <p:cNvPr id="338" name="Google Shape;338;p30"/>
          <p:cNvSpPr txBox="1"/>
          <p:nvPr>
            <p:ph idx="1" type="body"/>
          </p:nvPr>
        </p:nvSpPr>
        <p:spPr>
          <a:xfrm>
            <a:off x="318977" y="1331259"/>
            <a:ext cx="11164186" cy="5074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Calculates the length of a null-terminated string and returns the length in the EAX register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1" lang="en-US"/>
              <a:t>PROTOTYPE (PROTO)</a:t>
            </a:r>
            <a:r>
              <a:rPr lang="en-US"/>
              <a:t>: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Str_length PROTO,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  pString:PTR BYTE									; pointer to string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1" lang="en-US"/>
              <a:t>Example</a:t>
            </a:r>
            <a:r>
              <a:rPr lang="en-US"/>
              <a:t>: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.data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myString BYTE "abcdefg",0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.code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	INVOKE Str_length,  ADDR myString				; EAX = 7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1"/>
          <p:cNvSpPr txBox="1"/>
          <p:nvPr>
            <p:ph type="title"/>
          </p:nvPr>
        </p:nvSpPr>
        <p:spPr>
          <a:xfrm>
            <a:off x="646111" y="452718"/>
            <a:ext cx="9404723" cy="801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b="1" lang="en-US" sz="3200" cap="small"/>
              <a:t>Str_length Procedure Source Code</a:t>
            </a:r>
            <a:endParaRPr cap="small"/>
          </a:p>
        </p:txBody>
      </p:sp>
      <p:sp>
        <p:nvSpPr>
          <p:cNvPr id="344" name="Google Shape;344;p31"/>
          <p:cNvSpPr txBox="1"/>
          <p:nvPr>
            <p:ph idx="1" type="body"/>
          </p:nvPr>
        </p:nvSpPr>
        <p:spPr>
          <a:xfrm>
            <a:off x="318977" y="1254641"/>
            <a:ext cx="11164186" cy="5362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1120775" lvl="1" marL="400050" rtl="0" algn="just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Str_length PROC USES edi,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	pString:PTR BYTE				; pointer to string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>
              <a:solidFill>
                <a:srgbClr val="F0D983"/>
              </a:solidFill>
            </a:endParaRPr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	mov edi, pString</a:t>
            </a:r>
            <a:endParaRPr>
              <a:solidFill>
                <a:srgbClr val="F0D983"/>
              </a:solidFill>
            </a:endParaRPr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	mov eax,0     				; character count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L1: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	cmp byte ptr [edi],0			; end of string?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	je  L2						; yes: quit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	inc edi						; no: point to next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	inc eax						; add 1 to count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	jmp L1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L2: ret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Str_length ENDP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2"/>
          <p:cNvSpPr txBox="1"/>
          <p:nvPr>
            <p:ph type="title"/>
          </p:nvPr>
        </p:nvSpPr>
        <p:spPr>
          <a:xfrm>
            <a:off x="646111" y="452718"/>
            <a:ext cx="9404723" cy="801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b="1" lang="en-US" sz="3200" cap="small"/>
              <a:t>Str_copy Procedure</a:t>
            </a:r>
            <a:endParaRPr cap="small"/>
          </a:p>
        </p:txBody>
      </p:sp>
      <p:sp>
        <p:nvSpPr>
          <p:cNvPr id="350" name="Google Shape;350;p32"/>
          <p:cNvSpPr txBox="1"/>
          <p:nvPr>
            <p:ph idx="1" type="body"/>
          </p:nvPr>
        </p:nvSpPr>
        <p:spPr>
          <a:xfrm>
            <a:off x="318977" y="1331259"/>
            <a:ext cx="11164186" cy="5074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Copies a null-terminated string from a source location to a target location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1" lang="en-US"/>
              <a:t>PROTOTYPE (PROTO)</a:t>
            </a:r>
            <a:r>
              <a:rPr lang="en-US"/>
              <a:t>: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Str_copy PROTO,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  source:PTR BYTE,	; pointer to string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  target:PTR BYTE	; pointer to string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1" lang="en-US"/>
              <a:t>Example</a:t>
            </a:r>
            <a:r>
              <a:rPr lang="en-US"/>
              <a:t>: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.data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source BYTE "hello",0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target BYTE SIZEOF source DUP (?)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>
              <a:solidFill>
                <a:srgbClr val="F0D983"/>
              </a:solidFill>
            </a:endParaRPr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.code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       INVOKE Str_copy,  ADDR source,  ADDR target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3"/>
          <p:cNvSpPr txBox="1"/>
          <p:nvPr>
            <p:ph type="title"/>
          </p:nvPr>
        </p:nvSpPr>
        <p:spPr>
          <a:xfrm>
            <a:off x="646111" y="452718"/>
            <a:ext cx="9404723" cy="801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b="1" lang="en-US" sz="3200" cap="small"/>
              <a:t>Str_copy Procedure Source Code</a:t>
            </a:r>
            <a:endParaRPr cap="small"/>
          </a:p>
        </p:txBody>
      </p:sp>
      <p:sp>
        <p:nvSpPr>
          <p:cNvPr id="356" name="Google Shape;356;p33"/>
          <p:cNvSpPr txBox="1"/>
          <p:nvPr>
            <p:ph idx="1" type="body"/>
          </p:nvPr>
        </p:nvSpPr>
        <p:spPr>
          <a:xfrm>
            <a:off x="318977" y="1254641"/>
            <a:ext cx="11164186" cy="5362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1120775" lvl="1" marL="400050" rtl="0" algn="just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Str_copy PROC USES eax ecx esi edi,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 	source:PTR BYTE, 			; source string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 	target:PTR BYTE				; target string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>
              <a:solidFill>
                <a:srgbClr val="F0D983"/>
              </a:solidFill>
            </a:endParaRPr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	INVOKE Str_length,source 	; EAX = length source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	mov ecx,eax				; REP count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	inc ecx         				; add 1 for null byte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	mov esi,source</a:t>
            </a:r>
            <a:endParaRPr>
              <a:solidFill>
                <a:srgbClr val="F0D983"/>
              </a:solidFill>
            </a:endParaRPr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	mov edi,target</a:t>
            </a:r>
            <a:endParaRPr>
              <a:solidFill>
                <a:srgbClr val="F0D983"/>
              </a:solidFill>
            </a:endParaRPr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	cld               					; direction = up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	rep movsb      				; copy the string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	ret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Str_copy ENDP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4"/>
          <p:cNvSpPr txBox="1"/>
          <p:nvPr>
            <p:ph type="title"/>
          </p:nvPr>
        </p:nvSpPr>
        <p:spPr>
          <a:xfrm>
            <a:off x="646111" y="452718"/>
            <a:ext cx="9404723" cy="801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b="1" lang="en-US" sz="3200" cap="small"/>
              <a:t>Str_trim Procedure</a:t>
            </a:r>
            <a:endParaRPr cap="small"/>
          </a:p>
        </p:txBody>
      </p:sp>
      <p:sp>
        <p:nvSpPr>
          <p:cNvPr id="362" name="Google Shape;362;p34"/>
          <p:cNvSpPr txBox="1"/>
          <p:nvPr>
            <p:ph idx="1" type="body"/>
          </p:nvPr>
        </p:nvSpPr>
        <p:spPr>
          <a:xfrm>
            <a:off x="318977" y="1331259"/>
            <a:ext cx="11164186" cy="5074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The Str_trim procedure removes all occurrences of a selected trailing character from a null-terminated string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1" lang="en-US"/>
              <a:t>PROTOTYPE (PROTO)</a:t>
            </a:r>
            <a:r>
              <a:rPr lang="en-US"/>
              <a:t>: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Str_trim PROTO,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  pString:PTR BYTE,	; points to string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  char:BYTE			; char to remove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1" lang="en-US"/>
              <a:t>Example</a:t>
            </a:r>
            <a:r>
              <a:rPr lang="en-US"/>
              <a:t>: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.data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myString BYTE "Hello###",0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.code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   INVOKE Str_trim, ADDR myString, '#'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>
              <a:solidFill>
                <a:srgbClr val="F0D983"/>
              </a:solidFill>
            </a:endParaRPr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myString = "Hello"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5"/>
          <p:cNvSpPr txBox="1"/>
          <p:nvPr>
            <p:ph type="title"/>
          </p:nvPr>
        </p:nvSpPr>
        <p:spPr>
          <a:xfrm>
            <a:off x="646111" y="452718"/>
            <a:ext cx="9404723" cy="801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b="1" lang="en-US" sz="3200" cap="small"/>
              <a:t>Str_trim Procedure</a:t>
            </a:r>
            <a:endParaRPr cap="small"/>
          </a:p>
        </p:txBody>
      </p:sp>
      <p:sp>
        <p:nvSpPr>
          <p:cNvPr id="368" name="Google Shape;368;p35"/>
          <p:cNvSpPr txBox="1"/>
          <p:nvPr>
            <p:ph idx="1" type="body"/>
          </p:nvPr>
        </p:nvSpPr>
        <p:spPr>
          <a:xfrm>
            <a:off x="318977" y="1331259"/>
            <a:ext cx="11164186" cy="5074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Str_trim checks a number of possible cases (shown here with # as the trailing character: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The string is empty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The string contains other characters followed by one or more trailing characters, as in "Hello##"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The string contains only one character, the trailing character, as in "#"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The string contains no trailing character, as in "Hello" or "H"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The string contains one or more trailing characters followed by one or more nontrailing characters, as in "#H" or "###Hello"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6"/>
          <p:cNvSpPr txBox="1"/>
          <p:nvPr>
            <p:ph type="title"/>
          </p:nvPr>
        </p:nvSpPr>
        <p:spPr>
          <a:xfrm>
            <a:off x="646111" y="452718"/>
            <a:ext cx="9404723" cy="801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b="1" lang="en-US" sz="3200" cap="small"/>
              <a:t>Str_trim Procedure</a:t>
            </a:r>
            <a:endParaRPr cap="small"/>
          </a:p>
        </p:txBody>
      </p:sp>
      <p:pic>
        <p:nvPicPr>
          <p:cNvPr id="374" name="Google Shape;37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0541" y="1254642"/>
            <a:ext cx="9240982" cy="3364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09323" y="4890807"/>
            <a:ext cx="2362200" cy="1514475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6"/>
          <p:cNvSpPr txBox="1"/>
          <p:nvPr/>
        </p:nvSpPr>
        <p:spPr>
          <a:xfrm>
            <a:off x="1230541" y="5282919"/>
            <a:ext cx="6327731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137150" lIns="91425" spcFirstLastPara="1" rIns="91425" wrap="square" tIns="13715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Using the first definition in the table, position of EDI when SCASB stops</a:t>
            </a: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7"/>
          <p:cNvSpPr txBox="1"/>
          <p:nvPr>
            <p:ph type="title"/>
          </p:nvPr>
        </p:nvSpPr>
        <p:spPr>
          <a:xfrm>
            <a:off x="646111" y="452718"/>
            <a:ext cx="9404723" cy="801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b="1" lang="en-US" sz="3200" cap="small"/>
              <a:t>Str_trim Procedure Source Code</a:t>
            </a:r>
            <a:endParaRPr cap="small"/>
          </a:p>
        </p:txBody>
      </p:sp>
      <p:sp>
        <p:nvSpPr>
          <p:cNvPr id="382" name="Google Shape;382;p37"/>
          <p:cNvSpPr txBox="1"/>
          <p:nvPr>
            <p:ph idx="1" type="body"/>
          </p:nvPr>
        </p:nvSpPr>
        <p:spPr>
          <a:xfrm>
            <a:off x="318977" y="1254641"/>
            <a:ext cx="11164186" cy="5362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1120775" lvl="1" marL="400050" rtl="0" algn="just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US" sz="1400">
                <a:solidFill>
                  <a:srgbClr val="F0D983"/>
                </a:solidFill>
              </a:rPr>
              <a:t>Str_trim PROC USES eax ecx edi,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 sz="1400">
                <a:solidFill>
                  <a:srgbClr val="F0D983"/>
                </a:solidFill>
              </a:rPr>
              <a:t> pString:PTR BYTE,                              ; points to string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 sz="1400">
                <a:solidFill>
                  <a:srgbClr val="F0D983"/>
                </a:solidFill>
              </a:rPr>
              <a:t> char: BYTE                                        ; character to remove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 sz="1400">
                <a:solidFill>
                  <a:srgbClr val="F0D983"/>
                </a:solidFill>
              </a:rPr>
              <a:t> mov edi,pString                              ; prepare to call  Str_length</a:t>
            </a:r>
            <a:endParaRPr sz="1400">
              <a:solidFill>
                <a:srgbClr val="F0D983"/>
              </a:solidFill>
            </a:endParaRPr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 sz="1400">
                <a:solidFill>
                  <a:srgbClr val="F0D983"/>
                </a:solidFill>
              </a:rPr>
              <a:t> INVOKE Str_length,edi                   ; returns the length in EAX</a:t>
            </a:r>
            <a:endParaRPr sz="1400">
              <a:solidFill>
                <a:srgbClr val="F0D983"/>
              </a:solidFill>
            </a:endParaRPr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 sz="1400">
                <a:solidFill>
                  <a:srgbClr val="F0D983"/>
                </a:solidFill>
              </a:rPr>
              <a:t> cmp eax,0                                      ; is the length equal to zero?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 sz="1400">
                <a:solidFill>
                  <a:srgbClr val="F0D983"/>
                </a:solidFill>
              </a:rPr>
              <a:t> je L3 ; yes: exit now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 sz="1400">
                <a:solidFill>
                  <a:srgbClr val="F0D983"/>
                </a:solidFill>
              </a:rPr>
              <a:t> mov ecx,eax                                   ; no: ECX = string length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 sz="1400">
                <a:solidFill>
                  <a:srgbClr val="F0D983"/>
                </a:solidFill>
              </a:rPr>
              <a:t> dec eax</a:t>
            </a:r>
            <a:endParaRPr sz="1400">
              <a:solidFill>
                <a:srgbClr val="F0D983"/>
              </a:solidFill>
            </a:endParaRPr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 sz="1400">
                <a:solidFill>
                  <a:srgbClr val="F0D983"/>
                </a:solidFill>
              </a:rPr>
              <a:t> add edi,eax 		                     ; point to last character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 sz="1400">
                <a:solidFill>
                  <a:srgbClr val="F0D983"/>
                </a:solidFill>
              </a:rPr>
              <a:t>L1: mov al,[edi] 		           ; get a character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 sz="1400">
                <a:solidFill>
                  <a:srgbClr val="F0D983"/>
                </a:solidFill>
              </a:rPr>
              <a:t> cmp al,char 				 ; is it the delimiter?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 sz="1400">
                <a:solidFill>
                  <a:srgbClr val="F0D983"/>
                </a:solidFill>
              </a:rPr>
              <a:t> jne L2 					 ; no: insert null byte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 sz="1400">
                <a:solidFill>
                  <a:srgbClr val="F0D983"/>
                </a:solidFill>
              </a:rPr>
              <a:t> dec edi 					 ; yes: keep backing up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 sz="1400">
                <a:solidFill>
                  <a:srgbClr val="F0D983"/>
                </a:solidFill>
              </a:rPr>
              <a:t> loop L1 					 ; until beginning reached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 sz="1400">
                <a:solidFill>
                  <a:srgbClr val="F0D983"/>
                </a:solidFill>
              </a:rPr>
              <a:t>L2: mov BYTE PTR [edi+1],0		 ; insert a null byte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 sz="1400">
                <a:solidFill>
                  <a:srgbClr val="F0D983"/>
                </a:solidFill>
              </a:rPr>
              <a:t>L3: ret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 sz="1400">
                <a:solidFill>
                  <a:srgbClr val="F0D983"/>
                </a:solidFill>
              </a:rPr>
              <a:t>Stmr_trim ENDP</a:t>
            </a:r>
            <a:endParaRPr sz="1400">
              <a:solidFill>
                <a:srgbClr val="F0D983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8"/>
          <p:cNvSpPr txBox="1"/>
          <p:nvPr>
            <p:ph type="title"/>
          </p:nvPr>
        </p:nvSpPr>
        <p:spPr>
          <a:xfrm>
            <a:off x="646111" y="452718"/>
            <a:ext cx="9404723" cy="801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b="1" lang="en-US" sz="3200" cap="small"/>
              <a:t>Str_ucase Procedure</a:t>
            </a:r>
            <a:endParaRPr cap="small"/>
          </a:p>
        </p:txBody>
      </p:sp>
      <p:sp>
        <p:nvSpPr>
          <p:cNvPr id="388" name="Google Shape;388;p38"/>
          <p:cNvSpPr txBox="1"/>
          <p:nvPr>
            <p:ph idx="1" type="body"/>
          </p:nvPr>
        </p:nvSpPr>
        <p:spPr>
          <a:xfrm>
            <a:off x="318977" y="1331259"/>
            <a:ext cx="11164186" cy="5074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The Str_ucase procedure converts a string to all uppercase characters. It returns no value. 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1" lang="en-US"/>
              <a:t>PROTOTYPE (PROTO)</a:t>
            </a:r>
            <a:r>
              <a:rPr lang="en-US"/>
              <a:t>: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Str_ucase PROTO,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  pString:PTR BYTE		; pointer to string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1" lang="en-US"/>
              <a:t>Example</a:t>
            </a:r>
            <a:r>
              <a:rPr lang="en-US"/>
              <a:t>: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.data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myString BYTE "Hello",0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.code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	INVOKE Str_ucase, ADDR myString</a:t>
            </a:r>
            <a:endParaRPr>
              <a:solidFill>
                <a:srgbClr val="F0D983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9"/>
          <p:cNvSpPr txBox="1"/>
          <p:nvPr>
            <p:ph type="title"/>
          </p:nvPr>
        </p:nvSpPr>
        <p:spPr>
          <a:xfrm>
            <a:off x="646111" y="452718"/>
            <a:ext cx="9404723" cy="801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b="1" lang="en-US" sz="3200" cap="small"/>
              <a:t>Str_ucase Procedure Source Code</a:t>
            </a:r>
            <a:endParaRPr cap="small"/>
          </a:p>
        </p:txBody>
      </p:sp>
      <p:sp>
        <p:nvSpPr>
          <p:cNvPr id="394" name="Google Shape;394;p39"/>
          <p:cNvSpPr txBox="1"/>
          <p:nvPr>
            <p:ph idx="1" type="body"/>
          </p:nvPr>
        </p:nvSpPr>
        <p:spPr>
          <a:xfrm>
            <a:off x="318977" y="1254641"/>
            <a:ext cx="11164186" cy="5362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1120775" lvl="1" marL="400050" rtl="0" algn="just"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Str_ucase PROC USES eax esi,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	pString:PTR BYTE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	mov esi,pString</a:t>
            </a:r>
            <a:endParaRPr>
              <a:solidFill>
                <a:srgbClr val="F0D983"/>
              </a:solidFill>
            </a:endParaRPr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t/>
            </a:r>
            <a:endParaRPr>
              <a:solidFill>
                <a:srgbClr val="F0D983"/>
              </a:solidFill>
            </a:endParaRPr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L1:	mov al,[esi]				; get char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	cmp al,0					; end of string?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	je  L3						; yes: quit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	cmp al,'a’					; below "a"?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	jb  L2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	cmp al,'z’					; above "z"?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	ja  L2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	and BYTE PTR [esi],11011111b	; convert the char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t/>
            </a:r>
            <a:endParaRPr>
              <a:solidFill>
                <a:srgbClr val="F0D983"/>
              </a:solidFill>
            </a:endParaRPr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L2:	inc esi					; next char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	jmp L1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t/>
            </a:r>
            <a:endParaRPr>
              <a:solidFill>
                <a:srgbClr val="F0D983"/>
              </a:solidFill>
            </a:endParaRPr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L3: ret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rgbClr val="F0D983"/>
                </a:solidFill>
              </a:rPr>
              <a:t>Str_ucase ENDP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0"/>
          <p:cNvSpPr txBox="1"/>
          <p:nvPr>
            <p:ph idx="1" type="body"/>
          </p:nvPr>
        </p:nvSpPr>
        <p:spPr>
          <a:xfrm>
            <a:off x="1622729" y="2198614"/>
            <a:ext cx="8946541" cy="2460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US"/>
              <a:t> </a:t>
            </a:r>
            <a:r>
              <a:rPr b="1" lang="en-US" sz="13800" cap="small"/>
              <a:t>Two-Dimensional Arrays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 b="1" cap="small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1"/>
          <p:cNvSpPr/>
          <p:nvPr/>
        </p:nvSpPr>
        <p:spPr>
          <a:xfrm>
            <a:off x="520507" y="1011927"/>
            <a:ext cx="1007246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•The two methods of arranging the rows and columns in memory: row-major order and column-major order. 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5" name="Google Shape;405;p41"/>
          <p:cNvSpPr/>
          <p:nvPr/>
        </p:nvSpPr>
        <p:spPr>
          <a:xfrm>
            <a:off x="520507" y="1954462"/>
            <a:ext cx="1108534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•If you implement a two-dimensional array in assembly language, you can choose either ordering method. 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06" name="Google Shape;40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7264" y="2725205"/>
            <a:ext cx="4460265" cy="1795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3019" y="4429630"/>
            <a:ext cx="5934589" cy="886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81307" y="5587562"/>
            <a:ext cx="6285417" cy="8864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2"/>
          <p:cNvSpPr txBox="1"/>
          <p:nvPr>
            <p:ph type="title"/>
          </p:nvPr>
        </p:nvSpPr>
        <p:spPr>
          <a:xfrm>
            <a:off x="646111" y="452718"/>
            <a:ext cx="9404723" cy="801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b="1" lang="en-US" sz="3200"/>
              <a:t>THE TWO OPERAND TYPES</a:t>
            </a:r>
            <a:endParaRPr b="1" cap="small"/>
          </a:p>
        </p:txBody>
      </p:sp>
      <p:sp>
        <p:nvSpPr>
          <p:cNvPr id="414" name="Google Shape;414;p42"/>
          <p:cNvSpPr txBox="1"/>
          <p:nvPr>
            <p:ph idx="1" type="body"/>
          </p:nvPr>
        </p:nvSpPr>
        <p:spPr>
          <a:xfrm>
            <a:off x="318977" y="1895301"/>
            <a:ext cx="11164186" cy="45099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3520"/>
              <a:buChar char="►"/>
            </a:pPr>
            <a:r>
              <a:rPr lang="en-US" sz="4400"/>
              <a:t>Base-Index Operands</a:t>
            </a:r>
            <a:endParaRPr/>
          </a:p>
          <a:p>
            <a:pPr indent="-119379" lvl="0" marL="342900" rtl="0" algn="just">
              <a:spcBef>
                <a:spcPts val="1000"/>
              </a:spcBef>
              <a:spcAft>
                <a:spcPts val="0"/>
              </a:spcAft>
              <a:buSzPts val="3520"/>
              <a:buNone/>
            </a:pPr>
            <a:r>
              <a:t/>
            </a:r>
            <a:endParaRPr sz="4400"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3520"/>
              <a:buChar char="►"/>
            </a:pPr>
            <a:r>
              <a:rPr lang="en-US" sz="4400"/>
              <a:t>Base-Index Displacement Operands</a:t>
            </a:r>
            <a:endParaRPr sz="5400"/>
          </a:p>
          <a:p>
            <a:pPr indent="-2413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3"/>
          <p:cNvSpPr txBox="1"/>
          <p:nvPr>
            <p:ph type="title"/>
          </p:nvPr>
        </p:nvSpPr>
        <p:spPr>
          <a:xfrm>
            <a:off x="646111" y="452718"/>
            <a:ext cx="9404723" cy="801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b="1" lang="en-US" sz="3200" cap="small"/>
              <a:t>Base-Index Operand</a:t>
            </a:r>
            <a:endParaRPr cap="small"/>
          </a:p>
        </p:txBody>
      </p:sp>
      <p:sp>
        <p:nvSpPr>
          <p:cNvPr id="420" name="Google Shape;420;p43"/>
          <p:cNvSpPr txBox="1"/>
          <p:nvPr>
            <p:ph idx="1" type="body"/>
          </p:nvPr>
        </p:nvSpPr>
        <p:spPr>
          <a:xfrm>
            <a:off x="318977" y="1331259"/>
            <a:ext cx="11164186" cy="5074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A base-index operand adds the values of two registers (called base and index), producing an effective address</a:t>
            </a:r>
            <a:endParaRPr/>
          </a:p>
          <a:p>
            <a:pPr indent="-285750" lvl="1" marL="742950" rtl="0" algn="just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Any two 32-bit general-purpose registers may be used (Note: esp is not used for general purpose)</a:t>
            </a:r>
            <a:endParaRPr/>
          </a:p>
          <a:p>
            <a:pPr indent="-2413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342900" rtl="0" algn="ctr">
              <a:spcBef>
                <a:spcPts val="1000"/>
              </a:spcBef>
              <a:spcAft>
                <a:spcPts val="0"/>
              </a:spcAft>
              <a:buSzPts val="2880"/>
              <a:buChar char="►"/>
            </a:pPr>
            <a:r>
              <a:rPr lang="en-US" sz="3600">
                <a:solidFill>
                  <a:srgbClr val="FF0000"/>
                </a:solidFill>
              </a:rPr>
              <a:t>[base + index]</a:t>
            </a:r>
            <a:endParaRPr/>
          </a:p>
          <a:p>
            <a:pPr indent="-2413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4"/>
          <p:cNvSpPr txBox="1"/>
          <p:nvPr>
            <p:ph type="title"/>
          </p:nvPr>
        </p:nvSpPr>
        <p:spPr>
          <a:xfrm>
            <a:off x="646111" y="452718"/>
            <a:ext cx="9404723" cy="801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b="1" lang="en-US" sz="3200" cap="small"/>
              <a:t>Base-Index-Displacement Operand</a:t>
            </a:r>
            <a:endParaRPr cap="small"/>
          </a:p>
        </p:txBody>
      </p:sp>
      <p:sp>
        <p:nvSpPr>
          <p:cNvPr id="426" name="Google Shape;426;p44"/>
          <p:cNvSpPr txBox="1"/>
          <p:nvPr>
            <p:ph idx="1" type="body"/>
          </p:nvPr>
        </p:nvSpPr>
        <p:spPr>
          <a:xfrm>
            <a:off x="318977" y="1331259"/>
            <a:ext cx="11164186" cy="5074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920"/>
              <a:buChar char="►"/>
            </a:pPr>
            <a:r>
              <a:rPr b="1" lang="en-US" sz="2400"/>
              <a:t>A base-index-displacement operand combines a displacement, a base register, an index register, and an optional scale factor to produce an effective address.</a:t>
            </a:r>
            <a:r>
              <a:rPr lang="en-US"/>
              <a:t> </a:t>
            </a:r>
            <a:endParaRPr/>
          </a:p>
          <a:p>
            <a:pPr indent="-2413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Displacement can be the name of a variable or a constant expression.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Common Format:</a:t>
            </a:r>
            <a:endParaRPr/>
          </a:p>
          <a:p>
            <a:pPr indent="1120775" lvl="1" marL="400050" rtl="0" algn="ctr">
              <a:spcBef>
                <a:spcPts val="1000"/>
              </a:spcBef>
              <a:spcAft>
                <a:spcPts val="0"/>
              </a:spcAft>
              <a:buSzPts val="2240"/>
              <a:buNone/>
            </a:pPr>
            <a:r>
              <a:rPr b="1" lang="en-US" sz="2800">
                <a:solidFill>
                  <a:srgbClr val="FF0000"/>
                </a:solidFill>
              </a:rPr>
              <a:t>[base + index + displacement] </a:t>
            </a:r>
            <a:endParaRPr/>
          </a:p>
          <a:p>
            <a:pPr indent="1120775" lvl="1" marL="400050" rtl="0" algn="ctr">
              <a:spcBef>
                <a:spcPts val="1000"/>
              </a:spcBef>
              <a:spcAft>
                <a:spcPts val="0"/>
              </a:spcAft>
              <a:buSzPts val="2240"/>
              <a:buNone/>
            </a:pPr>
            <a:r>
              <a:rPr b="1" lang="en-US" sz="2800">
                <a:solidFill>
                  <a:srgbClr val="FF0000"/>
                </a:solidFill>
              </a:rPr>
              <a:t>displacement[base + index] </a:t>
            </a:r>
            <a:endParaRPr/>
          </a:p>
          <a:p>
            <a:pPr indent="1120775" lvl="1" marL="400050" rtl="0" algn="ctr">
              <a:spcBef>
                <a:spcPts val="100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 b="1" sz="2800">
              <a:solidFill>
                <a:srgbClr val="FF0000"/>
              </a:solidFill>
            </a:endParaRPr>
          </a:p>
          <a:p>
            <a:pPr indent="1120775" lvl="1" marL="400050" rtl="0" algn="ctr">
              <a:spcBef>
                <a:spcPts val="100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 b="1" sz="2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5"/>
          <p:cNvSpPr txBox="1"/>
          <p:nvPr>
            <p:ph type="title"/>
          </p:nvPr>
        </p:nvSpPr>
        <p:spPr>
          <a:xfrm>
            <a:off x="646111" y="452718"/>
            <a:ext cx="9404723" cy="771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b="1" lang="en-US"/>
              <a:t>BASE-INDEX OPERANDS </a:t>
            </a:r>
            <a:endParaRPr b="1"/>
          </a:p>
        </p:txBody>
      </p:sp>
      <p:pic>
        <p:nvPicPr>
          <p:cNvPr id="432" name="Google Shape;4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5135" y="1223889"/>
            <a:ext cx="8799874" cy="5192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6"/>
          <p:cNvSpPr txBox="1"/>
          <p:nvPr>
            <p:ph type="title"/>
          </p:nvPr>
        </p:nvSpPr>
        <p:spPr>
          <a:xfrm>
            <a:off x="646111" y="452718"/>
            <a:ext cx="9404723" cy="801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b="1" lang="en-US" sz="3200" cap="small"/>
              <a:t>Two-Dimensional Array Example</a:t>
            </a:r>
            <a:endParaRPr cap="small"/>
          </a:p>
        </p:txBody>
      </p:sp>
      <p:sp>
        <p:nvSpPr>
          <p:cNvPr id="438" name="Google Shape;438;p46"/>
          <p:cNvSpPr txBox="1"/>
          <p:nvPr>
            <p:ph idx="1" type="body"/>
          </p:nvPr>
        </p:nvSpPr>
        <p:spPr>
          <a:xfrm>
            <a:off x="318977" y="1331259"/>
            <a:ext cx="11164186" cy="5074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Imagine a table with three rows and five columns. The data can be arranged in any format on the page: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table  BYTE   10h,    20h,   30h,   40h,   50h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           BYTE   60h,    70h,   80h,   90h, 0A0h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           BYTE 0B0h, 0C0h, 0D0h, 0E0h, 0F0h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NumCols = 5</a:t>
            </a:r>
            <a:endParaRPr>
              <a:solidFill>
                <a:srgbClr val="F0D983"/>
              </a:solidFill>
            </a:endParaRPr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Alternative format</a:t>
            </a:r>
            <a:r>
              <a:rPr b="1" lang="en-US"/>
              <a:t>: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table  BYTE  10h,20h,30h,40h,50h,60h,70h,80h,90h,0A0h,0B0h,0C0h,0D0h,0E0h,0F0h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F0D983"/>
                </a:solidFill>
              </a:rPr>
              <a:t>NumCols = 5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7"/>
          <p:cNvSpPr txBox="1"/>
          <p:nvPr>
            <p:ph type="title"/>
          </p:nvPr>
        </p:nvSpPr>
        <p:spPr>
          <a:xfrm>
            <a:off x="646111" y="452718"/>
            <a:ext cx="9404723" cy="801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b="1" lang="en-US" sz="3200" cap="small"/>
              <a:t>Two-Dimensional Array Example</a:t>
            </a:r>
            <a:endParaRPr cap="small"/>
          </a:p>
        </p:txBody>
      </p:sp>
      <p:sp>
        <p:nvSpPr>
          <p:cNvPr id="444" name="Google Shape;444;p47"/>
          <p:cNvSpPr txBox="1"/>
          <p:nvPr>
            <p:ph idx="1" type="body"/>
          </p:nvPr>
        </p:nvSpPr>
        <p:spPr>
          <a:xfrm>
            <a:off x="318977" y="1331259"/>
            <a:ext cx="11164186" cy="5074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The following code loads the table element stored in row 1, column 2: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>
              <a:solidFill>
                <a:srgbClr val="F0D983"/>
              </a:solidFill>
            </a:endParaRPr>
          </a:p>
        </p:txBody>
      </p:sp>
      <p:pic>
        <p:nvPicPr>
          <p:cNvPr id="445" name="Google Shape;4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6875" y="1839863"/>
            <a:ext cx="8858250" cy="481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8"/>
          <p:cNvSpPr txBox="1"/>
          <p:nvPr>
            <p:ph type="title"/>
          </p:nvPr>
        </p:nvSpPr>
        <p:spPr>
          <a:xfrm>
            <a:off x="646111" y="452718"/>
            <a:ext cx="9404723" cy="801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b="1" lang="en-US" sz="3200" cap="small"/>
              <a:t>Two-Dimensional Array Example</a:t>
            </a:r>
            <a:endParaRPr cap="small"/>
          </a:p>
        </p:txBody>
      </p:sp>
      <p:sp>
        <p:nvSpPr>
          <p:cNvPr id="451" name="Google Shape;451;p48"/>
          <p:cNvSpPr txBox="1"/>
          <p:nvPr>
            <p:ph idx="1" type="body"/>
          </p:nvPr>
        </p:nvSpPr>
        <p:spPr>
          <a:xfrm>
            <a:off x="318977" y="1331259"/>
            <a:ext cx="11164186" cy="5074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The following code loads the table element stored in row 1, column 2:</a:t>
            </a:r>
            <a:endParaRPr/>
          </a:p>
          <a:p>
            <a:pPr indent="1120775" lvl="1" marL="400050" rtl="0" algn="just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>
              <a:solidFill>
                <a:srgbClr val="F0D983"/>
              </a:solidFill>
            </a:endParaRPr>
          </a:p>
        </p:txBody>
      </p:sp>
      <p:pic>
        <p:nvPicPr>
          <p:cNvPr id="452" name="Google Shape;45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5150" y="4614735"/>
            <a:ext cx="8713368" cy="1594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6246" y="1999704"/>
            <a:ext cx="7747416" cy="24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on">
  <a:themeElements>
    <a:clrScheme name="Ion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2021-08-30T19:27:23Z</dcterms:created>
  <dc:creator>Aashir Mahboob</dc:creator>
</cp:coreProperties>
</file>