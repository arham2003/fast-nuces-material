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27.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301" r:id="rId3"/>
    <p:sldId id="299" r:id="rId4"/>
    <p:sldId id="300" r:id="rId5"/>
    <p:sldId id="304" r:id="rId6"/>
    <p:sldId id="306" r:id="rId7"/>
    <p:sldId id="307" r:id="rId8"/>
    <p:sldId id="308" r:id="rId9"/>
    <p:sldId id="309" r:id="rId10"/>
    <p:sldId id="311" r:id="rId11"/>
    <p:sldId id="310" r:id="rId12"/>
    <p:sldId id="312" r:id="rId13"/>
    <p:sldId id="313" r:id="rId14"/>
    <p:sldId id="314" r:id="rId15"/>
    <p:sldId id="316" r:id="rId16"/>
    <p:sldId id="315" r:id="rId17"/>
    <p:sldId id="290" r:id="rId18"/>
    <p:sldId id="318" r:id="rId19"/>
    <p:sldId id="317" r:id="rId20"/>
    <p:sldId id="319" r:id="rId21"/>
    <p:sldId id="320" r:id="rId22"/>
    <p:sldId id="321" r:id="rId23"/>
    <p:sldId id="322" r:id="rId24"/>
    <p:sldId id="323" r:id="rId2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66" y="21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rgbClr val="0000A2"/>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6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12/3/2024</a:t>
            </a:fld>
            <a:endParaRPr lang="en-US"/>
          </a:p>
        </p:txBody>
      </p:sp>
      <p:sp>
        <p:nvSpPr>
          <p:cNvPr id="6" name="Holder 6"/>
          <p:cNvSpPr>
            <a:spLocks noGrp="1"/>
          </p:cNvSpPr>
          <p:nvPr>
            <p:ph type="sldNum" sz="quarter" idx="7"/>
          </p:nvPr>
        </p:nvSpPr>
        <p:spPr/>
        <p:txBody>
          <a:bodyPr lIns="0" tIns="0" rIns="0" bIns="0"/>
          <a:lstStyle>
            <a:lvl1pPr>
              <a:defRPr sz="1100" b="0" i="0">
                <a:solidFill>
                  <a:srgbClr val="7E7E7E"/>
                </a:solidFill>
                <a:latin typeface="Calibri"/>
                <a:cs typeface="Calibri"/>
              </a:defRPr>
            </a:lvl1pPr>
          </a:lstStyle>
          <a:p>
            <a:pPr marL="12700">
              <a:lnSpc>
                <a:spcPts val="1150"/>
              </a:lnSpc>
            </a:pPr>
            <a:r>
              <a:rPr spc="-10" dirty="0"/>
              <a:t>Introduction:</a:t>
            </a:r>
            <a:r>
              <a:rPr spc="50" dirty="0"/>
              <a:t> </a:t>
            </a:r>
            <a:r>
              <a:rPr spc="-10" dirty="0"/>
              <a:t>1-</a:t>
            </a: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0000A2"/>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6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12/3/2024</a:t>
            </a:fld>
            <a:endParaRPr lang="en-US"/>
          </a:p>
        </p:txBody>
      </p:sp>
      <p:sp>
        <p:nvSpPr>
          <p:cNvPr id="6" name="Holder 6"/>
          <p:cNvSpPr>
            <a:spLocks noGrp="1"/>
          </p:cNvSpPr>
          <p:nvPr>
            <p:ph type="sldNum" sz="quarter" idx="7"/>
          </p:nvPr>
        </p:nvSpPr>
        <p:spPr/>
        <p:txBody>
          <a:bodyPr lIns="0" tIns="0" rIns="0" bIns="0"/>
          <a:lstStyle>
            <a:lvl1pPr>
              <a:defRPr sz="1100" b="0" i="0">
                <a:solidFill>
                  <a:srgbClr val="7E7E7E"/>
                </a:solidFill>
                <a:latin typeface="Calibri"/>
                <a:cs typeface="Calibri"/>
              </a:defRPr>
            </a:lvl1pPr>
          </a:lstStyle>
          <a:p>
            <a:pPr marL="12700">
              <a:lnSpc>
                <a:spcPts val="1150"/>
              </a:lnSpc>
            </a:pPr>
            <a:r>
              <a:rPr spc="-10" dirty="0"/>
              <a:t>Introduction:</a:t>
            </a:r>
            <a:r>
              <a:rPr spc="50" dirty="0"/>
              <a:t> </a:t>
            </a:r>
            <a:r>
              <a:rPr spc="-10" dirty="0"/>
              <a:t>1-</a:t>
            </a: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0000A2"/>
                </a:solidFill>
                <a:latin typeface="Calibri Light"/>
                <a:cs typeface="Calibri Light"/>
              </a:defRPr>
            </a:lvl1pPr>
          </a:lstStyle>
          <a:p>
            <a:endParaRPr/>
          </a:p>
        </p:txBody>
      </p:sp>
      <p:sp>
        <p:nvSpPr>
          <p:cNvPr id="3" name="Holder 3"/>
          <p:cNvSpPr>
            <a:spLocks noGrp="1"/>
          </p:cNvSpPr>
          <p:nvPr>
            <p:ph sz="half" idx="2"/>
          </p:nvPr>
        </p:nvSpPr>
        <p:spPr>
          <a:xfrm>
            <a:off x="838200" y="1825751"/>
            <a:ext cx="5181600" cy="4351020"/>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4" name="Holder 4"/>
          <p:cNvSpPr>
            <a:spLocks noGrp="1"/>
          </p:cNvSpPr>
          <p:nvPr>
            <p:ph sz="half" idx="3"/>
          </p:nvPr>
        </p:nvSpPr>
        <p:spPr>
          <a:xfrm>
            <a:off x="6172200" y="1825751"/>
            <a:ext cx="5181600" cy="4351020"/>
          </a:xfrm>
          <a:prstGeom prst="rect">
            <a:avLst/>
          </a:prstGeom>
        </p:spPr>
        <p:txBody>
          <a:bodyPr wrap="square" lIns="0" tIns="0" rIns="0" bIns="0">
            <a:spAutoFit/>
          </a:bodyPr>
          <a:lstStyle>
            <a:lvl1pPr>
              <a:defRPr b="0" i="0">
                <a:solidFill>
                  <a:schemeClr val="tx1"/>
                </a:solidFill>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12/3/2024</a:t>
            </a:fld>
            <a:endParaRPr lang="en-US"/>
          </a:p>
        </p:txBody>
      </p:sp>
      <p:sp>
        <p:nvSpPr>
          <p:cNvPr id="7" name="Holder 7"/>
          <p:cNvSpPr>
            <a:spLocks noGrp="1"/>
          </p:cNvSpPr>
          <p:nvPr>
            <p:ph type="sldNum" sz="quarter" idx="7"/>
          </p:nvPr>
        </p:nvSpPr>
        <p:spPr/>
        <p:txBody>
          <a:bodyPr lIns="0" tIns="0" rIns="0" bIns="0"/>
          <a:lstStyle>
            <a:lvl1pPr>
              <a:defRPr sz="1100" b="0" i="0">
                <a:solidFill>
                  <a:srgbClr val="7E7E7E"/>
                </a:solidFill>
                <a:latin typeface="Calibri"/>
                <a:cs typeface="Calibri"/>
              </a:defRPr>
            </a:lvl1pPr>
          </a:lstStyle>
          <a:p>
            <a:pPr marL="12700">
              <a:lnSpc>
                <a:spcPts val="1150"/>
              </a:lnSpc>
            </a:pPr>
            <a:r>
              <a:rPr spc="-10" dirty="0"/>
              <a:t>Introduction:</a:t>
            </a:r>
            <a:r>
              <a:rPr spc="50" dirty="0"/>
              <a:t> </a:t>
            </a:r>
            <a:r>
              <a:rPr spc="-10" dirty="0"/>
              <a:t>1-</a:t>
            </a: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0000A2"/>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12/3/2024</a:t>
            </a:fld>
            <a:endParaRPr lang="en-US"/>
          </a:p>
        </p:txBody>
      </p:sp>
      <p:sp>
        <p:nvSpPr>
          <p:cNvPr id="5" name="Holder 5"/>
          <p:cNvSpPr>
            <a:spLocks noGrp="1"/>
          </p:cNvSpPr>
          <p:nvPr>
            <p:ph type="sldNum" sz="quarter" idx="7"/>
          </p:nvPr>
        </p:nvSpPr>
        <p:spPr/>
        <p:txBody>
          <a:bodyPr lIns="0" tIns="0" rIns="0" bIns="0"/>
          <a:lstStyle>
            <a:lvl1pPr>
              <a:defRPr sz="1100" b="0" i="0">
                <a:solidFill>
                  <a:srgbClr val="7E7E7E"/>
                </a:solidFill>
                <a:latin typeface="Calibri"/>
                <a:cs typeface="Calibri"/>
              </a:defRPr>
            </a:lvl1pPr>
          </a:lstStyle>
          <a:p>
            <a:pPr marL="12700">
              <a:lnSpc>
                <a:spcPts val="1150"/>
              </a:lnSpc>
            </a:pPr>
            <a:r>
              <a:rPr spc="-10" dirty="0"/>
              <a:t>Introduction:</a:t>
            </a:r>
            <a:r>
              <a:rPr spc="50" dirty="0"/>
              <a:t> </a:t>
            </a:r>
            <a:r>
              <a:rPr spc="-10" dirty="0"/>
              <a:t>1-</a:t>
            </a: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12/3/2024</a:t>
            </a:fld>
            <a:endParaRPr lang="en-US"/>
          </a:p>
        </p:txBody>
      </p:sp>
      <p:sp>
        <p:nvSpPr>
          <p:cNvPr id="4" name="Holder 4"/>
          <p:cNvSpPr>
            <a:spLocks noGrp="1"/>
          </p:cNvSpPr>
          <p:nvPr>
            <p:ph type="sldNum" sz="quarter" idx="7"/>
          </p:nvPr>
        </p:nvSpPr>
        <p:spPr/>
        <p:txBody>
          <a:bodyPr lIns="0" tIns="0" rIns="0" bIns="0"/>
          <a:lstStyle>
            <a:lvl1pPr>
              <a:defRPr sz="1100" b="0" i="0">
                <a:solidFill>
                  <a:srgbClr val="7E7E7E"/>
                </a:solidFill>
                <a:latin typeface="Calibri"/>
                <a:cs typeface="Calibri"/>
              </a:defRPr>
            </a:lvl1pPr>
          </a:lstStyle>
          <a:p>
            <a:pPr marL="12700">
              <a:lnSpc>
                <a:spcPts val="1150"/>
              </a:lnSpc>
            </a:pPr>
            <a:r>
              <a:rPr spc="-10" dirty="0"/>
              <a:t>Introduction:</a:t>
            </a:r>
            <a:r>
              <a:rPr spc="50" dirty="0"/>
              <a:t> </a:t>
            </a:r>
            <a:r>
              <a:rPr spc="-10" dirty="0"/>
              <a:t>1-</a:t>
            </a: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92912" y="299465"/>
            <a:ext cx="10606277" cy="878459"/>
          </a:xfrm>
          <a:prstGeom prst="rect">
            <a:avLst/>
          </a:prstGeom>
        </p:spPr>
        <p:txBody>
          <a:bodyPr wrap="square" lIns="0" tIns="0" rIns="0" bIns="0">
            <a:spAutoFit/>
          </a:bodyPr>
          <a:lstStyle>
            <a:lvl1pPr>
              <a:defRPr sz="4400" b="0" i="0">
                <a:solidFill>
                  <a:srgbClr val="0000A2"/>
                </a:solidFill>
                <a:latin typeface="Calibri Light"/>
                <a:cs typeface="Calibri Light"/>
              </a:defRPr>
            </a:lvl1pPr>
          </a:lstStyle>
          <a:p>
            <a:endParaRPr/>
          </a:p>
        </p:txBody>
      </p:sp>
      <p:sp>
        <p:nvSpPr>
          <p:cNvPr id="3" name="Holder 3"/>
          <p:cNvSpPr>
            <a:spLocks noGrp="1"/>
          </p:cNvSpPr>
          <p:nvPr>
            <p:ph type="body" idx="1"/>
          </p:nvPr>
        </p:nvSpPr>
        <p:spPr>
          <a:xfrm>
            <a:off x="848360" y="2622295"/>
            <a:ext cx="5705475" cy="1750695"/>
          </a:xfrm>
          <a:prstGeom prst="rect">
            <a:avLst/>
          </a:prstGeom>
        </p:spPr>
        <p:txBody>
          <a:bodyPr wrap="square" lIns="0" tIns="0" rIns="0" bIns="0">
            <a:spAutoFit/>
          </a:bodyPr>
          <a:lstStyle>
            <a:lvl1pPr>
              <a:defRPr sz="26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12/3/2024</a:t>
            </a:fld>
            <a:endParaRPr lang="en-US"/>
          </a:p>
        </p:txBody>
      </p:sp>
      <p:sp>
        <p:nvSpPr>
          <p:cNvPr id="6" name="Holder 6"/>
          <p:cNvSpPr>
            <a:spLocks noGrp="1"/>
          </p:cNvSpPr>
          <p:nvPr>
            <p:ph type="sldNum" sz="quarter" idx="7"/>
          </p:nvPr>
        </p:nvSpPr>
        <p:spPr>
          <a:xfrm>
            <a:off x="10826877" y="6556349"/>
            <a:ext cx="1095375" cy="165734"/>
          </a:xfrm>
          <a:prstGeom prst="rect">
            <a:avLst/>
          </a:prstGeom>
        </p:spPr>
        <p:txBody>
          <a:bodyPr wrap="square" lIns="0" tIns="0" rIns="0" bIns="0">
            <a:spAutoFit/>
          </a:bodyPr>
          <a:lstStyle>
            <a:lvl1pPr>
              <a:defRPr sz="1100" b="0" i="0">
                <a:solidFill>
                  <a:srgbClr val="7E7E7E"/>
                </a:solidFill>
                <a:latin typeface="Calibri"/>
                <a:cs typeface="Calibri"/>
              </a:defRPr>
            </a:lvl1pPr>
          </a:lstStyle>
          <a:p>
            <a:pPr marL="12700">
              <a:lnSpc>
                <a:spcPts val="1150"/>
              </a:lnSpc>
            </a:pPr>
            <a:r>
              <a:rPr spc="-10" dirty="0"/>
              <a:t>Introduction:</a:t>
            </a:r>
            <a:r>
              <a:rPr spc="50" dirty="0"/>
              <a:t> </a:t>
            </a:r>
            <a:r>
              <a:rPr spc="-10" dirty="0"/>
              <a:t>1-</a:t>
            </a: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png"/><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5.png"/><Relationship Id="rId1" Type="http://schemas.openxmlformats.org/officeDocument/2006/relationships/slideLayout" Target="../slideLayouts/slideLayout5.xml"/><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7.png"/><Relationship Id="rId1" Type="http://schemas.openxmlformats.org/officeDocument/2006/relationships/slideLayout" Target="../slideLayouts/slideLayout5.xml"/><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48330" y="2482587"/>
            <a:ext cx="6895340" cy="1892825"/>
          </a:xfrm>
          <a:prstGeom prst="rect">
            <a:avLst/>
          </a:prstGeom>
        </p:spPr>
        <p:txBody>
          <a:bodyPr vert="horz" wrap="square" lIns="0" tIns="259079" rIns="0" bIns="0" rtlCol="0">
            <a:spAutoFit/>
          </a:bodyPr>
          <a:lstStyle/>
          <a:p>
            <a:pPr algn="ctr">
              <a:lnSpc>
                <a:spcPct val="100000"/>
              </a:lnSpc>
              <a:spcBef>
                <a:spcPts val="2039"/>
              </a:spcBef>
            </a:pPr>
            <a:r>
              <a:rPr lang="en-US" sz="6000" b="1" dirty="0"/>
              <a:t>CUDA C </a:t>
            </a:r>
            <a:r>
              <a:rPr sz="6000" b="1" spc="-65" dirty="0"/>
              <a:t>Programming</a:t>
            </a:r>
            <a:endParaRPr sz="6000" b="1" dirty="0"/>
          </a:p>
          <a:p>
            <a:pPr algn="ctr">
              <a:lnSpc>
                <a:spcPct val="100000"/>
              </a:lnSpc>
              <a:spcBef>
                <a:spcPts val="1170"/>
              </a:spcBef>
            </a:pPr>
            <a:r>
              <a:rPr sz="3600" dirty="0">
                <a:solidFill>
                  <a:srgbClr val="000000"/>
                </a:solidFill>
                <a:latin typeface="Calibri"/>
                <a:cs typeface="Calibri"/>
              </a:rPr>
              <a:t>Week</a:t>
            </a:r>
            <a:r>
              <a:rPr sz="3600" spc="-75" dirty="0">
                <a:solidFill>
                  <a:srgbClr val="000000"/>
                </a:solidFill>
                <a:latin typeface="Calibri"/>
                <a:cs typeface="Calibri"/>
              </a:rPr>
              <a:t> </a:t>
            </a:r>
            <a:r>
              <a:rPr sz="3600" dirty="0">
                <a:solidFill>
                  <a:srgbClr val="000000"/>
                </a:solidFill>
                <a:latin typeface="Calibri"/>
                <a:cs typeface="Calibri"/>
              </a:rPr>
              <a:t>#</a:t>
            </a:r>
            <a:r>
              <a:rPr sz="3600" spc="-85" dirty="0">
                <a:solidFill>
                  <a:srgbClr val="000000"/>
                </a:solidFill>
                <a:latin typeface="Calibri"/>
                <a:cs typeface="Calibri"/>
              </a:rPr>
              <a:t> </a:t>
            </a:r>
            <a:r>
              <a:rPr sz="3600" spc="-35" dirty="0">
                <a:solidFill>
                  <a:srgbClr val="000000"/>
                </a:solidFill>
                <a:latin typeface="Calibri"/>
                <a:cs typeface="Calibri"/>
              </a:rPr>
              <a:t>1</a:t>
            </a:r>
            <a:r>
              <a:rPr lang="en-US" sz="3600" spc="-35" dirty="0">
                <a:solidFill>
                  <a:srgbClr val="000000"/>
                </a:solidFill>
                <a:latin typeface="Calibri"/>
                <a:cs typeface="Calibri"/>
              </a:rPr>
              <a:t>5 </a:t>
            </a:r>
            <a:r>
              <a:rPr lang="en-US" sz="2800" spc="-35" dirty="0">
                <a:solidFill>
                  <a:srgbClr val="FF0000"/>
                </a:solidFill>
                <a:latin typeface="Calibri"/>
                <a:cs typeface="Calibri"/>
              </a:rPr>
              <a:t>(2</a:t>
            </a:r>
            <a:r>
              <a:rPr lang="en-US" sz="2800" spc="-35" baseline="30000" dirty="0">
                <a:solidFill>
                  <a:srgbClr val="FF0000"/>
                </a:solidFill>
                <a:latin typeface="Calibri"/>
                <a:cs typeface="Calibri"/>
              </a:rPr>
              <a:t>nd</a:t>
            </a:r>
            <a:r>
              <a:rPr lang="en-US" sz="2800" spc="-35" dirty="0">
                <a:solidFill>
                  <a:srgbClr val="FF0000"/>
                </a:solidFill>
                <a:latin typeface="Calibri"/>
                <a:cs typeface="Calibri"/>
              </a:rPr>
              <a:t> week of GPU Programming)</a:t>
            </a:r>
            <a:endParaRPr sz="3600" dirty="0">
              <a:solidFill>
                <a:srgbClr val="FF0000"/>
              </a:solidFill>
              <a:latin typeface="Calibri"/>
              <a:cs typeface="Calibri"/>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10" dirty="0"/>
              <a:t>Introduction:</a:t>
            </a:r>
            <a:r>
              <a:rPr spc="50" dirty="0"/>
              <a:t> </a:t>
            </a:r>
            <a:r>
              <a:rPr spc="-10" dirty="0"/>
              <a:t>1-</a:t>
            </a:r>
            <a:fld id="{81D60167-4931-47E6-BA6A-407CBD079E47}" type="slidenum">
              <a:rPr spc="-25" dirty="0"/>
              <a:t>1</a:t>
            </a:fld>
            <a:endParaRPr spc="-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 program&#10;&#10;Description automatically generated">
            <a:extLst>
              <a:ext uri="{FF2B5EF4-FFF2-40B4-BE49-F238E27FC236}">
                <a16:creationId xmlns:a16="http://schemas.microsoft.com/office/drawing/2014/main" id="{7222BCEA-AFFA-1C1D-6934-818FDBE68E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36" y="228600"/>
            <a:ext cx="10740928" cy="6400800"/>
          </a:xfrm>
          <a:prstGeom prst="rect">
            <a:avLst/>
          </a:prstGeom>
        </p:spPr>
      </p:pic>
    </p:spTree>
    <p:extLst>
      <p:ext uri="{BB962C8B-B14F-4D97-AF65-F5344CB8AC3E}">
        <p14:creationId xmlns:p14="http://schemas.microsoft.com/office/powerpoint/2010/main" val="1556260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DE2C4-8FCF-0A17-0512-A37F7A6F71C3}"/>
              </a:ext>
            </a:extLst>
          </p:cNvPr>
          <p:cNvSpPr>
            <a:spLocks noGrp="1"/>
          </p:cNvSpPr>
          <p:nvPr>
            <p:ph type="title"/>
          </p:nvPr>
        </p:nvSpPr>
        <p:spPr>
          <a:xfrm>
            <a:off x="692912" y="299465"/>
            <a:ext cx="10606277" cy="677108"/>
          </a:xfrm>
        </p:spPr>
        <p:txBody>
          <a:bodyPr/>
          <a:lstStyle/>
          <a:p>
            <a:pPr algn="ctr"/>
            <a:r>
              <a:rPr lang="en-US" dirty="0"/>
              <a:t>CUDA C</a:t>
            </a:r>
          </a:p>
        </p:txBody>
      </p:sp>
      <p:grpSp>
        <p:nvGrpSpPr>
          <p:cNvPr id="7" name="Group 6">
            <a:extLst>
              <a:ext uri="{FF2B5EF4-FFF2-40B4-BE49-F238E27FC236}">
                <a16:creationId xmlns:a16="http://schemas.microsoft.com/office/drawing/2014/main" id="{25C3E957-DDE8-13B9-27C7-C9D37C40BD68}"/>
              </a:ext>
            </a:extLst>
          </p:cNvPr>
          <p:cNvGrpSpPr/>
          <p:nvPr/>
        </p:nvGrpSpPr>
        <p:grpSpPr>
          <a:xfrm>
            <a:off x="941705" y="1516754"/>
            <a:ext cx="10308589" cy="4807846"/>
            <a:chOff x="2375968" y="1966708"/>
            <a:chExt cx="7457431" cy="3172909"/>
          </a:xfrm>
        </p:grpSpPr>
        <p:pic>
          <p:nvPicPr>
            <p:cNvPr id="4" name="Picture 3">
              <a:extLst>
                <a:ext uri="{FF2B5EF4-FFF2-40B4-BE49-F238E27FC236}">
                  <a16:creationId xmlns:a16="http://schemas.microsoft.com/office/drawing/2014/main" id="{BD82450C-620F-2201-46C8-62D96EF0DB3C}"/>
                </a:ext>
              </a:extLst>
            </p:cNvPr>
            <p:cNvPicPr>
              <a:picLocks noChangeAspect="1"/>
            </p:cNvPicPr>
            <p:nvPr/>
          </p:nvPicPr>
          <p:blipFill>
            <a:blip r:embed="rId2"/>
            <a:stretch>
              <a:fillRect/>
            </a:stretch>
          </p:blipFill>
          <p:spPr>
            <a:xfrm>
              <a:off x="2375968" y="1966708"/>
              <a:ext cx="7440063" cy="2924583"/>
            </a:xfrm>
            <a:prstGeom prst="rect">
              <a:avLst/>
            </a:prstGeom>
          </p:spPr>
        </p:pic>
        <p:pic>
          <p:nvPicPr>
            <p:cNvPr id="6" name="Picture 5">
              <a:extLst>
                <a:ext uri="{FF2B5EF4-FFF2-40B4-BE49-F238E27FC236}">
                  <a16:creationId xmlns:a16="http://schemas.microsoft.com/office/drawing/2014/main" id="{5507EC85-B545-4299-B3C4-4FB1F969C8FF}"/>
                </a:ext>
              </a:extLst>
            </p:cNvPr>
            <p:cNvPicPr>
              <a:picLocks noChangeAspect="1"/>
            </p:cNvPicPr>
            <p:nvPr/>
          </p:nvPicPr>
          <p:blipFill>
            <a:blip r:embed="rId3"/>
            <a:stretch>
              <a:fillRect/>
            </a:stretch>
          </p:blipFill>
          <p:spPr>
            <a:xfrm>
              <a:off x="2412388" y="4863353"/>
              <a:ext cx="7421011" cy="276264"/>
            </a:xfrm>
            <a:prstGeom prst="rect">
              <a:avLst/>
            </a:prstGeom>
          </p:spPr>
        </p:pic>
      </p:grpSp>
      <p:sp>
        <p:nvSpPr>
          <p:cNvPr id="8" name="Rectangle 7">
            <a:extLst>
              <a:ext uri="{FF2B5EF4-FFF2-40B4-BE49-F238E27FC236}">
                <a16:creationId xmlns:a16="http://schemas.microsoft.com/office/drawing/2014/main" id="{4071C70C-47F4-38C7-CB0F-D423C4F2C12A}"/>
              </a:ext>
            </a:extLst>
          </p:cNvPr>
          <p:cNvSpPr/>
          <p:nvPr/>
        </p:nvSpPr>
        <p:spPr>
          <a:xfrm>
            <a:off x="692912" y="1516754"/>
            <a:ext cx="3193288" cy="41861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83432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94DA7C-7E46-6138-F36A-E07B4C38F5CF}"/>
              </a:ext>
            </a:extLst>
          </p:cNvPr>
          <p:cNvPicPr>
            <a:picLocks noChangeAspect="1"/>
          </p:cNvPicPr>
          <p:nvPr/>
        </p:nvPicPr>
        <p:blipFill>
          <a:blip r:embed="rId2"/>
          <a:stretch>
            <a:fillRect/>
          </a:stretch>
        </p:blipFill>
        <p:spPr>
          <a:xfrm>
            <a:off x="1413911" y="533400"/>
            <a:ext cx="9364178" cy="5181600"/>
          </a:xfrm>
          <a:prstGeom prst="rect">
            <a:avLst/>
          </a:prstGeom>
        </p:spPr>
      </p:pic>
      <p:sp>
        <p:nvSpPr>
          <p:cNvPr id="4" name="TextBox 3">
            <a:extLst>
              <a:ext uri="{FF2B5EF4-FFF2-40B4-BE49-F238E27FC236}">
                <a16:creationId xmlns:a16="http://schemas.microsoft.com/office/drawing/2014/main" id="{987348A4-40DA-1250-E8AA-235C64F7F39A}"/>
              </a:ext>
            </a:extLst>
          </p:cNvPr>
          <p:cNvSpPr txBox="1"/>
          <p:nvPr/>
        </p:nvSpPr>
        <p:spPr>
          <a:xfrm>
            <a:off x="2186917" y="5723965"/>
            <a:ext cx="7818166" cy="523220"/>
          </a:xfrm>
          <a:prstGeom prst="rect">
            <a:avLst/>
          </a:prstGeom>
          <a:noFill/>
        </p:spPr>
        <p:txBody>
          <a:bodyPr wrap="none" rtlCol="0">
            <a:spAutoFit/>
          </a:bodyPr>
          <a:lstStyle/>
          <a:p>
            <a:r>
              <a:rPr lang="en-US" sz="2800" dirty="0">
                <a:solidFill>
                  <a:srgbClr val="FF0000"/>
                </a:solidFill>
              </a:rPr>
              <a:t>Which function GPU can accelerate? And How?</a:t>
            </a:r>
          </a:p>
        </p:txBody>
      </p:sp>
    </p:spTree>
    <p:extLst>
      <p:ext uri="{BB962C8B-B14F-4D97-AF65-F5344CB8AC3E}">
        <p14:creationId xmlns:p14="http://schemas.microsoft.com/office/powerpoint/2010/main" val="405289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program&#10;&#10;Description automatically generated with medium confidence">
            <a:extLst>
              <a:ext uri="{FF2B5EF4-FFF2-40B4-BE49-F238E27FC236}">
                <a16:creationId xmlns:a16="http://schemas.microsoft.com/office/drawing/2014/main" id="{2D4D1EC9-753F-B143-DF3E-7B308B9456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2030764"/>
            <a:ext cx="2514600" cy="2796472"/>
          </a:xfrm>
          <a:prstGeom prst="rect">
            <a:avLst/>
          </a:prstGeom>
        </p:spPr>
      </p:pic>
      <p:sp>
        <p:nvSpPr>
          <p:cNvPr id="4" name="Title 3">
            <a:extLst>
              <a:ext uri="{FF2B5EF4-FFF2-40B4-BE49-F238E27FC236}">
                <a16:creationId xmlns:a16="http://schemas.microsoft.com/office/drawing/2014/main" id="{2452A0D8-C17F-341C-0676-16D53D973CCE}"/>
              </a:ext>
            </a:extLst>
          </p:cNvPr>
          <p:cNvSpPr>
            <a:spLocks noGrp="1"/>
          </p:cNvSpPr>
          <p:nvPr>
            <p:ph type="title"/>
          </p:nvPr>
        </p:nvSpPr>
        <p:spPr>
          <a:xfrm>
            <a:off x="692912" y="299465"/>
            <a:ext cx="10606277" cy="677108"/>
          </a:xfrm>
        </p:spPr>
        <p:txBody>
          <a:bodyPr/>
          <a:lstStyle/>
          <a:p>
            <a:pPr algn="ctr"/>
            <a:r>
              <a:rPr lang="en-US" dirty="0"/>
              <a:t>NVIDIA GPU programming model (1)</a:t>
            </a:r>
          </a:p>
        </p:txBody>
      </p:sp>
      <p:pic>
        <p:nvPicPr>
          <p:cNvPr id="6" name="Picture 5">
            <a:extLst>
              <a:ext uri="{FF2B5EF4-FFF2-40B4-BE49-F238E27FC236}">
                <a16:creationId xmlns:a16="http://schemas.microsoft.com/office/drawing/2014/main" id="{A62A7821-534F-CFF6-22BB-CFFBC084CEA7}"/>
              </a:ext>
            </a:extLst>
          </p:cNvPr>
          <p:cNvPicPr>
            <a:picLocks noChangeAspect="1"/>
          </p:cNvPicPr>
          <p:nvPr/>
        </p:nvPicPr>
        <p:blipFill>
          <a:blip r:embed="rId3"/>
          <a:stretch>
            <a:fillRect/>
          </a:stretch>
        </p:blipFill>
        <p:spPr>
          <a:xfrm>
            <a:off x="2996301" y="1371600"/>
            <a:ext cx="8738499" cy="4114800"/>
          </a:xfrm>
          <a:prstGeom prst="rect">
            <a:avLst/>
          </a:prstGeom>
        </p:spPr>
      </p:pic>
    </p:spTree>
    <p:extLst>
      <p:ext uri="{BB962C8B-B14F-4D97-AF65-F5344CB8AC3E}">
        <p14:creationId xmlns:p14="http://schemas.microsoft.com/office/powerpoint/2010/main" val="219728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8A94F-B42B-6B59-A6F0-2309506B73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151B98-836F-932B-F93D-4CB36EC62553}"/>
              </a:ext>
            </a:extLst>
          </p:cNvPr>
          <p:cNvSpPr>
            <a:spLocks noGrp="1"/>
          </p:cNvSpPr>
          <p:nvPr>
            <p:ph type="title"/>
          </p:nvPr>
        </p:nvSpPr>
        <p:spPr>
          <a:xfrm>
            <a:off x="692912" y="299465"/>
            <a:ext cx="10606277" cy="677108"/>
          </a:xfrm>
        </p:spPr>
        <p:txBody>
          <a:bodyPr/>
          <a:lstStyle/>
          <a:p>
            <a:pPr algn="ctr"/>
            <a:r>
              <a:rPr lang="en-US" dirty="0"/>
              <a:t>NVIDIA GPU programming model (2a)</a:t>
            </a:r>
          </a:p>
        </p:txBody>
      </p:sp>
      <p:pic>
        <p:nvPicPr>
          <p:cNvPr id="4" name="Picture 3" descr="A green arrow pointing to a square&#10;&#10;Description automatically generated">
            <a:extLst>
              <a:ext uri="{FF2B5EF4-FFF2-40B4-BE49-F238E27FC236}">
                <a16:creationId xmlns:a16="http://schemas.microsoft.com/office/drawing/2014/main" id="{076ABEA5-0970-BB11-ABD9-24D63AA25F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2622947"/>
            <a:ext cx="4963377" cy="1612105"/>
          </a:xfrm>
          <a:prstGeom prst="rect">
            <a:avLst/>
          </a:prstGeom>
        </p:spPr>
      </p:pic>
      <p:pic>
        <p:nvPicPr>
          <p:cNvPr id="6" name="Picture 5" descr="A diagram of cuda and cuda&#10;&#10;Description automatically generated">
            <a:extLst>
              <a:ext uri="{FF2B5EF4-FFF2-40B4-BE49-F238E27FC236}">
                <a16:creationId xmlns:a16="http://schemas.microsoft.com/office/drawing/2014/main" id="{62D9B437-42F2-E243-6992-AC7715AB58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5000" y="1343024"/>
            <a:ext cx="5953125" cy="4171950"/>
          </a:xfrm>
          <a:prstGeom prst="rect">
            <a:avLst/>
          </a:prstGeom>
        </p:spPr>
      </p:pic>
      <p:pic>
        <p:nvPicPr>
          <p:cNvPr id="8" name="Picture 7">
            <a:extLst>
              <a:ext uri="{FF2B5EF4-FFF2-40B4-BE49-F238E27FC236}">
                <a16:creationId xmlns:a16="http://schemas.microsoft.com/office/drawing/2014/main" id="{FAE46F93-ADA1-E417-E7C5-E2C23AB9FF10}"/>
              </a:ext>
            </a:extLst>
          </p:cNvPr>
          <p:cNvPicPr>
            <a:picLocks noChangeAspect="1"/>
          </p:cNvPicPr>
          <p:nvPr/>
        </p:nvPicPr>
        <p:blipFill>
          <a:blip r:embed="rId4"/>
          <a:stretch>
            <a:fillRect/>
          </a:stretch>
        </p:blipFill>
        <p:spPr>
          <a:xfrm>
            <a:off x="611837" y="4629136"/>
            <a:ext cx="4501701" cy="323864"/>
          </a:xfrm>
          <a:prstGeom prst="rect">
            <a:avLst/>
          </a:prstGeom>
        </p:spPr>
      </p:pic>
      <p:pic>
        <p:nvPicPr>
          <p:cNvPr id="10" name="Picture 9">
            <a:extLst>
              <a:ext uri="{FF2B5EF4-FFF2-40B4-BE49-F238E27FC236}">
                <a16:creationId xmlns:a16="http://schemas.microsoft.com/office/drawing/2014/main" id="{B35C6B98-30E6-6943-8175-99909CEF5490}"/>
              </a:ext>
            </a:extLst>
          </p:cNvPr>
          <p:cNvPicPr>
            <a:picLocks noChangeAspect="1"/>
          </p:cNvPicPr>
          <p:nvPr/>
        </p:nvPicPr>
        <p:blipFill>
          <a:blip r:embed="rId5"/>
          <a:stretch>
            <a:fillRect/>
          </a:stretch>
        </p:blipFill>
        <p:spPr>
          <a:xfrm>
            <a:off x="7106214" y="5791200"/>
            <a:ext cx="3170695" cy="414353"/>
          </a:xfrm>
          <a:prstGeom prst="rect">
            <a:avLst/>
          </a:prstGeom>
        </p:spPr>
      </p:pic>
    </p:spTree>
    <p:extLst>
      <p:ext uri="{BB962C8B-B14F-4D97-AF65-F5344CB8AC3E}">
        <p14:creationId xmlns:p14="http://schemas.microsoft.com/office/powerpoint/2010/main" val="34556619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9AC5B-1804-7959-F5AA-43FE2F09A0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9F6FCC-49C2-D2E3-4E37-8C90A179A528}"/>
              </a:ext>
            </a:extLst>
          </p:cNvPr>
          <p:cNvSpPr>
            <a:spLocks noGrp="1"/>
          </p:cNvSpPr>
          <p:nvPr>
            <p:ph type="title"/>
          </p:nvPr>
        </p:nvSpPr>
        <p:spPr>
          <a:xfrm>
            <a:off x="692912" y="299465"/>
            <a:ext cx="10606277" cy="677108"/>
          </a:xfrm>
        </p:spPr>
        <p:txBody>
          <a:bodyPr/>
          <a:lstStyle/>
          <a:p>
            <a:pPr algn="ctr"/>
            <a:r>
              <a:rPr lang="en-US" dirty="0"/>
              <a:t>NVIDIA GPU programming model (2b)</a:t>
            </a:r>
          </a:p>
        </p:txBody>
      </p:sp>
      <p:pic>
        <p:nvPicPr>
          <p:cNvPr id="12" name="Picture 11">
            <a:extLst>
              <a:ext uri="{FF2B5EF4-FFF2-40B4-BE49-F238E27FC236}">
                <a16:creationId xmlns:a16="http://schemas.microsoft.com/office/drawing/2014/main" id="{5A71FE8B-C6A4-B267-9E97-82AA0C4189DE}"/>
              </a:ext>
            </a:extLst>
          </p:cNvPr>
          <p:cNvPicPr>
            <a:picLocks noChangeAspect="1"/>
          </p:cNvPicPr>
          <p:nvPr/>
        </p:nvPicPr>
        <p:blipFill>
          <a:blip r:embed="rId2"/>
          <a:stretch>
            <a:fillRect/>
          </a:stretch>
        </p:blipFill>
        <p:spPr>
          <a:xfrm>
            <a:off x="562840" y="1359410"/>
            <a:ext cx="11066319" cy="4139180"/>
          </a:xfrm>
          <a:prstGeom prst="rect">
            <a:avLst/>
          </a:prstGeom>
        </p:spPr>
      </p:pic>
    </p:spTree>
    <p:extLst>
      <p:ext uri="{BB962C8B-B14F-4D97-AF65-F5344CB8AC3E}">
        <p14:creationId xmlns:p14="http://schemas.microsoft.com/office/powerpoint/2010/main" val="1926000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1AAD6-251C-0441-52C4-AED31F895F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70368E-DD56-91A0-B29D-2C94CE736878}"/>
              </a:ext>
            </a:extLst>
          </p:cNvPr>
          <p:cNvSpPr>
            <a:spLocks noGrp="1"/>
          </p:cNvSpPr>
          <p:nvPr>
            <p:ph type="title"/>
          </p:nvPr>
        </p:nvSpPr>
        <p:spPr>
          <a:xfrm>
            <a:off x="692912" y="299465"/>
            <a:ext cx="10606277" cy="677108"/>
          </a:xfrm>
        </p:spPr>
        <p:txBody>
          <a:bodyPr/>
          <a:lstStyle/>
          <a:p>
            <a:pPr algn="ctr"/>
            <a:r>
              <a:rPr lang="en-US" dirty="0"/>
              <a:t>NVIDIA GPU programming model (3)</a:t>
            </a:r>
          </a:p>
        </p:txBody>
      </p:sp>
      <p:pic>
        <p:nvPicPr>
          <p:cNvPr id="4" name="Picture 3">
            <a:extLst>
              <a:ext uri="{FF2B5EF4-FFF2-40B4-BE49-F238E27FC236}">
                <a16:creationId xmlns:a16="http://schemas.microsoft.com/office/drawing/2014/main" id="{AA4C8C25-0EDB-883A-57AA-8CD17E72C655}"/>
              </a:ext>
            </a:extLst>
          </p:cNvPr>
          <p:cNvPicPr>
            <a:picLocks noChangeAspect="1"/>
          </p:cNvPicPr>
          <p:nvPr/>
        </p:nvPicPr>
        <p:blipFill>
          <a:blip r:embed="rId2"/>
          <a:stretch>
            <a:fillRect/>
          </a:stretch>
        </p:blipFill>
        <p:spPr>
          <a:xfrm>
            <a:off x="883489" y="1371600"/>
            <a:ext cx="10425021" cy="4691260"/>
          </a:xfrm>
          <a:prstGeom prst="rect">
            <a:avLst/>
          </a:prstGeom>
        </p:spPr>
      </p:pic>
      <p:sp>
        <p:nvSpPr>
          <p:cNvPr id="5" name="Rectangle 4">
            <a:extLst>
              <a:ext uri="{FF2B5EF4-FFF2-40B4-BE49-F238E27FC236}">
                <a16:creationId xmlns:a16="http://schemas.microsoft.com/office/drawing/2014/main" id="{1D0F819B-8011-FB59-3B8A-E5A9A61F6046}"/>
              </a:ext>
            </a:extLst>
          </p:cNvPr>
          <p:cNvSpPr/>
          <p:nvPr/>
        </p:nvSpPr>
        <p:spPr>
          <a:xfrm>
            <a:off x="9601200" y="3429000"/>
            <a:ext cx="1295400" cy="457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1069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89E1F-B3BD-C909-4162-E355A1AB4E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552149-502A-BD00-5512-77C6CA02AAAB}"/>
              </a:ext>
            </a:extLst>
          </p:cNvPr>
          <p:cNvSpPr>
            <a:spLocks noGrp="1"/>
          </p:cNvSpPr>
          <p:nvPr>
            <p:ph type="title"/>
          </p:nvPr>
        </p:nvSpPr>
        <p:spPr>
          <a:xfrm>
            <a:off x="692912" y="299465"/>
            <a:ext cx="10606277" cy="677108"/>
          </a:xfrm>
        </p:spPr>
        <p:txBody>
          <a:bodyPr/>
          <a:lstStyle/>
          <a:p>
            <a:pPr algn="ctr"/>
            <a:r>
              <a:rPr lang="en-US" dirty="0"/>
              <a:t>NVIDIA GPU programming model (4)</a:t>
            </a:r>
          </a:p>
        </p:txBody>
      </p:sp>
      <p:pic>
        <p:nvPicPr>
          <p:cNvPr id="4" name="Picture 3">
            <a:extLst>
              <a:ext uri="{FF2B5EF4-FFF2-40B4-BE49-F238E27FC236}">
                <a16:creationId xmlns:a16="http://schemas.microsoft.com/office/drawing/2014/main" id="{A8A5E0B0-10DF-23AE-4C7F-C550CF2B5761}"/>
              </a:ext>
            </a:extLst>
          </p:cNvPr>
          <p:cNvPicPr>
            <a:picLocks noChangeAspect="1"/>
          </p:cNvPicPr>
          <p:nvPr/>
        </p:nvPicPr>
        <p:blipFill>
          <a:blip r:embed="rId2"/>
          <a:stretch>
            <a:fillRect/>
          </a:stretch>
        </p:blipFill>
        <p:spPr>
          <a:xfrm>
            <a:off x="401452" y="1357503"/>
            <a:ext cx="10249125" cy="4993583"/>
          </a:xfrm>
          <a:prstGeom prst="rect">
            <a:avLst/>
          </a:prstGeom>
        </p:spPr>
      </p:pic>
      <p:pic>
        <p:nvPicPr>
          <p:cNvPr id="5" name="Picture 4">
            <a:extLst>
              <a:ext uri="{FF2B5EF4-FFF2-40B4-BE49-F238E27FC236}">
                <a16:creationId xmlns:a16="http://schemas.microsoft.com/office/drawing/2014/main" id="{56FB1BBF-EB67-F580-DD3D-4DD8C0CA4505}"/>
              </a:ext>
            </a:extLst>
          </p:cNvPr>
          <p:cNvPicPr>
            <a:picLocks noChangeAspect="1"/>
          </p:cNvPicPr>
          <p:nvPr/>
        </p:nvPicPr>
        <p:blipFill>
          <a:blip r:embed="rId3"/>
          <a:stretch>
            <a:fillRect/>
          </a:stretch>
        </p:blipFill>
        <p:spPr>
          <a:xfrm>
            <a:off x="9448800" y="1056409"/>
            <a:ext cx="1996607" cy="4745182"/>
          </a:xfrm>
          <a:prstGeom prst="rect">
            <a:avLst/>
          </a:prstGeom>
        </p:spPr>
      </p:pic>
    </p:spTree>
    <p:extLst>
      <p:ext uri="{BB962C8B-B14F-4D97-AF65-F5344CB8AC3E}">
        <p14:creationId xmlns:p14="http://schemas.microsoft.com/office/powerpoint/2010/main" val="3851379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9BFBF-7270-EE8B-FC9E-7CEA1C8DE3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F75D8D-0A69-7788-0735-983970584D15}"/>
              </a:ext>
            </a:extLst>
          </p:cNvPr>
          <p:cNvSpPr>
            <a:spLocks noGrp="1"/>
          </p:cNvSpPr>
          <p:nvPr>
            <p:ph type="title"/>
          </p:nvPr>
        </p:nvSpPr>
        <p:spPr>
          <a:xfrm>
            <a:off x="692912" y="299465"/>
            <a:ext cx="10606277" cy="677108"/>
          </a:xfrm>
        </p:spPr>
        <p:txBody>
          <a:bodyPr/>
          <a:lstStyle/>
          <a:p>
            <a:pPr algn="ctr"/>
            <a:r>
              <a:rPr lang="en-US" dirty="0"/>
              <a:t>NVIDIA GPU programming model (5)</a:t>
            </a:r>
          </a:p>
        </p:txBody>
      </p:sp>
      <p:pic>
        <p:nvPicPr>
          <p:cNvPr id="4" name="Picture 3">
            <a:extLst>
              <a:ext uri="{FF2B5EF4-FFF2-40B4-BE49-F238E27FC236}">
                <a16:creationId xmlns:a16="http://schemas.microsoft.com/office/drawing/2014/main" id="{77BE7818-2C40-D717-2FC1-823A78AC5F1A}"/>
              </a:ext>
            </a:extLst>
          </p:cNvPr>
          <p:cNvPicPr>
            <a:picLocks noChangeAspect="1"/>
          </p:cNvPicPr>
          <p:nvPr/>
        </p:nvPicPr>
        <p:blipFill>
          <a:blip r:embed="rId2"/>
          <a:stretch>
            <a:fillRect/>
          </a:stretch>
        </p:blipFill>
        <p:spPr>
          <a:xfrm>
            <a:off x="564657" y="4681457"/>
            <a:ext cx="8731743" cy="1643143"/>
          </a:xfrm>
          <a:prstGeom prst="rect">
            <a:avLst/>
          </a:prstGeom>
        </p:spPr>
      </p:pic>
      <p:pic>
        <p:nvPicPr>
          <p:cNvPr id="5" name="Picture 4">
            <a:extLst>
              <a:ext uri="{FF2B5EF4-FFF2-40B4-BE49-F238E27FC236}">
                <a16:creationId xmlns:a16="http://schemas.microsoft.com/office/drawing/2014/main" id="{5705A237-4077-81E9-2514-10F3257CAE6E}"/>
              </a:ext>
            </a:extLst>
          </p:cNvPr>
          <p:cNvPicPr>
            <a:picLocks noChangeAspect="1"/>
          </p:cNvPicPr>
          <p:nvPr/>
        </p:nvPicPr>
        <p:blipFill>
          <a:blip r:embed="rId3"/>
          <a:stretch>
            <a:fillRect/>
          </a:stretch>
        </p:blipFill>
        <p:spPr>
          <a:xfrm>
            <a:off x="7924800" y="1245542"/>
            <a:ext cx="3801063" cy="4366916"/>
          </a:xfrm>
          <a:prstGeom prst="rect">
            <a:avLst/>
          </a:prstGeom>
        </p:spPr>
      </p:pic>
    </p:spTree>
    <p:extLst>
      <p:ext uri="{BB962C8B-B14F-4D97-AF65-F5344CB8AC3E}">
        <p14:creationId xmlns:p14="http://schemas.microsoft.com/office/powerpoint/2010/main" val="3231913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16963-8EBE-92A0-D2CA-ED404439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B55F34-8C85-44FD-86D5-DC139A28FE23}"/>
              </a:ext>
            </a:extLst>
          </p:cNvPr>
          <p:cNvSpPr>
            <a:spLocks noGrp="1"/>
          </p:cNvSpPr>
          <p:nvPr>
            <p:ph type="title"/>
          </p:nvPr>
        </p:nvSpPr>
        <p:spPr>
          <a:xfrm>
            <a:off x="692912" y="299465"/>
            <a:ext cx="10606277" cy="677108"/>
          </a:xfrm>
        </p:spPr>
        <p:txBody>
          <a:bodyPr/>
          <a:lstStyle/>
          <a:p>
            <a:pPr algn="ctr"/>
            <a:r>
              <a:rPr lang="en-US" dirty="0"/>
              <a:t>NVIDIA GPU programming model (6)</a:t>
            </a:r>
          </a:p>
        </p:txBody>
      </p:sp>
      <p:pic>
        <p:nvPicPr>
          <p:cNvPr id="6" name="Picture 5">
            <a:extLst>
              <a:ext uri="{FF2B5EF4-FFF2-40B4-BE49-F238E27FC236}">
                <a16:creationId xmlns:a16="http://schemas.microsoft.com/office/drawing/2014/main" id="{FA986BDD-9409-F2B4-6C2B-FDCED4136D5B}"/>
              </a:ext>
            </a:extLst>
          </p:cNvPr>
          <p:cNvPicPr>
            <a:picLocks noChangeAspect="1"/>
          </p:cNvPicPr>
          <p:nvPr/>
        </p:nvPicPr>
        <p:blipFill>
          <a:blip r:embed="rId2"/>
          <a:stretch>
            <a:fillRect/>
          </a:stretch>
        </p:blipFill>
        <p:spPr>
          <a:xfrm>
            <a:off x="516890" y="3810000"/>
            <a:ext cx="8940802" cy="2438400"/>
          </a:xfrm>
          <a:prstGeom prst="rect">
            <a:avLst/>
          </a:prstGeom>
        </p:spPr>
      </p:pic>
      <p:pic>
        <p:nvPicPr>
          <p:cNvPr id="7" name="Picture 6" descr="A diagram of a computer network&#10;&#10;Description automatically generated">
            <a:extLst>
              <a:ext uri="{FF2B5EF4-FFF2-40B4-BE49-F238E27FC236}">
                <a16:creationId xmlns:a16="http://schemas.microsoft.com/office/drawing/2014/main" id="{3148CC4E-0384-1746-DBB8-266410C25F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4600" y="1143000"/>
            <a:ext cx="5333017" cy="3559172"/>
          </a:xfrm>
          <a:prstGeom prst="rect">
            <a:avLst/>
          </a:prstGeom>
        </p:spPr>
      </p:pic>
    </p:spTree>
    <p:extLst>
      <p:ext uri="{BB962C8B-B14F-4D97-AF65-F5344CB8AC3E}">
        <p14:creationId xmlns:p14="http://schemas.microsoft.com/office/powerpoint/2010/main" val="2795983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F7DC4-312E-8EE0-02A8-FA31FB9F61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7BD0A3-25F5-3FC9-D0F8-72A735AA3B22}"/>
              </a:ext>
            </a:extLst>
          </p:cNvPr>
          <p:cNvSpPr>
            <a:spLocks noGrp="1"/>
          </p:cNvSpPr>
          <p:nvPr>
            <p:ph type="title"/>
          </p:nvPr>
        </p:nvSpPr>
        <p:spPr>
          <a:xfrm>
            <a:off x="692912" y="299465"/>
            <a:ext cx="10606277" cy="677108"/>
          </a:xfrm>
        </p:spPr>
        <p:txBody>
          <a:bodyPr/>
          <a:lstStyle/>
          <a:p>
            <a:pPr algn="ctr"/>
            <a:r>
              <a:rPr lang="en-US" dirty="0"/>
              <a:t>NVIDIA GPU programming model (7)</a:t>
            </a:r>
          </a:p>
        </p:txBody>
      </p:sp>
      <p:pic>
        <p:nvPicPr>
          <p:cNvPr id="4" name="Picture 3">
            <a:extLst>
              <a:ext uri="{FF2B5EF4-FFF2-40B4-BE49-F238E27FC236}">
                <a16:creationId xmlns:a16="http://schemas.microsoft.com/office/drawing/2014/main" id="{2EAB32E0-5EBB-3555-7D54-CA52D19FAD4F}"/>
              </a:ext>
            </a:extLst>
          </p:cNvPr>
          <p:cNvPicPr>
            <a:picLocks noChangeAspect="1"/>
          </p:cNvPicPr>
          <p:nvPr/>
        </p:nvPicPr>
        <p:blipFill>
          <a:blip r:embed="rId2"/>
          <a:stretch>
            <a:fillRect/>
          </a:stretch>
        </p:blipFill>
        <p:spPr>
          <a:xfrm>
            <a:off x="805663" y="1709582"/>
            <a:ext cx="10580674" cy="4081618"/>
          </a:xfrm>
          <a:prstGeom prst="rect">
            <a:avLst/>
          </a:prstGeom>
        </p:spPr>
      </p:pic>
    </p:spTree>
    <p:extLst>
      <p:ext uri="{BB962C8B-B14F-4D97-AF65-F5344CB8AC3E}">
        <p14:creationId xmlns:p14="http://schemas.microsoft.com/office/powerpoint/2010/main" val="821461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774BC-6A0C-D322-10BC-0AF085A440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C3B944-7B7D-F056-15A0-B9FE31AAAB59}"/>
              </a:ext>
            </a:extLst>
          </p:cNvPr>
          <p:cNvSpPr>
            <a:spLocks noGrp="1"/>
          </p:cNvSpPr>
          <p:nvPr>
            <p:ph type="title"/>
          </p:nvPr>
        </p:nvSpPr>
        <p:spPr>
          <a:xfrm>
            <a:off x="692912" y="299465"/>
            <a:ext cx="10606277" cy="677108"/>
          </a:xfrm>
        </p:spPr>
        <p:txBody>
          <a:bodyPr/>
          <a:lstStyle/>
          <a:p>
            <a:pPr algn="ctr"/>
            <a:r>
              <a:rPr lang="en-US" dirty="0"/>
              <a:t>NVIDIA GPU programming model (8)</a:t>
            </a:r>
          </a:p>
        </p:txBody>
      </p:sp>
      <p:pic>
        <p:nvPicPr>
          <p:cNvPr id="5" name="Picture 4">
            <a:extLst>
              <a:ext uri="{FF2B5EF4-FFF2-40B4-BE49-F238E27FC236}">
                <a16:creationId xmlns:a16="http://schemas.microsoft.com/office/drawing/2014/main" id="{75195433-AE83-A734-5A73-EDDF27FC9107}"/>
              </a:ext>
            </a:extLst>
          </p:cNvPr>
          <p:cNvPicPr>
            <a:picLocks noChangeAspect="1"/>
          </p:cNvPicPr>
          <p:nvPr/>
        </p:nvPicPr>
        <p:blipFill>
          <a:blip r:embed="rId2"/>
          <a:stretch>
            <a:fillRect/>
          </a:stretch>
        </p:blipFill>
        <p:spPr>
          <a:xfrm>
            <a:off x="457200" y="4724400"/>
            <a:ext cx="10124041" cy="1600200"/>
          </a:xfrm>
          <a:prstGeom prst="rect">
            <a:avLst/>
          </a:prstGeom>
        </p:spPr>
      </p:pic>
      <p:pic>
        <p:nvPicPr>
          <p:cNvPr id="6" name="object 2"/>
          <p:cNvPicPr/>
          <p:nvPr/>
        </p:nvPicPr>
        <p:blipFill>
          <a:blip r:embed="rId3" cstate="print"/>
          <a:stretch>
            <a:fillRect/>
          </a:stretch>
        </p:blipFill>
        <p:spPr>
          <a:xfrm>
            <a:off x="5410199" y="1219200"/>
            <a:ext cx="5888989" cy="3909021"/>
          </a:xfrm>
          <a:prstGeom prst="rect">
            <a:avLst/>
          </a:prstGeom>
        </p:spPr>
      </p:pic>
      <p:pic>
        <p:nvPicPr>
          <p:cNvPr id="8" name="Picture 7">
            <a:extLst>
              <a:ext uri="{FF2B5EF4-FFF2-40B4-BE49-F238E27FC236}">
                <a16:creationId xmlns:a16="http://schemas.microsoft.com/office/drawing/2014/main" id="{1A61CA95-E01E-81E7-D2D1-33320D5C37EB}"/>
              </a:ext>
            </a:extLst>
          </p:cNvPr>
          <p:cNvPicPr>
            <a:picLocks noChangeAspect="1"/>
          </p:cNvPicPr>
          <p:nvPr/>
        </p:nvPicPr>
        <p:blipFill>
          <a:blip r:embed="rId4"/>
          <a:stretch>
            <a:fillRect/>
          </a:stretch>
        </p:blipFill>
        <p:spPr>
          <a:xfrm>
            <a:off x="856953" y="1576098"/>
            <a:ext cx="4410140" cy="2486025"/>
          </a:xfrm>
          <a:prstGeom prst="rect">
            <a:avLst/>
          </a:prstGeom>
        </p:spPr>
      </p:pic>
    </p:spTree>
    <p:extLst>
      <p:ext uri="{BB962C8B-B14F-4D97-AF65-F5344CB8AC3E}">
        <p14:creationId xmlns:p14="http://schemas.microsoft.com/office/powerpoint/2010/main" val="17513395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711C9-EDC0-78FF-1D36-0E137F3AFE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FBF248-F138-2DE7-D50A-D0F0B748B7BA}"/>
              </a:ext>
            </a:extLst>
          </p:cNvPr>
          <p:cNvSpPr>
            <a:spLocks noGrp="1"/>
          </p:cNvSpPr>
          <p:nvPr>
            <p:ph type="title"/>
          </p:nvPr>
        </p:nvSpPr>
        <p:spPr>
          <a:xfrm>
            <a:off x="692912" y="299465"/>
            <a:ext cx="10606277" cy="677108"/>
          </a:xfrm>
        </p:spPr>
        <p:txBody>
          <a:bodyPr/>
          <a:lstStyle/>
          <a:p>
            <a:pPr algn="ctr"/>
            <a:r>
              <a:rPr lang="en-US" dirty="0"/>
              <a:t>NVIDIA GPU programming model (9)</a:t>
            </a:r>
          </a:p>
        </p:txBody>
      </p:sp>
      <p:pic>
        <p:nvPicPr>
          <p:cNvPr id="4" name="Picture 3">
            <a:extLst>
              <a:ext uri="{FF2B5EF4-FFF2-40B4-BE49-F238E27FC236}">
                <a16:creationId xmlns:a16="http://schemas.microsoft.com/office/drawing/2014/main" id="{919C9471-655F-C72F-AB65-CC2275F4D435}"/>
              </a:ext>
            </a:extLst>
          </p:cNvPr>
          <p:cNvPicPr>
            <a:picLocks noChangeAspect="1"/>
          </p:cNvPicPr>
          <p:nvPr/>
        </p:nvPicPr>
        <p:blipFill>
          <a:blip r:embed="rId2"/>
          <a:stretch>
            <a:fillRect/>
          </a:stretch>
        </p:blipFill>
        <p:spPr>
          <a:xfrm>
            <a:off x="457200" y="4343400"/>
            <a:ext cx="10439400" cy="1983811"/>
          </a:xfrm>
          <a:prstGeom prst="rect">
            <a:avLst/>
          </a:prstGeom>
        </p:spPr>
      </p:pic>
      <p:pic>
        <p:nvPicPr>
          <p:cNvPr id="15" name="Picture 14">
            <a:extLst>
              <a:ext uri="{FF2B5EF4-FFF2-40B4-BE49-F238E27FC236}">
                <a16:creationId xmlns:a16="http://schemas.microsoft.com/office/drawing/2014/main" id="{CB82469C-5EDE-5ADA-D330-326ACD0FE974}"/>
              </a:ext>
            </a:extLst>
          </p:cNvPr>
          <p:cNvPicPr>
            <a:picLocks noChangeAspect="1"/>
          </p:cNvPicPr>
          <p:nvPr/>
        </p:nvPicPr>
        <p:blipFill>
          <a:blip r:embed="rId3"/>
          <a:stretch>
            <a:fillRect/>
          </a:stretch>
        </p:blipFill>
        <p:spPr>
          <a:xfrm>
            <a:off x="381000" y="2320622"/>
            <a:ext cx="7363057" cy="1752600"/>
          </a:xfrm>
          <a:prstGeom prst="rect">
            <a:avLst/>
          </a:prstGeom>
        </p:spPr>
      </p:pic>
      <p:pic>
        <p:nvPicPr>
          <p:cNvPr id="17" name="Picture 16">
            <a:extLst>
              <a:ext uri="{FF2B5EF4-FFF2-40B4-BE49-F238E27FC236}">
                <a16:creationId xmlns:a16="http://schemas.microsoft.com/office/drawing/2014/main" id="{1C0BC4AD-C54C-5116-CEE0-0BCCD414D1C3}"/>
              </a:ext>
            </a:extLst>
          </p:cNvPr>
          <p:cNvPicPr>
            <a:picLocks noChangeAspect="1"/>
          </p:cNvPicPr>
          <p:nvPr/>
        </p:nvPicPr>
        <p:blipFill>
          <a:blip r:embed="rId4"/>
          <a:stretch>
            <a:fillRect/>
          </a:stretch>
        </p:blipFill>
        <p:spPr>
          <a:xfrm>
            <a:off x="2240376" y="1337602"/>
            <a:ext cx="3644304" cy="847931"/>
          </a:xfrm>
          <a:prstGeom prst="rect">
            <a:avLst/>
          </a:prstGeom>
        </p:spPr>
      </p:pic>
      <p:pic>
        <p:nvPicPr>
          <p:cNvPr id="19" name="Picture 18" descr="A diagram of a graphing model&#10;&#10;Description automatically generated with medium confidence">
            <a:extLst>
              <a:ext uri="{FF2B5EF4-FFF2-40B4-BE49-F238E27FC236}">
                <a16:creationId xmlns:a16="http://schemas.microsoft.com/office/drawing/2014/main" id="{84C7D4FD-3F82-511E-35FE-F7802789F94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01000" y="976573"/>
            <a:ext cx="3581400" cy="4010122"/>
          </a:xfrm>
          <a:prstGeom prst="rect">
            <a:avLst/>
          </a:prstGeom>
        </p:spPr>
      </p:pic>
    </p:spTree>
    <p:extLst>
      <p:ext uri="{BB962C8B-B14F-4D97-AF65-F5344CB8AC3E}">
        <p14:creationId xmlns:p14="http://schemas.microsoft.com/office/powerpoint/2010/main" val="20038898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0D15E-681B-AA59-C072-B14BA1E3CE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391328-694A-E980-BEBF-92FC97817B2E}"/>
              </a:ext>
            </a:extLst>
          </p:cNvPr>
          <p:cNvSpPr>
            <a:spLocks noGrp="1"/>
          </p:cNvSpPr>
          <p:nvPr>
            <p:ph type="title"/>
          </p:nvPr>
        </p:nvSpPr>
        <p:spPr>
          <a:xfrm>
            <a:off x="692912" y="299465"/>
            <a:ext cx="10606277" cy="677108"/>
          </a:xfrm>
        </p:spPr>
        <p:txBody>
          <a:bodyPr/>
          <a:lstStyle/>
          <a:p>
            <a:pPr algn="ctr"/>
            <a:r>
              <a:rPr lang="en-US" dirty="0"/>
              <a:t>NVIDIA GPU programming model (9)</a:t>
            </a:r>
          </a:p>
        </p:txBody>
      </p:sp>
      <p:pic>
        <p:nvPicPr>
          <p:cNvPr id="5" name="Picture 4" descr="A diagram of a machine&#10;&#10;Description automatically generated">
            <a:extLst>
              <a:ext uri="{FF2B5EF4-FFF2-40B4-BE49-F238E27FC236}">
                <a16:creationId xmlns:a16="http://schemas.microsoft.com/office/drawing/2014/main" id="{94B5C209-F825-D717-7AC5-FCB15AF4B8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7272" y="1106767"/>
            <a:ext cx="9277556" cy="4148138"/>
          </a:xfrm>
          <a:prstGeom prst="rect">
            <a:avLst/>
          </a:prstGeom>
        </p:spPr>
      </p:pic>
      <p:sp>
        <p:nvSpPr>
          <p:cNvPr id="7" name="TextBox 6">
            <a:extLst>
              <a:ext uri="{FF2B5EF4-FFF2-40B4-BE49-F238E27FC236}">
                <a16:creationId xmlns:a16="http://schemas.microsoft.com/office/drawing/2014/main" id="{897EB5CE-1146-610B-C6AA-F72D3225F41E}"/>
              </a:ext>
            </a:extLst>
          </p:cNvPr>
          <p:cNvSpPr txBox="1"/>
          <p:nvPr/>
        </p:nvSpPr>
        <p:spPr>
          <a:xfrm>
            <a:off x="1246505" y="5376135"/>
            <a:ext cx="9698989" cy="1200329"/>
          </a:xfrm>
          <a:prstGeom prst="rect">
            <a:avLst/>
          </a:prstGeom>
          <a:noFill/>
        </p:spPr>
        <p:txBody>
          <a:bodyPr wrap="square">
            <a:spAutoFit/>
          </a:bodyPr>
          <a:lstStyle/>
          <a:p>
            <a:r>
              <a:rPr lang="en-US" i="1" dirty="0">
                <a:solidFill>
                  <a:srgbClr val="FF0000"/>
                </a:solidFill>
              </a:rPr>
              <a:t>TensorFloat-32 (TF32) provides the range of FP32 with the precision of FP16 (left). A100 accelerates tensor math with TF32 while supporting FP32 input and output data (right), enabling easy integration into DL and HPC programs and automatic acceleration of DL frameworks.</a:t>
            </a:r>
            <a:endParaRPr lang="en-US" dirty="0">
              <a:solidFill>
                <a:srgbClr val="FF0000"/>
              </a:solidFill>
            </a:endParaRPr>
          </a:p>
        </p:txBody>
      </p:sp>
    </p:spTree>
    <p:extLst>
      <p:ext uri="{BB962C8B-B14F-4D97-AF65-F5344CB8AC3E}">
        <p14:creationId xmlns:p14="http://schemas.microsoft.com/office/powerpoint/2010/main" val="5046885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B371E-57D4-9ED2-667C-B6DB121716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F60AA3-BE43-F2D2-5034-D176206B030C}"/>
              </a:ext>
            </a:extLst>
          </p:cNvPr>
          <p:cNvSpPr>
            <a:spLocks noGrp="1"/>
          </p:cNvSpPr>
          <p:nvPr>
            <p:ph type="title"/>
          </p:nvPr>
        </p:nvSpPr>
        <p:spPr>
          <a:xfrm>
            <a:off x="468219" y="1371600"/>
            <a:ext cx="4941981" cy="1447800"/>
          </a:xfrm>
        </p:spPr>
        <p:txBody>
          <a:bodyPr/>
          <a:lstStyle/>
          <a:p>
            <a:pPr algn="ctr"/>
            <a:r>
              <a:rPr lang="en-US" dirty="0"/>
              <a:t>CPU-GPU Hybrid programming model</a:t>
            </a:r>
          </a:p>
        </p:txBody>
      </p:sp>
      <p:pic>
        <p:nvPicPr>
          <p:cNvPr id="8" name="Picture 7" descr="A diagram of a computer process&#10;&#10;Description automatically generated">
            <a:extLst>
              <a:ext uri="{FF2B5EF4-FFF2-40B4-BE49-F238E27FC236}">
                <a16:creationId xmlns:a16="http://schemas.microsoft.com/office/drawing/2014/main" id="{96F61F5F-1157-B7B2-64A4-2BA14B3A22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9819" y="457200"/>
            <a:ext cx="6073962" cy="5871496"/>
          </a:xfrm>
          <a:prstGeom prst="rect">
            <a:avLst/>
          </a:prstGeom>
        </p:spPr>
      </p:pic>
      <p:pic>
        <p:nvPicPr>
          <p:cNvPr id="9" name="Picture 8">
            <a:extLst>
              <a:ext uri="{FF2B5EF4-FFF2-40B4-BE49-F238E27FC236}">
                <a16:creationId xmlns:a16="http://schemas.microsoft.com/office/drawing/2014/main" id="{A9663656-EAFB-E5AD-3E05-148F3100C324}"/>
              </a:ext>
            </a:extLst>
          </p:cNvPr>
          <p:cNvPicPr>
            <a:picLocks noChangeAspect="1"/>
          </p:cNvPicPr>
          <p:nvPr/>
        </p:nvPicPr>
        <p:blipFill>
          <a:blip r:embed="rId3"/>
          <a:stretch>
            <a:fillRect/>
          </a:stretch>
        </p:blipFill>
        <p:spPr>
          <a:xfrm>
            <a:off x="468219" y="3938786"/>
            <a:ext cx="7605116" cy="2481387"/>
          </a:xfrm>
          <a:prstGeom prst="rect">
            <a:avLst/>
          </a:prstGeom>
        </p:spPr>
      </p:pic>
    </p:spTree>
    <p:extLst>
      <p:ext uri="{BB962C8B-B14F-4D97-AF65-F5344CB8AC3E}">
        <p14:creationId xmlns:p14="http://schemas.microsoft.com/office/powerpoint/2010/main" val="4086155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12700">
              <a:lnSpc>
                <a:spcPts val="1150"/>
              </a:lnSpc>
            </a:pPr>
            <a:r>
              <a:rPr spc="-10" dirty="0"/>
              <a:t>Introduction:</a:t>
            </a:r>
            <a:r>
              <a:rPr spc="50" dirty="0"/>
              <a:t> </a:t>
            </a:r>
            <a:r>
              <a:rPr spc="-10" dirty="0"/>
              <a:t>1-</a:t>
            </a:r>
            <a:fld id="{81D60167-4931-47E6-BA6A-407CBD079E47}" type="slidenum">
              <a:rPr spc="-25" dirty="0"/>
              <a:t>17</a:t>
            </a:fld>
            <a:endParaRPr spc="-25" dirty="0"/>
          </a:p>
        </p:txBody>
      </p:sp>
      <p:sp>
        <p:nvSpPr>
          <p:cNvPr id="2" name="object 2"/>
          <p:cNvSpPr txBox="1">
            <a:spLocks noGrp="1"/>
          </p:cNvSpPr>
          <p:nvPr>
            <p:ph type="title"/>
          </p:nvPr>
        </p:nvSpPr>
        <p:spPr>
          <a:xfrm>
            <a:off x="3036570" y="3120085"/>
            <a:ext cx="6121400" cy="1367682"/>
          </a:xfrm>
          <a:prstGeom prst="rect">
            <a:avLst/>
          </a:prstGeom>
        </p:spPr>
        <p:txBody>
          <a:bodyPr vert="horz" wrap="square" lIns="0" tIns="13335" rIns="0" bIns="0" rtlCol="0">
            <a:spAutoFit/>
          </a:bodyPr>
          <a:lstStyle/>
          <a:p>
            <a:pPr marL="12700" algn="ctr">
              <a:lnSpc>
                <a:spcPct val="100000"/>
              </a:lnSpc>
              <a:spcBef>
                <a:spcPts val="105"/>
              </a:spcBef>
            </a:pPr>
            <a:r>
              <a:rPr spc="-20" dirty="0"/>
              <a:t>CUDA</a:t>
            </a:r>
            <a:r>
              <a:rPr spc="-190" dirty="0"/>
              <a:t> </a:t>
            </a:r>
            <a:r>
              <a:rPr spc="-75" dirty="0"/>
              <a:t>Vector</a:t>
            </a:r>
            <a:r>
              <a:rPr spc="-165" dirty="0"/>
              <a:t> </a:t>
            </a:r>
            <a:r>
              <a:rPr spc="-30" dirty="0"/>
              <a:t>Addition</a:t>
            </a:r>
            <a:r>
              <a:rPr spc="-185" dirty="0"/>
              <a:t> </a:t>
            </a:r>
            <a:r>
              <a:rPr spc="-20" dirty="0"/>
              <a:t>Code</a:t>
            </a:r>
            <a:r>
              <a:rPr lang="en-US" spc="-20" dirty="0"/>
              <a:t>  </a:t>
            </a:r>
            <a:r>
              <a:rPr lang="en-US" spc="-20" dirty="0" err="1"/>
              <a:t>Reveiw</a:t>
            </a:r>
            <a:endParaRPr spc="-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7E6EC-56B8-F38C-A1FF-1A427FC4CC0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0657A1B-B941-DE27-00B0-158236045B51}"/>
              </a:ext>
            </a:extLst>
          </p:cNvPr>
          <p:cNvPicPr>
            <a:picLocks noChangeAspect="1"/>
          </p:cNvPicPr>
          <p:nvPr/>
        </p:nvPicPr>
        <p:blipFill>
          <a:blip r:embed="rId2"/>
          <a:stretch>
            <a:fillRect/>
          </a:stretch>
        </p:blipFill>
        <p:spPr>
          <a:xfrm>
            <a:off x="1413911" y="838200"/>
            <a:ext cx="9364178" cy="5181600"/>
          </a:xfrm>
          <a:prstGeom prst="rect">
            <a:avLst/>
          </a:prstGeom>
        </p:spPr>
      </p:pic>
    </p:spTree>
    <p:extLst>
      <p:ext uri="{BB962C8B-B14F-4D97-AF65-F5344CB8AC3E}">
        <p14:creationId xmlns:p14="http://schemas.microsoft.com/office/powerpoint/2010/main" val="27023218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A4236-0B5A-5E89-C782-8091AA0F111F}"/>
              </a:ext>
            </a:extLst>
          </p:cNvPr>
          <p:cNvSpPr>
            <a:spLocks noGrp="1"/>
          </p:cNvSpPr>
          <p:nvPr>
            <p:ph type="title"/>
          </p:nvPr>
        </p:nvSpPr>
        <p:spPr>
          <a:xfrm>
            <a:off x="3156903" y="533400"/>
            <a:ext cx="5878194" cy="492443"/>
          </a:xfrm>
        </p:spPr>
        <p:txBody>
          <a:bodyPr/>
          <a:lstStyle/>
          <a:p>
            <a:r>
              <a:rPr lang="en-US" sz="3200" dirty="0"/>
              <a:t>Vector Addition Code (</a:t>
            </a:r>
            <a:r>
              <a:rPr lang="en-US" sz="3200" b="1" dirty="0"/>
              <a:t>CPU</a:t>
            </a:r>
            <a:r>
              <a:rPr lang="en-US" sz="3200" dirty="0"/>
              <a:t> vs </a:t>
            </a:r>
            <a:r>
              <a:rPr lang="en-US" sz="3200" b="1" dirty="0">
                <a:solidFill>
                  <a:srgbClr val="FF0000"/>
                </a:solidFill>
              </a:rPr>
              <a:t>GPU</a:t>
            </a:r>
            <a:r>
              <a:rPr lang="en-US" sz="3200" dirty="0"/>
              <a:t>)</a:t>
            </a:r>
          </a:p>
        </p:txBody>
      </p:sp>
      <p:pic>
        <p:nvPicPr>
          <p:cNvPr id="6" name="Picture 5">
            <a:extLst>
              <a:ext uri="{FF2B5EF4-FFF2-40B4-BE49-F238E27FC236}">
                <a16:creationId xmlns:a16="http://schemas.microsoft.com/office/drawing/2014/main" id="{0DC01047-A86D-AD19-640F-6CF2560AE76C}"/>
              </a:ext>
            </a:extLst>
          </p:cNvPr>
          <p:cNvPicPr>
            <a:picLocks noChangeAspect="1"/>
          </p:cNvPicPr>
          <p:nvPr/>
        </p:nvPicPr>
        <p:blipFill>
          <a:blip r:embed="rId2"/>
          <a:stretch>
            <a:fillRect/>
          </a:stretch>
        </p:blipFill>
        <p:spPr>
          <a:xfrm>
            <a:off x="831993" y="4267200"/>
            <a:ext cx="10528011" cy="1981200"/>
          </a:xfrm>
          <a:prstGeom prst="rect">
            <a:avLst/>
          </a:prstGeom>
          <a:ln>
            <a:solidFill>
              <a:srgbClr val="FF0000"/>
            </a:solidFill>
          </a:ln>
        </p:spPr>
      </p:pic>
      <p:pic>
        <p:nvPicPr>
          <p:cNvPr id="8" name="Picture 7">
            <a:extLst>
              <a:ext uri="{FF2B5EF4-FFF2-40B4-BE49-F238E27FC236}">
                <a16:creationId xmlns:a16="http://schemas.microsoft.com/office/drawing/2014/main" id="{2473AFE4-EC29-A429-6633-66C629825ABE}"/>
              </a:ext>
            </a:extLst>
          </p:cNvPr>
          <p:cNvPicPr>
            <a:picLocks noChangeAspect="1"/>
          </p:cNvPicPr>
          <p:nvPr/>
        </p:nvPicPr>
        <p:blipFill>
          <a:blip r:embed="rId3"/>
          <a:stretch>
            <a:fillRect/>
          </a:stretch>
        </p:blipFill>
        <p:spPr>
          <a:xfrm>
            <a:off x="1279809" y="1447800"/>
            <a:ext cx="9632377" cy="2057400"/>
          </a:xfrm>
          <a:prstGeom prst="rect">
            <a:avLst/>
          </a:prstGeom>
          <a:ln>
            <a:solidFill>
              <a:srgbClr val="0070C0"/>
            </a:solidFill>
          </a:ln>
        </p:spPr>
      </p:pic>
    </p:spTree>
    <p:extLst>
      <p:ext uri="{BB962C8B-B14F-4D97-AF65-F5344CB8AC3E}">
        <p14:creationId xmlns:p14="http://schemas.microsoft.com/office/powerpoint/2010/main" val="19542434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AFF47-E8E1-36CC-3AC9-E4408E09AE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90DDE4-C6B3-66F9-F806-6FC4B4666753}"/>
              </a:ext>
            </a:extLst>
          </p:cNvPr>
          <p:cNvSpPr>
            <a:spLocks noGrp="1"/>
          </p:cNvSpPr>
          <p:nvPr>
            <p:ph type="title"/>
          </p:nvPr>
        </p:nvSpPr>
        <p:spPr>
          <a:xfrm>
            <a:off x="313765" y="3197732"/>
            <a:ext cx="3983989" cy="462535"/>
          </a:xfrm>
        </p:spPr>
        <p:txBody>
          <a:bodyPr/>
          <a:lstStyle/>
          <a:p>
            <a:r>
              <a:rPr lang="en-US" sz="3200" dirty="0"/>
              <a:t>CUDA C Vector Addition</a:t>
            </a:r>
          </a:p>
        </p:txBody>
      </p:sp>
      <p:pic>
        <p:nvPicPr>
          <p:cNvPr id="4" name="Picture 3">
            <a:extLst>
              <a:ext uri="{FF2B5EF4-FFF2-40B4-BE49-F238E27FC236}">
                <a16:creationId xmlns:a16="http://schemas.microsoft.com/office/drawing/2014/main" id="{67983E7F-5B00-848C-1295-1D712E3FDCFB}"/>
              </a:ext>
            </a:extLst>
          </p:cNvPr>
          <p:cNvPicPr>
            <a:picLocks noChangeAspect="1"/>
          </p:cNvPicPr>
          <p:nvPr/>
        </p:nvPicPr>
        <p:blipFill>
          <a:blip r:embed="rId2"/>
          <a:stretch>
            <a:fillRect/>
          </a:stretch>
        </p:blipFill>
        <p:spPr>
          <a:xfrm>
            <a:off x="4724400" y="73108"/>
            <a:ext cx="7010400" cy="6711782"/>
          </a:xfrm>
          <a:prstGeom prst="rect">
            <a:avLst/>
          </a:prstGeom>
        </p:spPr>
      </p:pic>
    </p:spTree>
    <p:extLst>
      <p:ext uri="{BB962C8B-B14F-4D97-AF65-F5344CB8AC3E}">
        <p14:creationId xmlns:p14="http://schemas.microsoft.com/office/powerpoint/2010/main" val="13243536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90038A9-0F93-B857-44F6-96CFB0B740A4}"/>
              </a:ext>
            </a:extLst>
          </p:cNvPr>
          <p:cNvPicPr>
            <a:picLocks noChangeAspect="1"/>
          </p:cNvPicPr>
          <p:nvPr/>
        </p:nvPicPr>
        <p:blipFill>
          <a:blip r:embed="rId2"/>
          <a:stretch>
            <a:fillRect/>
          </a:stretch>
        </p:blipFill>
        <p:spPr>
          <a:xfrm>
            <a:off x="1799625" y="2076261"/>
            <a:ext cx="8592749" cy="2705478"/>
          </a:xfrm>
          <a:prstGeom prst="rect">
            <a:avLst/>
          </a:prstGeom>
        </p:spPr>
      </p:pic>
    </p:spTree>
    <p:extLst>
      <p:ext uri="{BB962C8B-B14F-4D97-AF65-F5344CB8AC3E}">
        <p14:creationId xmlns:p14="http://schemas.microsoft.com/office/powerpoint/2010/main" val="39412137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0E2665-4B03-D637-7B2D-90CEA6068CCF}"/>
              </a:ext>
            </a:extLst>
          </p:cNvPr>
          <p:cNvPicPr>
            <a:picLocks noChangeAspect="1"/>
          </p:cNvPicPr>
          <p:nvPr/>
        </p:nvPicPr>
        <p:blipFill>
          <a:blip r:embed="rId2"/>
          <a:stretch>
            <a:fillRect/>
          </a:stretch>
        </p:blipFill>
        <p:spPr>
          <a:xfrm>
            <a:off x="1073557" y="2286000"/>
            <a:ext cx="10044886" cy="2286000"/>
          </a:xfrm>
          <a:prstGeom prst="rect">
            <a:avLst/>
          </a:prstGeom>
        </p:spPr>
      </p:pic>
    </p:spTree>
    <p:extLst>
      <p:ext uri="{BB962C8B-B14F-4D97-AF65-F5344CB8AC3E}">
        <p14:creationId xmlns:p14="http://schemas.microsoft.com/office/powerpoint/2010/main" val="20998912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638BFE-3691-DB67-5577-F13DF384F506}"/>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7756014" y="304542"/>
            <a:ext cx="3950599" cy="2834243"/>
          </a:xfrm>
          <a:prstGeom prst="rect">
            <a:avLst/>
          </a:prstGeom>
        </p:spPr>
      </p:pic>
      <p:pic>
        <p:nvPicPr>
          <p:cNvPr id="5" name="Picture 4">
            <a:extLst>
              <a:ext uri="{FF2B5EF4-FFF2-40B4-BE49-F238E27FC236}">
                <a16:creationId xmlns:a16="http://schemas.microsoft.com/office/drawing/2014/main" id="{E0C71C48-E8DC-979A-412D-A3C71420A5EF}"/>
              </a:ext>
            </a:extLst>
          </p:cNvPr>
          <p:cNvPicPr>
            <a:picLocks noChangeAspect="1"/>
          </p:cNvPicPr>
          <p:nvPr/>
        </p:nvPicPr>
        <p:blipFill>
          <a:blip r:embed="rId4"/>
          <a:stretch>
            <a:fillRect/>
          </a:stretch>
        </p:blipFill>
        <p:spPr>
          <a:xfrm>
            <a:off x="287372" y="2917756"/>
            <a:ext cx="7468642" cy="3658111"/>
          </a:xfrm>
          <a:prstGeom prst="rect">
            <a:avLst/>
          </a:prstGeom>
        </p:spPr>
      </p:pic>
    </p:spTree>
    <p:extLst>
      <p:ext uri="{BB962C8B-B14F-4D97-AF65-F5344CB8AC3E}">
        <p14:creationId xmlns:p14="http://schemas.microsoft.com/office/powerpoint/2010/main" val="8066592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7A1EA6-E88B-3F5F-D7FB-4B2C3FF1719D}"/>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7854978" y="403412"/>
            <a:ext cx="3953524" cy="3220535"/>
          </a:xfrm>
          <a:prstGeom prst="rect">
            <a:avLst/>
          </a:prstGeom>
        </p:spPr>
      </p:pic>
      <p:pic>
        <p:nvPicPr>
          <p:cNvPr id="5" name="Picture 4">
            <a:extLst>
              <a:ext uri="{FF2B5EF4-FFF2-40B4-BE49-F238E27FC236}">
                <a16:creationId xmlns:a16="http://schemas.microsoft.com/office/drawing/2014/main" id="{D4E7140D-7EA8-646E-A9C8-953FDE1386FC}"/>
              </a:ext>
            </a:extLst>
          </p:cNvPr>
          <p:cNvPicPr>
            <a:picLocks noChangeAspect="1"/>
          </p:cNvPicPr>
          <p:nvPr/>
        </p:nvPicPr>
        <p:blipFill>
          <a:blip r:embed="rId4"/>
          <a:stretch>
            <a:fillRect/>
          </a:stretch>
        </p:blipFill>
        <p:spPr>
          <a:xfrm>
            <a:off x="381000" y="2510688"/>
            <a:ext cx="7449590" cy="3943900"/>
          </a:xfrm>
          <a:prstGeom prst="rect">
            <a:avLst/>
          </a:prstGeom>
        </p:spPr>
      </p:pic>
    </p:spTree>
    <p:extLst>
      <p:ext uri="{BB962C8B-B14F-4D97-AF65-F5344CB8AC3E}">
        <p14:creationId xmlns:p14="http://schemas.microsoft.com/office/powerpoint/2010/main" val="801033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250</TotalTime>
  <Words>177</Words>
  <Application>Microsoft Office PowerPoint</Application>
  <PresentationFormat>Widescreen</PresentationFormat>
  <Paragraphs>22</Paragraphs>
  <Slides>24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Calibri</vt:lpstr>
      <vt:lpstr>Calibri Light</vt:lpstr>
      <vt:lpstr>Office Theme</vt:lpstr>
      <vt:lpstr>CUDA C Programming Week # 15 (2nd week of GPU Programming)</vt:lpstr>
      <vt:lpstr>PowerPoint Presentation</vt:lpstr>
      <vt:lpstr>CUDA C</vt:lpstr>
      <vt:lpstr>PowerPoint Presentation</vt:lpstr>
      <vt:lpstr>NVIDIA GPU programming model (1)</vt:lpstr>
      <vt:lpstr>NVIDIA GPU programming model (2a)</vt:lpstr>
      <vt:lpstr>NVIDIA GPU programming model (2b)</vt:lpstr>
      <vt:lpstr>NVIDIA GPU programming model (3)</vt:lpstr>
      <vt:lpstr>NVIDIA GPU programming model (4)</vt:lpstr>
      <vt:lpstr>NVIDIA GPU programming model (5)</vt:lpstr>
      <vt:lpstr>NVIDIA GPU programming model (6)</vt:lpstr>
      <vt:lpstr>NVIDIA GPU programming model (7)</vt:lpstr>
      <vt:lpstr>NVIDIA GPU programming model (8)</vt:lpstr>
      <vt:lpstr>NVIDIA GPU programming model (9)</vt:lpstr>
      <vt:lpstr>NVIDIA GPU programming model (9)</vt:lpstr>
      <vt:lpstr>CPU-GPU Hybrid programming model</vt:lpstr>
      <vt:lpstr>CUDA Vector Addition Code  Reveiw</vt:lpstr>
      <vt:lpstr>PowerPoint Presentation</vt:lpstr>
      <vt:lpstr>Vector Addition Code (CPU vs GPU)</vt:lpstr>
      <vt:lpstr>CUDA C Vector Addition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Kurose</dc:creator>
  <cp:lastModifiedBy>Nadeem Kafi</cp:lastModifiedBy>
  <cp:revision>9</cp:revision>
  <dcterms:created xsi:type="dcterms:W3CDTF">2024-11-20T02:57:50Z</dcterms:created>
  <dcterms:modified xsi:type="dcterms:W3CDTF">2024-12-03T03:35:34Z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2023-11-21T00:00:00Z</vt:filetime>
  </property>
  <property fmtid="{D5CDD505-2E9C-101B-9397-08002B2CF9AE}" pid="3" name="Creator">
    <vt:lpwstr>Microsoft® PowerPoint® 2016</vt:lpwstr>
  </property>
  <property fmtid="{D5CDD505-2E9C-101B-9397-08002B2CF9AE}" pid="4" name="LastSaved">
    <vt:filetime>2024-11-20T00:00:00Z</vt:filetime>
  </property>
  <property fmtid="{D5CDD505-2E9C-101B-9397-08002B2CF9AE}" pid="5" name="Producer">
    <vt:lpwstr>Microsoft® PowerPoint® 2016</vt:lpwstr>
  </property>
</Properties>
</file>