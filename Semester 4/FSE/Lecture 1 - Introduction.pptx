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50"/>
  </p:notesMasterIdLst>
  <p:handoutMasterIdLst>
    <p:handoutMasterId r:id="rId51"/>
  </p:handoutMasterIdLst>
  <p:sldIdLst>
    <p:sldId id="256" r:id="rId2"/>
    <p:sldId id="295" r:id="rId3"/>
    <p:sldId id="267" r:id="rId4"/>
    <p:sldId id="268" r:id="rId5"/>
    <p:sldId id="297" r:id="rId6"/>
    <p:sldId id="298" r:id="rId7"/>
    <p:sldId id="257" r:id="rId8"/>
    <p:sldId id="296" r:id="rId9"/>
    <p:sldId id="258" r:id="rId10"/>
    <p:sldId id="299" r:id="rId11"/>
    <p:sldId id="303" r:id="rId12"/>
    <p:sldId id="304" r:id="rId13"/>
    <p:sldId id="305" r:id="rId14"/>
    <p:sldId id="300" r:id="rId15"/>
    <p:sldId id="306" r:id="rId16"/>
    <p:sldId id="307" r:id="rId17"/>
    <p:sldId id="308" r:id="rId18"/>
    <p:sldId id="309" r:id="rId19"/>
    <p:sldId id="301" r:id="rId20"/>
    <p:sldId id="310" r:id="rId21"/>
    <p:sldId id="311" r:id="rId22"/>
    <p:sldId id="312" r:id="rId23"/>
    <p:sldId id="313" r:id="rId24"/>
    <p:sldId id="314" r:id="rId25"/>
    <p:sldId id="284" r:id="rId26"/>
    <p:sldId id="285" r:id="rId27"/>
    <p:sldId id="286" r:id="rId28"/>
    <p:sldId id="287" r:id="rId29"/>
    <p:sldId id="315" r:id="rId30"/>
    <p:sldId id="259" r:id="rId31"/>
    <p:sldId id="316" r:id="rId32"/>
    <p:sldId id="292" r:id="rId33"/>
    <p:sldId id="302" r:id="rId34"/>
    <p:sldId id="317" r:id="rId35"/>
    <p:sldId id="260" r:id="rId36"/>
    <p:sldId id="261" r:id="rId37"/>
    <p:sldId id="318" r:id="rId38"/>
    <p:sldId id="319" r:id="rId39"/>
    <p:sldId id="320" r:id="rId40"/>
    <p:sldId id="321" r:id="rId41"/>
    <p:sldId id="262" r:id="rId42"/>
    <p:sldId id="323" r:id="rId43"/>
    <p:sldId id="324" r:id="rId44"/>
    <p:sldId id="322" r:id="rId45"/>
    <p:sldId id="263" r:id="rId46"/>
    <p:sldId id="325" r:id="rId47"/>
    <p:sldId id="326" r:id="rId48"/>
    <p:sldId id="294" r:id="rId4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2/27/2024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2/27/2024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eslisozluk.net/outside;-beyond;-outside-of-nedir-ne-demek/"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r>
              <a:rPr lang="en-US" dirty="0"/>
              <a:t>GNP MİLLİ GELİR</a:t>
            </a:r>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Intertwined </a:t>
            </a:r>
            <a:r>
              <a:rPr lang="en-GB" dirty="0" err="1"/>
              <a:t>sarılmış</a:t>
            </a:r>
            <a:r>
              <a:rPr lang="en-GB" baseline="0" dirty="0"/>
              <a:t> </a:t>
            </a:r>
            <a:r>
              <a:rPr lang="en-GB" baseline="0" dirty="0" err="1"/>
              <a:t>iç</a:t>
            </a:r>
            <a:r>
              <a:rPr lang="en-GB" baseline="0" dirty="0"/>
              <a:t> </a:t>
            </a:r>
            <a:r>
              <a:rPr lang="en-GB" baseline="0" dirty="0" err="1"/>
              <a:t>içe</a:t>
            </a:r>
            <a:r>
              <a:rPr lang="en-GB" baseline="0" dirty="0"/>
              <a:t> , twine </a:t>
            </a:r>
            <a:r>
              <a:rPr lang="en-GB" baseline="0" dirty="0" err="1"/>
              <a:t>sicim</a:t>
            </a:r>
            <a:r>
              <a:rPr lang="en-GB" baseline="0" dirty="0"/>
              <a:t> </a:t>
            </a:r>
            <a:r>
              <a:rPr lang="en-GB" baseline="0" dirty="0" err="1"/>
              <a:t>dolamak</a:t>
            </a:r>
            <a:r>
              <a:rPr lang="en-GB" baseline="0" dirty="0"/>
              <a:t>  </a:t>
            </a:r>
            <a:r>
              <a:rPr lang="en-GB" baseline="0" dirty="0" err="1"/>
              <a:t>sarmak</a:t>
            </a:r>
            <a:r>
              <a:rPr lang="en-GB" baseline="0" dirty="0"/>
              <a:t> </a:t>
            </a:r>
            <a:r>
              <a:rPr lang="en-GB" baseline="0" dirty="0" err="1"/>
              <a:t>sarılmak</a:t>
            </a:r>
            <a:r>
              <a:rPr lang="en-GB" baseline="0" dirty="0"/>
              <a:t> </a:t>
            </a:r>
            <a:r>
              <a:rPr lang="en-GB" baseline="0" dirty="0" err="1"/>
              <a:t>örmek</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13</a:t>
            </a:fld>
            <a:endParaRPr lang="en-US"/>
          </a:p>
        </p:txBody>
      </p:sp>
    </p:spTree>
    <p:extLst>
      <p:ext uri="{BB962C8B-B14F-4D97-AF65-F5344CB8AC3E}">
        <p14:creationId xmlns:p14="http://schemas.microsoft.com/office/powerpoint/2010/main" val="3027980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advance</a:t>
            </a:r>
            <a:r>
              <a:rPr lang="en-GB" baseline="0" dirty="0"/>
              <a:t> </a:t>
            </a:r>
            <a:r>
              <a:rPr lang="en-GB" baseline="0" dirty="0" err="1"/>
              <a:t>önceden</a:t>
            </a:r>
            <a:r>
              <a:rPr lang="en-GB" baseline="0" dirty="0"/>
              <a:t> </a:t>
            </a:r>
            <a:r>
              <a:rPr lang="en-GB" baseline="0" dirty="0" err="1"/>
              <a:t>peşin</a:t>
            </a:r>
            <a:r>
              <a:rPr lang="en-GB" baseline="0" dirty="0"/>
              <a:t> </a:t>
            </a:r>
            <a:r>
              <a:rPr lang="en-GB" baseline="0" dirty="0" err="1"/>
              <a:t>peşin</a:t>
            </a:r>
            <a:r>
              <a:rPr lang="en-GB" baseline="0" dirty="0"/>
              <a:t> </a:t>
            </a:r>
            <a:r>
              <a:rPr lang="en-GB" baseline="0" dirty="0" err="1"/>
              <a:t>olarak</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20</a:t>
            </a:fld>
            <a:endParaRPr lang="en-US"/>
          </a:p>
        </p:txBody>
      </p:sp>
    </p:spTree>
    <p:extLst>
      <p:ext uri="{BB962C8B-B14F-4D97-AF65-F5344CB8AC3E}">
        <p14:creationId xmlns:p14="http://schemas.microsoft.com/office/powerpoint/2010/main" val="1748963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Competence </a:t>
            </a:r>
            <a:r>
              <a:rPr lang="en-US" dirty="0" err="1"/>
              <a:t>yeterlilik</a:t>
            </a:r>
            <a:r>
              <a:rPr lang="en-US" dirty="0"/>
              <a:t> </a:t>
            </a:r>
            <a:r>
              <a:rPr lang="en-GB" dirty="0" err="1"/>
              <a:t>outwith</a:t>
            </a:r>
            <a:r>
              <a:rPr lang="en-GB" dirty="0"/>
              <a:t> &gt; </a:t>
            </a:r>
            <a:r>
              <a:rPr lang="en-US" sz="1200" b="0" i="0" u="none" strike="noStrike" kern="1200" dirty="0">
                <a:solidFill>
                  <a:schemeClr val="tx1"/>
                </a:solidFill>
                <a:effectLst/>
                <a:latin typeface="+mn-lt"/>
                <a:ea typeface="+mn-ea"/>
                <a:cs typeface="+mn-cs"/>
                <a:hlinkClick r:id="rId3" tooltip="outwith"/>
              </a:rPr>
              <a:t>Outside; beyond; outside of</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26</a:t>
            </a:fld>
            <a:endParaRPr lang="en-US"/>
          </a:p>
        </p:txBody>
      </p:sp>
    </p:spTree>
    <p:extLst>
      <p:ext uri="{BB962C8B-B14F-4D97-AF65-F5344CB8AC3E}">
        <p14:creationId xmlns:p14="http://schemas.microsoft.com/office/powerpoint/2010/main" val="3706326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28</a:t>
            </a:fld>
            <a:endParaRPr lang="en-US"/>
          </a:p>
        </p:txBody>
      </p:sp>
    </p:spTree>
    <p:extLst>
      <p:ext uri="{BB962C8B-B14F-4D97-AF65-F5344CB8AC3E}">
        <p14:creationId xmlns:p14="http://schemas.microsoft.com/office/powerpoint/2010/main" val="4223919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PREAMBLE </a:t>
            </a:r>
            <a:r>
              <a:rPr lang="en-US" sz="1200" b="1" dirty="0" err="1"/>
              <a:t>gerekçe</a:t>
            </a:r>
            <a:r>
              <a:rPr lang="en-US" sz="1200" b="1" dirty="0"/>
              <a:t> </a:t>
            </a:r>
            <a:r>
              <a:rPr lang="en-US" sz="1200" b="1" dirty="0" err="1"/>
              <a:t>açış</a:t>
            </a:r>
            <a:r>
              <a:rPr lang="en-US" sz="1200" b="1" dirty="0"/>
              <a:t> </a:t>
            </a:r>
            <a:r>
              <a:rPr lang="en-US" sz="1200" b="1" dirty="0" err="1"/>
              <a:t>konuşması</a:t>
            </a:r>
            <a:r>
              <a:rPr lang="en-US" sz="1200" b="1" dirty="0"/>
              <a:t> , </a:t>
            </a:r>
            <a:r>
              <a:rPr lang="en-US" sz="1200" dirty="0"/>
              <a:t>aspirations </a:t>
            </a:r>
            <a:r>
              <a:rPr lang="en-US" sz="1200" dirty="0" err="1"/>
              <a:t>istek</a:t>
            </a:r>
            <a:r>
              <a:rPr lang="en-US" sz="1200" baseline="0" dirty="0"/>
              <a:t> </a:t>
            </a:r>
            <a:r>
              <a:rPr lang="en-US" sz="1200" baseline="0" dirty="0" err="1"/>
              <a:t>solunum</a:t>
            </a:r>
            <a:r>
              <a:rPr lang="en-US" sz="1200" baseline="0" dirty="0"/>
              <a:t> can </a:t>
            </a:r>
            <a:r>
              <a:rPr lang="en-US" sz="1200" baseline="0" dirty="0" err="1"/>
              <a:t>atma</a:t>
            </a:r>
            <a:r>
              <a:rPr lang="en-US" sz="1200" baseline="0" dirty="0"/>
              <a:t> </a:t>
            </a:r>
            <a:r>
              <a:rPr lang="en-US" sz="1200" baseline="0" dirty="0" err="1"/>
              <a:t>yüksek</a:t>
            </a:r>
            <a:r>
              <a:rPr lang="en-US" sz="1200" baseline="0" dirty="0"/>
              <a:t> </a:t>
            </a:r>
            <a:r>
              <a:rPr lang="en-US" sz="1200" baseline="0" dirty="0" err="1"/>
              <a:t>gaye</a:t>
            </a:r>
            <a:r>
              <a:rPr lang="en-US" sz="1200" baseline="0" dirty="0"/>
              <a:t> </a:t>
            </a:r>
            <a:r>
              <a:rPr lang="en-US" sz="1200" baseline="0" dirty="0" err="1"/>
              <a:t>edinme</a:t>
            </a:r>
            <a:r>
              <a:rPr lang="en-US" sz="1200" baseline="0" dirty="0"/>
              <a:t>, </a:t>
            </a:r>
            <a:r>
              <a:rPr lang="en-US" sz="1200" dirty="0"/>
              <a:t>clauses </a:t>
            </a:r>
            <a:r>
              <a:rPr lang="en-US" sz="1200" dirty="0" err="1"/>
              <a:t>antlaşma</a:t>
            </a:r>
            <a:r>
              <a:rPr lang="en-US" sz="1200" baseline="0" dirty="0"/>
              <a:t> </a:t>
            </a:r>
            <a:r>
              <a:rPr lang="en-US" sz="1200" baseline="0" dirty="0" err="1"/>
              <a:t>özel</a:t>
            </a:r>
            <a:r>
              <a:rPr lang="en-US" sz="1200" baseline="0" dirty="0"/>
              <a:t> </a:t>
            </a:r>
            <a:r>
              <a:rPr lang="en-US" sz="1200" baseline="0" dirty="0" err="1"/>
              <a:t>şart</a:t>
            </a:r>
            <a:r>
              <a:rPr lang="en-US" sz="1200" baseline="0" dirty="0"/>
              <a:t> </a:t>
            </a:r>
            <a:r>
              <a:rPr lang="en-US" sz="1200" baseline="0" dirty="0" err="1"/>
              <a:t>koşul</a:t>
            </a:r>
            <a:r>
              <a:rPr lang="en-US" sz="1200" baseline="0" dirty="0"/>
              <a:t>, </a:t>
            </a:r>
            <a:r>
              <a:rPr lang="en-US" sz="1200" baseline="0" dirty="0" err="1"/>
              <a:t>madde</a:t>
            </a:r>
            <a:r>
              <a:rPr lang="en-US" sz="1200" baseline="0" dirty="0"/>
              <a:t>, bent </a:t>
            </a:r>
            <a:r>
              <a:rPr lang="en-US" sz="1200" baseline="0" dirty="0" err="1"/>
              <a:t>hüküm</a:t>
            </a:r>
            <a:r>
              <a:rPr lang="en-US" sz="1200" baseline="0" dirty="0"/>
              <a:t> </a:t>
            </a:r>
            <a:r>
              <a:rPr lang="en-US" sz="1200" baseline="0" dirty="0" err="1"/>
              <a:t>fıkra</a:t>
            </a:r>
            <a:r>
              <a:rPr lang="en-US" sz="1200" baseline="0" dirty="0"/>
              <a:t> </a:t>
            </a:r>
            <a:r>
              <a:rPr lang="en-US" sz="1200" baseline="0" dirty="0" err="1"/>
              <a:t>şart</a:t>
            </a:r>
            <a:r>
              <a:rPr lang="en-US" sz="1200" baseline="0" dirty="0"/>
              <a:t>, </a:t>
            </a:r>
            <a:r>
              <a:rPr lang="en-US" sz="1200" dirty="0"/>
              <a:t>legalistic </a:t>
            </a:r>
            <a:r>
              <a:rPr lang="en-US" sz="1200" dirty="0" err="1"/>
              <a:t>kanuncu</a:t>
            </a:r>
            <a:r>
              <a:rPr lang="en-US" sz="1200" dirty="0"/>
              <a:t>,  tedious </a:t>
            </a:r>
            <a:r>
              <a:rPr lang="en-US" sz="1200" dirty="0" err="1"/>
              <a:t>sıkıcı</a:t>
            </a:r>
            <a:r>
              <a:rPr lang="en-US" sz="1200" dirty="0"/>
              <a:t> </a:t>
            </a:r>
            <a:r>
              <a:rPr lang="en-US" sz="1200" dirty="0" err="1"/>
              <a:t>meşakketli</a:t>
            </a:r>
            <a:r>
              <a:rPr lang="en-US" sz="1200" dirty="0"/>
              <a:t>,</a:t>
            </a:r>
            <a:r>
              <a:rPr lang="en-US" sz="1200" baseline="0" dirty="0"/>
              <a:t> </a:t>
            </a:r>
            <a:r>
              <a:rPr lang="en-US" sz="1200" baseline="0" dirty="0" err="1"/>
              <a:t>usandırıcı</a:t>
            </a:r>
            <a:r>
              <a:rPr lang="en-US" sz="1200" baseline="0" dirty="0"/>
              <a:t>, cohesive </a:t>
            </a:r>
            <a:r>
              <a:rPr lang="en-US" sz="1200" baseline="0" dirty="0" err="1"/>
              <a:t>yapışık</a:t>
            </a:r>
            <a:r>
              <a:rPr lang="en-US" sz="1200" baseline="0" dirty="0"/>
              <a:t> </a:t>
            </a:r>
            <a:r>
              <a:rPr lang="en-US" sz="1200" baseline="0" dirty="0" err="1"/>
              <a:t>yapışkan</a:t>
            </a:r>
            <a:r>
              <a:rPr lang="en-US" sz="1200" baseline="0" dirty="0"/>
              <a:t> </a:t>
            </a:r>
            <a:r>
              <a:rPr lang="en-US" sz="1200" baseline="0" dirty="0" err="1"/>
              <a:t>uyum</a:t>
            </a:r>
            <a:r>
              <a:rPr lang="en-US" sz="1200" baseline="0" dirty="0"/>
              <a:t> </a:t>
            </a:r>
            <a:r>
              <a:rPr lang="en-US" sz="1200" baseline="0" dirty="0" err="1"/>
              <a:t>sağlayan</a:t>
            </a:r>
            <a:r>
              <a:rPr lang="en-US" sz="1200" baseline="0" dirty="0"/>
              <a:t>, adhere </a:t>
            </a:r>
            <a:r>
              <a:rPr lang="en-US" sz="1200" baseline="0" dirty="0" err="1"/>
              <a:t>bağlı</a:t>
            </a:r>
            <a:r>
              <a:rPr lang="en-US" sz="1200" baseline="0" dirty="0"/>
              <a:t> </a:t>
            </a:r>
            <a:r>
              <a:rPr lang="en-US" sz="1200" baseline="0" dirty="0" err="1"/>
              <a:t>kalmak</a:t>
            </a:r>
            <a:r>
              <a:rPr lang="en-US" sz="1200" baseline="0" dirty="0"/>
              <a:t> </a:t>
            </a:r>
            <a:r>
              <a:rPr lang="en-US" sz="1200" baseline="0" dirty="0" err="1"/>
              <a:t>yapışmak</a:t>
            </a:r>
            <a:r>
              <a:rPr lang="en-US" sz="1200" baseline="0" dirty="0"/>
              <a:t> </a:t>
            </a:r>
            <a:r>
              <a:rPr lang="en-US" sz="1200" baseline="0" dirty="0" err="1"/>
              <a:t>bağlı</a:t>
            </a:r>
            <a:r>
              <a:rPr lang="en-US" sz="1200" baseline="0" dirty="0"/>
              <a:t> </a:t>
            </a:r>
            <a:r>
              <a:rPr lang="en-US" sz="1200" baseline="0" dirty="0" err="1"/>
              <a:t>olmak</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30</a:t>
            </a:fld>
            <a:endParaRPr lang="en-US"/>
          </a:p>
        </p:txBody>
      </p:sp>
    </p:spTree>
    <p:extLst>
      <p:ext uri="{BB962C8B-B14F-4D97-AF65-F5344CB8AC3E}">
        <p14:creationId xmlns:p14="http://schemas.microsoft.com/office/powerpoint/2010/main" val="1203954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Dilemma</a:t>
            </a:r>
            <a:r>
              <a:rPr lang="en-GB" baseline="0" dirty="0"/>
              <a:t> </a:t>
            </a:r>
            <a:r>
              <a:rPr lang="en-GB" baseline="0" dirty="0" err="1"/>
              <a:t>ikilem</a:t>
            </a:r>
            <a:r>
              <a:rPr lang="en-GB" baseline="0" dirty="0"/>
              <a:t> </a:t>
            </a:r>
            <a:r>
              <a:rPr lang="en-GB" baseline="0" dirty="0" err="1"/>
              <a:t>çıkmaz</a:t>
            </a:r>
            <a:r>
              <a:rPr lang="en-GB" baseline="0" dirty="0"/>
              <a:t> </a:t>
            </a:r>
            <a:r>
              <a:rPr lang="en-GB" baseline="0" dirty="0" err="1"/>
              <a:t>güç</a:t>
            </a:r>
            <a:r>
              <a:rPr lang="en-GB" baseline="0" dirty="0"/>
              <a:t> durum</a:t>
            </a:r>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32</a:t>
            </a:fld>
            <a:endParaRPr lang="en-US"/>
          </a:p>
        </p:txBody>
      </p:sp>
    </p:spTree>
    <p:extLst>
      <p:ext uri="{BB962C8B-B14F-4D97-AF65-F5344CB8AC3E}">
        <p14:creationId xmlns:p14="http://schemas.microsoft.com/office/powerpoint/2010/main" val="3940960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20A7055C-8A82-1E43-AADF-396B26E07F2B}" type="datetime1">
              <a:rPr lang="en-US" smtClean="0"/>
              <a:pPr>
                <a:defRPr/>
              </a:pPr>
              <a:t>2/27/2024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6" name="Slide Number Placeholder 5"/>
          <p:cNvSpPr>
            <a:spLocks noGrp="1"/>
          </p:cNvSpPr>
          <p:nvPr>
            <p:ph type="sldNum" sz="quarter" idx="12"/>
          </p:nvPr>
        </p:nvSpPr>
        <p:spPr/>
        <p:txBody>
          <a:bodyPr/>
          <a:lstStyle>
            <a:lvl1pPr>
              <a:defRPr/>
            </a:lvl1pPr>
          </a:lstStyle>
          <a:p>
            <a:pPr>
              <a:defRPr/>
            </a:pPr>
            <a:fld id="{8A6632A1-E96B-D240-A8CB-6EE7FCFAC9F9}"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6587C51-A7E8-E041-9BD1-9BCA697A5811}" type="datetime1">
              <a:rPr lang="en-US" smtClean="0"/>
              <a:pPr>
                <a:defRPr/>
              </a:pPr>
              <a:t>2/27/2024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6" name="Slide Number Placeholder 5"/>
          <p:cNvSpPr>
            <a:spLocks noGrp="1"/>
          </p:cNvSpPr>
          <p:nvPr>
            <p:ph type="sldNum" sz="quarter" idx="12"/>
          </p:nvPr>
        </p:nvSpPr>
        <p:spPr/>
        <p:txBody>
          <a:bodyPr/>
          <a:lstStyle>
            <a:lvl1pPr>
              <a:defRPr/>
            </a:lvl1pPr>
          </a:lstStyle>
          <a:p>
            <a:pPr>
              <a:defRPr/>
            </a:pPr>
            <a:fld id="{6A4D3DC4-9E7F-1C47-B729-896D53019E3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62BDDE94-1FC3-7840-BAE2-EB57978533F4}" type="datetime1">
              <a:rPr lang="en-US" smtClean="0"/>
              <a:pPr>
                <a:defRPr/>
              </a:pPr>
              <a:t>2/27/2024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6" name="Slide Number Placeholder 5"/>
          <p:cNvSpPr>
            <a:spLocks noGrp="1"/>
          </p:cNvSpPr>
          <p:nvPr>
            <p:ph type="sldNum" sz="quarter" idx="12"/>
          </p:nvPr>
        </p:nvSpPr>
        <p:spPr/>
        <p:txBody>
          <a:bodyPr/>
          <a:lstStyle>
            <a:lvl1pPr>
              <a:defRPr/>
            </a:lvl1pPr>
          </a:lstStyle>
          <a:p>
            <a:pPr>
              <a:defRPr/>
            </a:pPr>
            <a:fld id="{D7DFF1E1-6940-BA49-963A-85FADE0EAFB2}"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E4A5A006-5C58-2B4C-917D-DC522223A38A}" type="datetime1">
              <a:rPr lang="en-US" smtClean="0"/>
              <a:pPr>
                <a:defRPr/>
              </a:pPr>
              <a:t>2/27/2024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7" name="Slide Number Placeholder 5"/>
          <p:cNvSpPr>
            <a:spLocks noGrp="1"/>
          </p:cNvSpPr>
          <p:nvPr>
            <p:ph type="sldNum" sz="quarter" idx="12"/>
          </p:nvPr>
        </p:nvSpPr>
        <p:spPr/>
        <p:txBody>
          <a:bodyPr/>
          <a:lstStyle>
            <a:lvl1pPr>
              <a:defRPr/>
            </a:lvl1pPr>
          </a:lstStyle>
          <a:p>
            <a:pPr>
              <a:defRPr/>
            </a:pPr>
            <a:fld id="{C2FAEA27-515E-094A-842B-7E18C3B58789}"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1254EF3D-88D6-7744-A172-8368A7C6913D}" type="datetime1">
              <a:rPr lang="en-US" smtClean="0"/>
              <a:pPr>
                <a:defRPr/>
              </a:pPr>
              <a:t>2/27/2024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9" name="Slide Number Placeholder 5"/>
          <p:cNvSpPr>
            <a:spLocks noGrp="1"/>
          </p:cNvSpPr>
          <p:nvPr>
            <p:ph type="sldNum" sz="quarter" idx="12"/>
          </p:nvPr>
        </p:nvSpPr>
        <p:spPr/>
        <p:txBody>
          <a:bodyPr/>
          <a:lstStyle>
            <a:lvl1pPr>
              <a:defRPr/>
            </a:lvl1pPr>
          </a:lstStyle>
          <a:p>
            <a:pPr>
              <a:defRPr/>
            </a:pPr>
            <a:fld id="{1CB38100-995D-D845-AEB2-0A3B47AC4C3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C67EE4-B3D2-0E43-92EA-AF9BDEBF847C}" type="datetime1">
              <a:rPr lang="en-US" smtClean="0"/>
              <a:pPr>
                <a:defRPr/>
              </a:pPr>
              <a:t>2/27/2024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5" name="Slide Number Placeholder 5"/>
          <p:cNvSpPr>
            <a:spLocks noGrp="1"/>
          </p:cNvSpPr>
          <p:nvPr>
            <p:ph type="sldNum" sz="quarter" idx="12"/>
          </p:nvPr>
        </p:nvSpPr>
        <p:spPr/>
        <p:txBody>
          <a:bodyPr/>
          <a:lstStyle>
            <a:lvl1pPr>
              <a:defRPr/>
            </a:lvl1pPr>
          </a:lstStyle>
          <a:p>
            <a:pPr>
              <a:defRPr/>
            </a:pPr>
            <a:fld id="{5323AA34-E435-CB43-B1EC-D16A672B4041}"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E8FE08-9159-5F4F-AA60-5E481B75A42B}" type="datetime1">
              <a:rPr lang="en-US" smtClean="0"/>
              <a:pPr>
                <a:defRPr/>
              </a:pPr>
              <a:t>2/27/2024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4" name="Slide Number Placeholder 5"/>
          <p:cNvSpPr>
            <a:spLocks noGrp="1"/>
          </p:cNvSpPr>
          <p:nvPr>
            <p:ph type="sldNum" sz="quarter" idx="12"/>
          </p:nvPr>
        </p:nvSpPr>
        <p:spPr/>
        <p:txBody>
          <a:bodyPr/>
          <a:lstStyle>
            <a:lvl1pPr>
              <a:defRPr/>
            </a:lvl1pPr>
          </a:lstStyle>
          <a:p>
            <a:pPr>
              <a:defRPr/>
            </a:pPr>
            <a:fld id="{483CC7AD-8559-7E43-A1EB-295EC20609A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66182ED7-CE03-0249-AD06-B17D70FBB114}" type="datetime1">
              <a:rPr lang="en-US" smtClean="0"/>
              <a:pPr>
                <a:defRPr/>
              </a:pPr>
              <a:t>2/27/2024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7" name="Slide Number Placeholder 5"/>
          <p:cNvSpPr>
            <a:spLocks noGrp="1"/>
          </p:cNvSpPr>
          <p:nvPr>
            <p:ph type="sldNum" sz="quarter" idx="12"/>
          </p:nvPr>
        </p:nvSpPr>
        <p:spPr/>
        <p:txBody>
          <a:bodyPr/>
          <a:lstStyle>
            <a:lvl1pPr>
              <a:defRPr/>
            </a:lvl1pPr>
          </a:lstStyle>
          <a:p>
            <a:pPr>
              <a:defRPr/>
            </a:pPr>
            <a:fld id="{9CCF4E67-007C-EC49-A171-0CCACA5728A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DDD2171E-7F5B-1645-A3F1-E3F76AA76B1C}" type="datetime1">
              <a:rPr lang="en-US" smtClean="0"/>
              <a:pPr>
                <a:defRPr/>
              </a:pPr>
              <a:t>2/27/2024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7" name="Slide Number Placeholder 5"/>
          <p:cNvSpPr>
            <a:spLocks noGrp="1"/>
          </p:cNvSpPr>
          <p:nvPr>
            <p:ph type="sldNum" sz="quarter" idx="12"/>
          </p:nvPr>
        </p:nvSpPr>
        <p:spPr/>
        <p:txBody>
          <a:bodyPr/>
          <a:lstStyle>
            <a:lvl1pPr>
              <a:defRPr/>
            </a:lvl1pPr>
          </a:lstStyle>
          <a:p>
            <a:pPr>
              <a:defRPr/>
            </a:pPr>
            <a:fld id="{6F498F28-1EFD-694F-A2AA-842B8894902D}"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D2F71CA6-DDE3-BD41-A149-F9C0D24AC3A1}" type="datetime1">
              <a:rPr lang="en-US" smtClean="0"/>
              <a:pPr>
                <a:defRPr/>
              </a:pPr>
              <a:t>2/27/2024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6" name="Slide Number Placeholder 5"/>
          <p:cNvSpPr>
            <a:spLocks noGrp="1"/>
          </p:cNvSpPr>
          <p:nvPr>
            <p:ph type="sldNum" sz="quarter" idx="12"/>
          </p:nvPr>
        </p:nvSpPr>
        <p:spPr/>
        <p:txBody>
          <a:bodyPr/>
          <a:lstStyle>
            <a:lvl1pPr>
              <a:defRPr/>
            </a:lvl1pPr>
          </a:lstStyle>
          <a:p>
            <a:pPr>
              <a:defRPr/>
            </a:pPr>
            <a:fld id="{3463E0A2-0798-9745-87DA-7E77F2F38D9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8F23FA63-2FD4-ED40-AA09-0FF67DD9B210}" type="datetime1">
              <a:rPr lang="en-US" smtClean="0"/>
              <a:pPr>
                <a:defRPr/>
              </a:pPr>
              <a:t>2/27/2024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Lecture 1  Introduction</a:t>
            </a:r>
          </a:p>
        </p:txBody>
      </p:sp>
      <p:sp>
        <p:nvSpPr>
          <p:cNvPr id="6" name="Slide Number Placeholder 5"/>
          <p:cNvSpPr>
            <a:spLocks noGrp="1"/>
          </p:cNvSpPr>
          <p:nvPr>
            <p:ph type="sldNum" sz="quarter" idx="12"/>
          </p:nvPr>
        </p:nvSpPr>
        <p:spPr/>
        <p:txBody>
          <a:bodyPr/>
          <a:lstStyle>
            <a:lvl1pPr>
              <a:defRPr/>
            </a:lvl1pPr>
          </a:lstStyle>
          <a:p>
            <a:pPr>
              <a:defRPr/>
            </a:pPr>
            <a:fld id="{5B7A154E-9DB1-494A-8AF2-8A9764AB27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272B022-BC72-0B43-A9D0-138C93EE97D0}" type="datetime1">
              <a:rPr lang="en-US" smtClean="0"/>
              <a:pPr>
                <a:defRPr/>
              </a:pPr>
              <a:t>2/27/2024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dirty="0"/>
              <a:t>Lecture 1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FC0CE10A-1ABB-4B47-8A20-2A1E99C99C63}" type="slidenum">
              <a:rPr lang="en-US" smtClean="0"/>
              <a:pPr>
                <a:defRPr/>
              </a:pPr>
              <a:t>‹#›</a:t>
            </a:fld>
            <a:endParaRPr lang="en-US" dirty="0"/>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8" name="Picture 7" descr="Cover.jpg"/>
          <p:cNvPicPr>
            <a:picLocks noChangeAspect="1"/>
          </p:cNvPicPr>
          <p:nvPr userDrawn="1"/>
        </p:nvPicPr>
        <p:blipFill>
          <a:blip r:embed="rId13"/>
          <a:stretch>
            <a:fillRect/>
          </a:stretch>
        </p:blipFill>
        <p:spPr>
          <a:xfrm>
            <a:off x="7750432" y="287213"/>
            <a:ext cx="923795" cy="1143000"/>
          </a:xfrm>
          <a:prstGeom prst="rect">
            <a:avLst/>
          </a:prstGeom>
        </p:spPr>
      </p:pic>
      <p:cxnSp>
        <p:nvCxnSpPr>
          <p:cNvPr id="10" name="Straight Connector 9"/>
          <p:cNvCxnSpPr/>
          <p:nvPr userDrawn="1"/>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fs.host.cs.st-andrews.ac.uk/Books/SE9/Presentations/index.html"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d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d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d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df"/><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Lecture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Part 1</a:t>
            </a:r>
          </a:p>
        </p:txBody>
      </p:sp>
      <p:pic>
        <p:nvPicPr>
          <p:cNvPr id="2" name="Picture 1"/>
          <p:cNvPicPr>
            <a:picLocks noChangeAspect="1"/>
          </p:cNvPicPr>
          <p:nvPr/>
        </p:nvPicPr>
        <p:blipFill>
          <a:blip r:embed="rId2"/>
          <a:stretch>
            <a:fillRect/>
          </a:stretch>
        </p:blipFill>
        <p:spPr>
          <a:xfrm>
            <a:off x="1597755" y="4408538"/>
            <a:ext cx="5948490" cy="1885314"/>
          </a:xfrm>
          <a:prstGeom prst="rect">
            <a:avLst/>
          </a:prstGeom>
        </p:spPr>
      </p:pic>
      <p:sp>
        <p:nvSpPr>
          <p:cNvPr id="6" name="Metin kutusu 5"/>
          <p:cNvSpPr txBox="1"/>
          <p:nvPr/>
        </p:nvSpPr>
        <p:spPr>
          <a:xfrm>
            <a:off x="0" y="6488668"/>
            <a:ext cx="8563897" cy="369332"/>
          </a:xfrm>
          <a:prstGeom prst="rect">
            <a:avLst/>
          </a:prstGeom>
          <a:noFill/>
        </p:spPr>
        <p:txBody>
          <a:bodyPr wrap="square" rtlCol="0">
            <a:spAutoFit/>
          </a:bodyPr>
          <a:lstStyle/>
          <a:p>
            <a:r>
              <a:rPr lang="en-US" dirty="0"/>
              <a:t>Source : </a:t>
            </a:r>
            <a:r>
              <a:rPr lang="en-US" dirty="0">
                <a:hlinkClick r:id="rId3"/>
              </a:rPr>
              <a:t>https://ifs.host.cs.st-andrews.ac.uk/Books/SE9/Presentations/index.html </a:t>
            </a:r>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a:p>
            <a:r>
              <a:rPr lang="en-US" dirty="0"/>
              <a:t>Case studies</a:t>
            </a:r>
          </a:p>
          <a:p>
            <a:pPr lvl="1"/>
            <a:r>
              <a:rPr lang="en-US" dirty="0"/>
              <a:t>An introduction to three examples that are used in later chapters in the book.</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Gross National Product (GNP) in all developed countries.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dirty="0"/>
              <a:t>Software costs often dominate computer system costs. The costs of software on a PC are often greater than the hardware cost.</a:t>
            </a:r>
          </a:p>
          <a:p>
            <a:r>
              <a:rPr lang="en-GB" dirty="0"/>
              <a:t>Software costs more to maintain than it does to develop. For systems with a long life, maintenance costs may be several times development costs.</a:t>
            </a:r>
          </a:p>
          <a:p>
            <a:r>
              <a:rPr lang="en-GB" dirty="0">
                <a:solidFill>
                  <a:srgbClr val="C00000"/>
                </a:solidFill>
              </a:rPr>
              <a:t>Software engineering is concerned with cost-effective software development.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computer-aided design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sp>
        <p:nvSpPr>
          <p:cNvPr id="6" name="Footer Placeholder 5"/>
          <p:cNvSpPr>
            <a:spLocks noGrp="1"/>
          </p:cNvSpPr>
          <p:nvPr>
            <p:ph type="ftr" sz="quarter" idx="11"/>
          </p:nvPr>
        </p:nvSpPr>
        <p:spPr/>
        <p:txBody>
          <a:bodyPr/>
          <a:lstStyle/>
          <a:p>
            <a:pPr>
              <a:defRPr/>
            </a:pPr>
            <a:r>
              <a:rPr lang="en-US" dirty="0"/>
              <a:t>Lecture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7</a:t>
            </a:fld>
            <a:endParaRPr lang="en-US"/>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sp>
        <p:nvSpPr>
          <p:cNvPr id="6" name="Footer Placeholder 5"/>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9</a:t>
            </a:fld>
            <a:endParaRPr lang="en-US"/>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dirty="0"/>
              <a:t>Software specification, where customers and engineers define the software that is to be produced and the constraints on its operation.</a:t>
            </a:r>
          </a:p>
          <a:p>
            <a:r>
              <a:rPr lang="en-GB" dirty="0"/>
              <a:t>Software development, where the software is designed and programmed.</a:t>
            </a:r>
          </a:p>
          <a:p>
            <a:r>
              <a:rPr lang="en-GB" dirty="0"/>
              <a:t>Software validation, where the software is checked to ensure that it is what the customer requires.</a:t>
            </a:r>
          </a:p>
          <a:p>
            <a:r>
              <a:rPr lang="en-GB" dirty="0"/>
              <a:t>Software evolution, where the software is modified to reflect changing customer and market requirements.</a:t>
            </a:r>
          </a:p>
          <a:p>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most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r>
              <a:rPr lang="en-GB" dirty="0"/>
              <a:t>Security and trust </a:t>
            </a:r>
          </a:p>
          <a:p>
            <a:pPr lvl="1"/>
            <a:r>
              <a:rPr lang="en-GB" dirty="0"/>
              <a:t>As software is intertwined with all aspects of our lives, it is essential that we can trust that software.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r>
              <a:rPr lang="en-US" dirty="0"/>
              <a:t>The software engineering methods and tools used depend on the type of application being developed, the requirements of the customer and the background of the development team.</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modelling and simulation </a:t>
            </a:r>
          </a:p>
          <a:p>
            <a:pPr lvl="1"/>
            <a:r>
              <a:rPr lang="en-GB" dirty="0"/>
              <a:t>These are systems that are developed by scientists and engineers to model physical processes or situations, which include many, separate, interacting objects.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and the web</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(discussed in Lecture 19) allow application functionality to be accessed over the web.</a:t>
            </a:r>
          </a:p>
          <a:p>
            <a:r>
              <a:rPr lang="en-US" dirty="0"/>
              <a:t>Cloud computing is an approach to the provision of computer services where applications run remotely on the ‘cloud’. </a:t>
            </a:r>
          </a:p>
          <a:p>
            <a:pPr lvl="1"/>
            <a:r>
              <a:rPr lang="en-US" dirty="0"/>
              <a:t>Users do not buy </a:t>
            </a:r>
            <a:r>
              <a:rPr lang="en-US"/>
              <a:t>software but </a:t>
            </a:r>
            <a:r>
              <a:rPr lang="en-US" dirty="0"/>
              <a:t>pay according to use.</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 is the dominant approach for constructing web-based systems. 	</a:t>
            </a:r>
          </a:p>
          <a:p>
            <a:pPr lvl="1"/>
            <a:r>
              <a:rPr lang="en-GB" dirty="0"/>
              <a:t>When building these systems, you think about how you can assemble them from pre-existing software components and systems.</a:t>
            </a:r>
          </a:p>
          <a:p>
            <a:r>
              <a:rPr lang="en-GB" dirty="0"/>
              <a:t>Web-based systems should be developed and delivered incrementally.</a:t>
            </a:r>
          </a:p>
          <a:p>
            <a:pPr lvl="1"/>
            <a:r>
              <a:rPr lang="en-GB" dirty="0"/>
              <a:t>It is now generally recognized that it is impractical to specify all the requirements for such systems in advance. </a:t>
            </a:r>
          </a:p>
          <a:p>
            <a:r>
              <a:rPr lang="en-GB" dirty="0"/>
              <a:t>User interfaces are constrained by the capabilities of web browsers. </a:t>
            </a:r>
          </a:p>
          <a:p>
            <a:pPr lvl="1"/>
            <a:r>
              <a:rPr lang="en-GB" dirty="0"/>
              <a:t>Technologies such as AJAX allow rich interfaces to be created within a web browser but are still difficult to use. Web forms with local scripting are more commonly used. </a:t>
            </a:r>
          </a:p>
          <a:p>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t>Web-based systems are complex distributed systems but the fundamental principles of software engineering discussed previously are as applicable to them as they are to any other types of system.</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endParaRPr lang="en-US" dirty="0"/>
          </a:p>
          <a:p>
            <a:pPr>
              <a:buNone/>
            </a:pP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a:t>Lecture </a:t>
            </a:r>
            <a:r>
              <a:rPr lang="en-US" dirty="0"/>
              <a:t>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Part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dirty="0"/>
              <a:t>Confidentiality </a:t>
            </a:r>
          </a:p>
          <a:p>
            <a:pPr lvl="1">
              <a:lnSpc>
                <a:spcPct val="90000"/>
              </a:lnSpc>
            </a:pPr>
            <a:r>
              <a:rPr lang="en-GB" dirty="0"/>
              <a:t>Engineers should normally respect the confidentiality of their employers or clients irrespective of whether or not a formal confidentiality agreement has been signed.</a:t>
            </a:r>
          </a:p>
          <a:p>
            <a:pPr>
              <a:lnSpc>
                <a:spcPct val="90000"/>
              </a:lnSpc>
            </a:pPr>
            <a:r>
              <a:rPr lang="en-GB" dirty="0"/>
              <a:t>Competence </a:t>
            </a:r>
          </a:p>
          <a:p>
            <a:pPr lvl="1">
              <a:lnSpc>
                <a:spcPct val="90000"/>
              </a:lnSpc>
            </a:pPr>
            <a:r>
              <a:rPr lang="en-GB" dirty="0"/>
              <a:t>Engineers should not misrepresent their level of competence. They should not knowingly accept work which is </a:t>
            </a:r>
            <a:r>
              <a:rPr lang="en-GB" dirty="0" err="1"/>
              <a:t>outwith</a:t>
            </a:r>
            <a:r>
              <a:rPr lang="en-GB" dirty="0"/>
              <a:t> their competence.</a:t>
            </a:r>
          </a:p>
          <a:p>
            <a:pPr>
              <a:lnSpc>
                <a:spcPct val="90000"/>
              </a:lnSpc>
            </a:pP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 (Association for Computing Machinery)</a:t>
            </a:r>
            <a:br>
              <a:rPr lang="en-GB" dirty="0"/>
            </a:br>
            <a:r>
              <a:rPr lang="en-GB" dirty="0"/>
              <a:t>/IEEE (</a:t>
            </a:r>
            <a:r>
              <a:rPr lang="en-US" dirty="0"/>
              <a:t>Institute of Electrical and Electronics Engineers</a:t>
            </a:r>
            <a:r>
              <a:rPr lang="en-GB" dirty="0"/>
              <a:t>)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p:txBody>
          <a:bodyPr/>
          <a:lstStyle/>
          <a:p>
            <a:pPr lvl="1"/>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5" name="Footer Placeholder 4"/>
          <p:cNvSpPr>
            <a:spLocks noGrp="1"/>
          </p:cNvSpPr>
          <p:nvPr>
            <p:ph type="ftr" sz="quarter" idx="11"/>
          </p:nvPr>
        </p:nvSpPr>
        <p:spPr/>
        <p:txBody>
          <a:bodyPr/>
          <a:lstStyle/>
          <a:p>
            <a:pPr>
              <a:defRPr/>
            </a:pPr>
            <a:r>
              <a:rPr lang="en-US" dirty="0"/>
              <a:t>Lecture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30</a:t>
            </a:fld>
            <a:endParaRPr lang="en-US"/>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5" name="Footer Placeholder 4"/>
          <p:cNvSpPr>
            <a:spLocks noGrp="1"/>
          </p:cNvSpPr>
          <p:nvPr>
            <p:ph type="ftr" sz="quarter" idx="11"/>
          </p:nvPr>
        </p:nvSpPr>
        <p:spPr/>
        <p:txBody>
          <a:bodyPr/>
          <a:lstStyle/>
          <a:p>
            <a:pPr>
              <a:defRPr/>
            </a:pPr>
            <a:r>
              <a:rPr lang="en-US" dirty="0"/>
              <a:t>Lecture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31</a:t>
            </a:fld>
            <a:endParaRPr lang="en-US"/>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dirty="0"/>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dirty="0"/>
              <a:t>An embedded system in an insulin pump used by diabetics to maintain blood glucose control.</a:t>
            </a:r>
          </a:p>
          <a:p>
            <a:r>
              <a:rPr lang="en-US" dirty="0"/>
              <a:t>A mental health case patient management system</a:t>
            </a:r>
          </a:p>
          <a:p>
            <a:pPr lvl="1"/>
            <a:r>
              <a:rPr lang="en-US" dirty="0"/>
              <a:t>A system used to maintain records of people receiving care for mental health problems.</a:t>
            </a:r>
          </a:p>
          <a:p>
            <a:r>
              <a:rPr lang="en-US" dirty="0"/>
              <a:t>A wilderness weather station</a:t>
            </a:r>
          </a:p>
          <a:p>
            <a:pPr lvl="1"/>
            <a:r>
              <a:rPr lang="en-US" dirty="0"/>
              <a:t>A data collection system that collects data about weather conditions in remote areas.</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sp>
        <p:nvSpPr>
          <p:cNvPr id="6" name="Footer Placeholder 5"/>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35</a:t>
            </a:fld>
            <a:endParaRPr lang="en-US"/>
          </a:p>
        </p:txBody>
      </p:sp>
      <p:pic>
        <p:nvPicPr>
          <p:cNvPr id="4" name="Picture 3" descr="1.4 InsulinPumpHW.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11696" y="2068286"/>
            <a:ext cx="5345447" cy="3401648"/>
          </a:xfrm>
          <a:prstGeom prst="rect">
            <a:avLst/>
          </a:prstGeom>
        </p:spPr>
      </p:pic>
      <p:pic>
        <p:nvPicPr>
          <p:cNvPr id="2" name="Picture 1"/>
          <p:cNvPicPr>
            <a:picLocks noChangeAspect="1"/>
          </p:cNvPicPr>
          <p:nvPr/>
        </p:nvPicPr>
        <p:blipFill>
          <a:blip r:embed="rId4"/>
          <a:stretch>
            <a:fillRect/>
          </a:stretch>
        </p:blipFill>
        <p:spPr>
          <a:xfrm>
            <a:off x="867885" y="1543661"/>
            <a:ext cx="7408229" cy="468666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sp>
        <p:nvSpPr>
          <p:cNvPr id="6" name="Footer Placeholder 5"/>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36</a:t>
            </a:fld>
            <a:endParaRPr lang="en-US"/>
          </a:p>
        </p:txBody>
      </p:sp>
      <p:pic>
        <p:nvPicPr>
          <p:cNvPr id="4" name="Picture 3" descr="1.5 InsulinPumpAct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22043" y="2497946"/>
            <a:ext cx="6537900" cy="2239007"/>
          </a:xfrm>
          <a:prstGeom prst="rect">
            <a:avLst/>
          </a:prstGeom>
        </p:spPr>
      </p:pic>
      <p:pic>
        <p:nvPicPr>
          <p:cNvPr id="2" name="Picture 1"/>
          <p:cNvPicPr>
            <a:picLocks noChangeAspect="1"/>
          </p:cNvPicPr>
          <p:nvPr/>
        </p:nvPicPr>
        <p:blipFill>
          <a:blip r:embed="rId4"/>
          <a:stretch>
            <a:fillRect/>
          </a:stretch>
        </p:blipFill>
        <p:spPr>
          <a:xfrm>
            <a:off x="125484" y="2149065"/>
            <a:ext cx="8893032" cy="293676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high-level requirements</a:t>
            </a:r>
          </a:p>
        </p:txBody>
      </p:sp>
      <p:sp>
        <p:nvSpPr>
          <p:cNvPr id="3" name="Content Placeholder 2"/>
          <p:cNvSpPr>
            <a:spLocks noGrp="1"/>
          </p:cNvSpPr>
          <p:nvPr>
            <p:ph idx="1"/>
          </p:nvPr>
        </p:nvSpPr>
        <p:spPr/>
        <p:txBody>
          <a:bodyPr/>
          <a:lstStyle/>
          <a:p>
            <a:r>
              <a:rPr lang="en-GB" dirty="0"/>
              <a:t>The system shall be available to deliver insulin when required. </a:t>
            </a:r>
          </a:p>
          <a:p>
            <a:r>
              <a:rPr lang="en-GB" dirty="0"/>
              <a:t>The system shall perform reliably and deliver the correct amount of insulin to counteract the current level of blood sugar.</a:t>
            </a:r>
          </a:p>
          <a:p>
            <a:r>
              <a:rPr lang="en-GB" dirty="0"/>
              <a:t>The system must therefore be designed and implemented to ensure that the system always meets these requirements.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patient information system for mental health care</a:t>
            </a:r>
          </a:p>
        </p:txBody>
      </p:sp>
      <p:sp>
        <p:nvSpPr>
          <p:cNvPr id="3" name="Content Placeholder 2"/>
          <p:cNvSpPr>
            <a:spLocks noGrp="1"/>
          </p:cNvSpPr>
          <p:nvPr>
            <p:ph idx="1"/>
          </p:nvPr>
        </p:nvSpPr>
        <p:spPr/>
        <p:txBody>
          <a:bodyPr/>
          <a:lstStyle/>
          <a:p>
            <a:r>
              <a:rPr lang="en-GB" dirty="0"/>
              <a:t>A patient information system to support mental health care is a medical information system that maintains information about patients suffering from mental health problems and the treatments that they have received.</a:t>
            </a:r>
          </a:p>
          <a:p>
            <a:r>
              <a:rPr lang="en-GB" dirty="0"/>
              <a:t>Most mental health patients do not require dedicated hospital treatment but need to attend specialist clinics regularly where they can meet a doctor who has detailed knowledge of their problems. </a:t>
            </a:r>
          </a:p>
          <a:p>
            <a:r>
              <a:rPr lang="en-GB" dirty="0"/>
              <a:t>To make it easier for patients to attend, these clinics are not just run in hospitals. They may also be held in local medical practices or community centres.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a:t>
            </a:r>
          </a:p>
        </p:txBody>
      </p:sp>
      <p:sp>
        <p:nvSpPr>
          <p:cNvPr id="3" name="Content Placeholder 2"/>
          <p:cNvSpPr>
            <a:spLocks noGrp="1"/>
          </p:cNvSpPr>
          <p:nvPr>
            <p:ph idx="1"/>
          </p:nvPr>
        </p:nvSpPr>
        <p:spPr/>
        <p:txBody>
          <a:bodyPr/>
          <a:lstStyle/>
          <a:p>
            <a:r>
              <a:rPr lang="en-GB" dirty="0"/>
              <a:t>The MHC-PMS (Mental Health Care-Patient Management System) is an information system that is intended for use in clinics. </a:t>
            </a:r>
          </a:p>
          <a:p>
            <a:r>
              <a:rPr lang="en-GB" dirty="0"/>
              <a:t>It makes use of a centralized database of patient information but has also been designed to run on a PC, so that it may be accessed and used from sites that do not have secure network connectivity. </a:t>
            </a:r>
          </a:p>
          <a:p>
            <a:r>
              <a:rPr lang="en-GB" dirty="0"/>
              <a:t>When the local systems have secure network access, they use patient information in the database but they can download and use local copies of patient records when they are disconnected.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goals</a:t>
            </a:r>
          </a:p>
        </p:txBody>
      </p:sp>
      <p:sp>
        <p:nvSpPr>
          <p:cNvPr id="3" name="Content Placeholder 2"/>
          <p:cNvSpPr>
            <a:spLocks noGrp="1"/>
          </p:cNvSpPr>
          <p:nvPr>
            <p:ph idx="1"/>
          </p:nvPr>
        </p:nvSpPr>
        <p:spPr/>
        <p:txBody>
          <a:bodyPr/>
          <a:lstStyle/>
          <a:p>
            <a:r>
              <a:rPr lang="en-GB" dirty="0"/>
              <a:t>To generate management information that allows health service managers to assess performance against local and government targets.</a:t>
            </a:r>
          </a:p>
          <a:p>
            <a:r>
              <a:rPr lang="en-GB" dirty="0"/>
              <a:t>To provide medical staff with timely information to support the treatment of patients.</a:t>
            </a:r>
          </a:p>
          <a:p>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The organization of the MHC-PMS </a:t>
            </a:r>
            <a:endParaRPr lang="en-US" dirty="0"/>
          </a:p>
        </p:txBody>
      </p:sp>
      <p:sp>
        <p:nvSpPr>
          <p:cNvPr id="6" name="Footer Placeholder 5"/>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41</a:t>
            </a:fld>
            <a:endParaRPr lang="en-US"/>
          </a:p>
        </p:txBody>
      </p:sp>
      <p:pic>
        <p:nvPicPr>
          <p:cNvPr id="4" name="Picture 3" descr="1.6 MHC-PM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03904" y="1899312"/>
            <a:ext cx="5289771" cy="3339728"/>
          </a:xfrm>
          <a:prstGeom prst="rect">
            <a:avLst/>
          </a:prstGeom>
        </p:spPr>
      </p:pic>
      <p:pic>
        <p:nvPicPr>
          <p:cNvPr id="2" name="Picture 1"/>
          <p:cNvPicPr>
            <a:picLocks noChangeAspect="1"/>
          </p:cNvPicPr>
          <p:nvPr/>
        </p:nvPicPr>
        <p:blipFill>
          <a:blip r:embed="rId4"/>
          <a:stretch>
            <a:fillRect/>
          </a:stretch>
        </p:blipFill>
        <p:spPr>
          <a:xfrm>
            <a:off x="457200" y="1539493"/>
            <a:ext cx="8143875" cy="469500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key features</a:t>
            </a:r>
          </a:p>
        </p:txBody>
      </p:sp>
      <p:sp>
        <p:nvSpPr>
          <p:cNvPr id="3" name="Content Placeholder 2"/>
          <p:cNvSpPr>
            <a:spLocks noGrp="1"/>
          </p:cNvSpPr>
          <p:nvPr>
            <p:ph idx="1"/>
          </p:nvPr>
        </p:nvSpPr>
        <p:spPr>
          <a:xfrm>
            <a:off x="457200" y="1600200"/>
            <a:ext cx="8473992" cy="4525963"/>
          </a:xfrm>
        </p:spPr>
        <p:txBody>
          <a:bodyPr/>
          <a:lstStyle/>
          <a:p>
            <a:r>
              <a:rPr lang="en-GB" dirty="0"/>
              <a:t>Individual care management </a:t>
            </a:r>
          </a:p>
          <a:p>
            <a:pPr lvl="1"/>
            <a:r>
              <a:rPr lang="en-GB" dirty="0"/>
              <a:t>Clinicians can create records for patients, edit the information in the system, view patient history, etc. The system supports data summaries so that doctors can quickly learn about the key problems and treatments that have been prescribed.</a:t>
            </a:r>
          </a:p>
          <a:p>
            <a:r>
              <a:rPr lang="en-GB" dirty="0"/>
              <a:t>Patient monitoring </a:t>
            </a:r>
          </a:p>
          <a:p>
            <a:pPr lvl="1"/>
            <a:r>
              <a:rPr lang="en-GB" dirty="0"/>
              <a:t>The system monitors the records of patients that are involved in treatment and issues warnings if possible problems are detected. </a:t>
            </a:r>
          </a:p>
          <a:p>
            <a:r>
              <a:rPr lang="en-GB" dirty="0"/>
              <a:t>Administrative reporting </a:t>
            </a:r>
          </a:p>
          <a:p>
            <a:pPr lvl="1"/>
            <a:r>
              <a:rPr lang="en-GB" dirty="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concerns</a:t>
            </a:r>
          </a:p>
        </p:txBody>
      </p:sp>
      <p:sp>
        <p:nvSpPr>
          <p:cNvPr id="3" name="Content Placeholder 2"/>
          <p:cNvSpPr>
            <a:spLocks noGrp="1"/>
          </p:cNvSpPr>
          <p:nvPr>
            <p:ph idx="1"/>
          </p:nvPr>
        </p:nvSpPr>
        <p:spPr/>
        <p:txBody>
          <a:bodyPr/>
          <a:lstStyle/>
          <a:p>
            <a:r>
              <a:rPr lang="en-US" dirty="0"/>
              <a:t>Privacy</a:t>
            </a:r>
          </a:p>
          <a:p>
            <a:pPr lvl="1"/>
            <a:r>
              <a:rPr lang="en-GB" dirty="0"/>
              <a:t>It is essential that patient information is confidential and is never disclosed to anyone apart from authorised medical staff and the patient themselves. </a:t>
            </a:r>
            <a:endParaRPr lang="en-US" dirty="0"/>
          </a:p>
          <a:p>
            <a:r>
              <a:rPr lang="en-US" dirty="0"/>
              <a:t>Safety</a:t>
            </a:r>
          </a:p>
          <a:p>
            <a:pPr lvl="1"/>
            <a:r>
              <a:rPr lang="en-GB" dirty="0"/>
              <a:t>Some mental illnesses cause patients to become suicidal or a danger to other people. Wherever possible, the system should warn medical staff about potentially suicidal or dangerous patients. </a:t>
            </a:r>
          </a:p>
          <a:p>
            <a:pPr lvl="1"/>
            <a:r>
              <a:rPr lang="en-GB" dirty="0"/>
              <a:t>The system must be available when needed otherwise safety may be compromised and it may be impossible to prescribe the correct medication to patients.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p>
        </p:txBody>
      </p:sp>
      <p:sp>
        <p:nvSpPr>
          <p:cNvPr id="3" name="Content Placeholder 2"/>
          <p:cNvSpPr>
            <a:spLocks noGrp="1"/>
          </p:cNvSpPr>
          <p:nvPr>
            <p:ph idx="1"/>
          </p:nvPr>
        </p:nvSpPr>
        <p:spPr/>
        <p:txBody>
          <a:bodyPr/>
          <a:lstStyle/>
          <a:p>
            <a:r>
              <a:rPr lang="en-GB" dirty="0"/>
              <a:t>The government of a country with large areas of wilderness decides to deploy several hundred weather stations in remote areas. </a:t>
            </a:r>
          </a:p>
          <a:p>
            <a:r>
              <a:rPr lang="en-GB" dirty="0"/>
              <a:t>Weather stations collect data from a set of instruments that measure temperature and pressure, sunshine, rainfall, wind speed and wind direction.</a:t>
            </a:r>
          </a:p>
          <a:p>
            <a:pPr lvl="1"/>
            <a:r>
              <a:rPr lang="en-GB" dirty="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a:t> </a:t>
            </a:r>
          </a:p>
          <a:p>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sp>
        <p:nvSpPr>
          <p:cNvPr id="6" name="Footer Placeholder 5"/>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45</a:t>
            </a:fld>
            <a:endParaRPr lang="en-US"/>
          </a:p>
        </p:txBody>
      </p:sp>
      <p:pic>
        <p:nvPicPr>
          <p:cNvPr id="4" name="Picture 3" descr="1.7 WeatherStationEnv.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32944" y="2314698"/>
            <a:ext cx="5159738" cy="2490908"/>
          </a:xfrm>
          <a:prstGeom prst="rect">
            <a:avLst/>
          </a:prstGeom>
        </p:spPr>
      </p:pic>
      <p:pic>
        <p:nvPicPr>
          <p:cNvPr id="2" name="Picture 1"/>
          <p:cNvPicPr>
            <a:picLocks noChangeAspect="1"/>
          </p:cNvPicPr>
          <p:nvPr/>
        </p:nvPicPr>
        <p:blipFill>
          <a:blip r:embed="rId4"/>
          <a:stretch>
            <a:fillRect/>
          </a:stretch>
        </p:blipFill>
        <p:spPr>
          <a:xfrm>
            <a:off x="457199" y="1756814"/>
            <a:ext cx="8330119" cy="399505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283745" y="1600200"/>
            <a:ext cx="8606912" cy="4525963"/>
          </a:xfrm>
        </p:spPr>
        <p:txBody>
          <a:bodyPr/>
          <a:lstStyle/>
          <a:p>
            <a:r>
              <a:rPr lang="en-GB" dirty="0"/>
              <a:t>	The weather station system </a:t>
            </a:r>
          </a:p>
          <a:p>
            <a:pPr lvl="1"/>
            <a:r>
              <a:rPr lang="en-GB" dirty="0"/>
              <a:t>This is responsible for collecting weather data, carrying out some initial data processing and transmitting it to the data management system.</a:t>
            </a:r>
          </a:p>
          <a:p>
            <a:r>
              <a:rPr lang="en-GB" dirty="0"/>
              <a:t>The data management and archiving system </a:t>
            </a:r>
          </a:p>
          <a:p>
            <a:pPr lvl="1"/>
            <a:r>
              <a:rPr lang="en-GB" dirty="0"/>
              <a:t>This system collects the data from all of the wilderness weather stations, carries out data processing and analysis and archives the data.</a:t>
            </a:r>
          </a:p>
          <a:p>
            <a:r>
              <a:rPr lang="en-GB" dirty="0"/>
              <a:t>The station maintenance system </a:t>
            </a:r>
          </a:p>
          <a:p>
            <a:pPr lvl="1"/>
            <a:r>
              <a:rPr lang="en-GB" dirty="0"/>
              <a:t>This system can communicate by satellite with all wilderness weather stations to monitor the health of these systems and provide reports of problems. </a:t>
            </a:r>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r>
              <a:rPr lang="en-GB" dirty="0"/>
              <a:t>Monitor the instruments, power and communication hardware and report faults to the management system.</a:t>
            </a:r>
          </a:p>
          <a:p>
            <a:r>
              <a:rPr lang="en-GB" dirty="0"/>
              <a:t>Manage the system power, ensuring that batteries are charged whenever the environmental conditions permit but also that generators are shut down in potentially damaging weather conditions, such as high wind.</a:t>
            </a:r>
          </a:p>
          <a:p>
            <a:r>
              <a:rPr lang="en-GB" dirty="0"/>
              <a:t>Support dynamic reconfiguration where parts of the software are replaced with new versions and where backup instruments are switched into the system in the event of system failure.</a:t>
            </a:r>
          </a:p>
          <a:p>
            <a:endParaRPr lang="en-US" dirty="0"/>
          </a:p>
        </p:txBody>
      </p:sp>
      <p:sp>
        <p:nvSpPr>
          <p:cNvPr id="4" name="Footer Placeholder 3"/>
          <p:cNvSpPr>
            <a:spLocks noGrp="1"/>
          </p:cNvSpPr>
          <p:nvPr>
            <p:ph type="ftr" sz="quarter" idx="11"/>
          </p:nvPr>
        </p:nvSpPr>
        <p:spPr/>
        <p:txBody>
          <a:bodyPr/>
          <a:lstStyle/>
          <a:p>
            <a:pPr>
              <a:defRPr/>
            </a:pPr>
            <a:r>
              <a:rPr lang="en-US" dirty="0"/>
              <a:t>Lecture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p:txBody>
          <a:bodyPr/>
          <a:lstStyle/>
          <a:p>
            <a:r>
              <a:rPr lang="en-GB"/>
              <a:t>Key points</a:t>
            </a:r>
          </a:p>
        </p:txBody>
      </p:sp>
      <p:sp>
        <p:nvSpPr>
          <p:cNvPr id="90117" name="Rectangle 5"/>
          <p:cNvSpPr>
            <a:spLocks noGrp="1" noChangeArrowheads="1"/>
          </p:cNvSpPr>
          <p:nvPr>
            <p:ph idx="1"/>
          </p:nvPr>
        </p:nvSpPr>
        <p:spPr/>
        <p:txBody>
          <a:bodyPr/>
          <a:lstStyle/>
          <a:p>
            <a:r>
              <a:rPr lang="en-GB" sz="2400" dirty="0"/>
              <a:t>Software engineers have responsibilities to the engineering profession and society. They should not simply be concerned with technical issues.</a:t>
            </a:r>
          </a:p>
          <a:p>
            <a:r>
              <a:rPr lang="en-GB" sz="2400" dirty="0"/>
              <a:t>Professional societies publish codes of conduct which set out the standards of behaviour expected of their members.</a:t>
            </a:r>
          </a:p>
          <a:p>
            <a:r>
              <a:rPr lang="en-GB" dirty="0"/>
              <a:t>Three case studies are used in the book:</a:t>
            </a:r>
          </a:p>
          <a:p>
            <a:pPr lvl="1"/>
            <a:r>
              <a:rPr lang="en-GB" sz="2000" dirty="0"/>
              <a:t>An embedded insulin pump control system</a:t>
            </a:r>
          </a:p>
          <a:p>
            <a:pPr lvl="1"/>
            <a:r>
              <a:rPr lang="en-GB" dirty="0"/>
              <a:t>A system for mental health care patient management</a:t>
            </a:r>
          </a:p>
          <a:p>
            <a:pPr lvl="1"/>
            <a:r>
              <a:rPr lang="en-GB" sz="2000" dirty="0"/>
              <a:t>A wilderness weather station</a:t>
            </a:r>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3423</TotalTime>
  <Words>3924</Words>
  <Application>Microsoft Office PowerPoint</Application>
  <PresentationFormat>On-screen Show (4:3)</PresentationFormat>
  <Paragraphs>341</Paragraphs>
  <Slides>48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Wingdings</vt:lpstr>
      <vt:lpstr>SE9</vt:lpstr>
      <vt:lpstr>Lecture 1- Introduction</vt:lpstr>
      <vt:lpstr>Topics covered</vt:lpstr>
      <vt:lpstr>Software engineering</vt:lpstr>
      <vt:lpstr>Software costs</vt:lpstr>
      <vt:lpstr>Software products</vt:lpstr>
      <vt:lpstr>Product specification</vt:lpstr>
      <vt:lpstr>Frequently asked questions about software engineering </vt:lpstr>
      <vt:lpstr>Frequently asked questions about software engineering</vt:lpstr>
      <vt:lpstr>Essential attributes of good software</vt:lpstr>
      <vt:lpstr>Software engineering</vt:lpstr>
      <vt:lpstr>Importance of software engineering</vt:lpstr>
      <vt:lpstr>Software process activities</vt:lpstr>
      <vt:lpstr>General issues that affect most software</vt:lpstr>
      <vt:lpstr>Software engineering diversity</vt:lpstr>
      <vt:lpstr>Application types</vt:lpstr>
      <vt:lpstr>Application types</vt:lpstr>
      <vt:lpstr>Application types</vt:lpstr>
      <vt:lpstr>Software engineering fundamentals</vt:lpstr>
      <vt:lpstr>Software engineering and the web</vt:lpstr>
      <vt:lpstr>Web software engineering</vt:lpstr>
      <vt:lpstr>Web-based software engineering</vt:lpstr>
      <vt:lpstr>Key points</vt:lpstr>
      <vt:lpstr>Key points</vt:lpstr>
      <vt:lpstr>Lecture 1- Introduction</vt:lpstr>
      <vt:lpstr>Software engineering ethics</vt:lpstr>
      <vt:lpstr>Issues of professional responsibility</vt:lpstr>
      <vt:lpstr>Issues of professional responsibility</vt:lpstr>
      <vt:lpstr>ACM (Association for Computing Machinery) /IEEE (Institute of Electrical and Electronics Engineers) Code of Ethics</vt:lpstr>
      <vt:lpstr>Rationale for the code of ethics</vt:lpstr>
      <vt:lpstr>The ACM/IEEE Code of Ethics </vt:lpstr>
      <vt:lpstr>Ethical principles</vt:lpstr>
      <vt:lpstr>Ethical dilemmas</vt:lpstr>
      <vt:lpstr>Case studies</vt:lpstr>
      <vt:lpstr>Insulin pump control system</vt:lpstr>
      <vt:lpstr>Insulin pump hardware architecture</vt:lpstr>
      <vt:lpstr>Activity model of the insulin pump</vt:lpstr>
      <vt:lpstr>Essential high-level requirements</vt:lpstr>
      <vt:lpstr>A patient information system for mental health care</vt:lpstr>
      <vt:lpstr>MHC-PMS</vt:lpstr>
      <vt:lpstr>MHC-PMS goals</vt:lpstr>
      <vt:lpstr>The organization of the MHC-PMS </vt:lpstr>
      <vt:lpstr>MHC-PMS key features</vt:lpstr>
      <vt:lpstr>MHC-PMS concerns</vt:lpstr>
      <vt:lpstr>Wilderness weather station</vt:lpstr>
      <vt:lpstr>The weather station’s environment </vt:lpstr>
      <vt:lpstr>Weather information system</vt:lpstr>
      <vt:lpstr>Additional software functionality</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ArhamKhan</cp:lastModifiedBy>
  <cp:revision>39</cp:revision>
  <dcterms:created xsi:type="dcterms:W3CDTF">2009-12-29T10:39:27Z</dcterms:created>
  <dcterms:modified xsi:type="dcterms:W3CDTF">2024-02-27T08:05:43Z</dcterms:modified>
</cp:coreProperties>
</file>